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7359650"/>
  <p:notesSz cx="12192000" cy="73596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4A5467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rgbClr val="4A5467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4A5467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4A5467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4A5467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4A5467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8300" y="298465"/>
            <a:ext cx="1008253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4A5467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4525" y="1352569"/>
            <a:ext cx="5443220" cy="2216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rgbClr val="4A5467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315200" y="0"/>
            <a:ext cx="4876800" cy="6858000"/>
            <a:chOff x="7315200" y="0"/>
            <a:chExt cx="4876800" cy="6858000"/>
          </a:xfrm>
        </p:grpSpPr>
        <p:sp>
          <p:nvSpPr>
            <p:cNvPr id="3" name="object 3"/>
            <p:cNvSpPr/>
            <p:nvPr/>
          </p:nvSpPr>
          <p:spPr>
            <a:xfrm>
              <a:off x="7315200" y="0"/>
              <a:ext cx="4876800" cy="6858000"/>
            </a:xfrm>
            <a:custGeom>
              <a:avLst/>
              <a:gdLst/>
              <a:ahLst/>
              <a:cxnLst/>
              <a:rect l="l" t="t" r="r" b="b"/>
              <a:pathLst>
                <a:path w="4876800" h="6858000">
                  <a:moveTo>
                    <a:pt x="0" y="6858000"/>
                  </a:moveTo>
                  <a:lnTo>
                    <a:pt x="4876800" y="6858000"/>
                  </a:lnTo>
                  <a:lnTo>
                    <a:pt x="48768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315200" y="0"/>
              <a:ext cx="4876800" cy="6858000"/>
            </a:xfrm>
            <a:custGeom>
              <a:avLst/>
              <a:gdLst/>
              <a:ahLst/>
              <a:cxnLst/>
              <a:rect l="l" t="t" r="r" b="b"/>
              <a:pathLst>
                <a:path w="4876800" h="6858000">
                  <a:moveTo>
                    <a:pt x="48768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876800" y="6858000"/>
                  </a:lnTo>
                  <a:lnTo>
                    <a:pt x="4876800" y="0"/>
                  </a:lnTo>
                  <a:close/>
                </a:path>
              </a:pathLst>
            </a:custGeom>
            <a:solidFill>
              <a:srgbClr val="F3F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9155946" y="3325940"/>
            <a:ext cx="119443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1000" i="1">
                <a:solidFill>
                  <a:srgbClr val="A4A9B2"/>
                </a:solidFill>
                <a:latin typeface="Arial"/>
                <a:cs typeface="Arial"/>
              </a:rPr>
              <a:t>O(</a:t>
            </a:r>
            <a:r>
              <a:rPr dirty="0" sz="2050" spc="-455" i="1">
                <a:solidFill>
                  <a:srgbClr val="A4A9B2"/>
                </a:solidFill>
                <a:latin typeface="Arial"/>
                <a:cs typeface="Arial"/>
              </a:rPr>
              <a:t>n</a:t>
            </a:r>
            <a:r>
              <a:rPr dirty="0" sz="2050" spc="-725" i="1">
                <a:solidFill>
                  <a:srgbClr val="A4A9B2"/>
                </a:solidFill>
                <a:latin typeface="Arial"/>
                <a:cs typeface="Arial"/>
              </a:rPr>
              <a:t>l</a:t>
            </a:r>
            <a:r>
              <a:rPr dirty="0" sz="2050" spc="-944" i="1">
                <a:solidFill>
                  <a:srgbClr val="A4A9B2"/>
                </a:solidFill>
                <a:latin typeface="Arial"/>
                <a:cs typeface="Arial"/>
              </a:rPr>
              <a:t>o</a:t>
            </a:r>
            <a:r>
              <a:rPr dirty="0" sz="2050" spc="-565" i="1">
                <a:solidFill>
                  <a:srgbClr val="A4A9B2"/>
                </a:solidFill>
                <a:latin typeface="Arial"/>
                <a:cs typeface="Arial"/>
              </a:rPr>
              <a:t>g</a:t>
            </a:r>
            <a:r>
              <a:rPr dirty="0" sz="2050" spc="-890" i="1">
                <a:solidFill>
                  <a:srgbClr val="A4A9B2"/>
                </a:solidFill>
                <a:latin typeface="Arial"/>
                <a:cs typeface="Arial"/>
              </a:rPr>
              <a:t>n</a:t>
            </a:r>
            <a:r>
              <a:rPr dirty="0" sz="2050" spc="55" i="1">
                <a:solidFill>
                  <a:srgbClr val="A4A9B2"/>
                </a:solidFill>
                <a:latin typeface="Arial"/>
                <a:cs typeface="Arial"/>
              </a:rPr>
              <a:t>)</a:t>
            </a:r>
            <a:endParaRPr sz="205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7315200" cy="6858000"/>
            <a:chOff x="0" y="0"/>
            <a:chExt cx="7315200" cy="6858000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7315200" cy="6858000"/>
            </a:xfrm>
            <a:custGeom>
              <a:avLst/>
              <a:gdLst/>
              <a:ahLst/>
              <a:cxnLst/>
              <a:rect l="l" t="t" r="r" b="b"/>
              <a:pathLst>
                <a:path w="7315200" h="6858000">
                  <a:moveTo>
                    <a:pt x="73152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00" y="6858000"/>
                  </a:lnTo>
                  <a:lnTo>
                    <a:pt x="7315200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0" y="0"/>
              <a:ext cx="47625" cy="6858000"/>
            </a:xfrm>
            <a:custGeom>
              <a:avLst/>
              <a:gdLst/>
              <a:ahLst/>
              <a:cxnLst/>
              <a:rect l="l" t="t" r="r" b="b"/>
              <a:pathLst>
                <a:path w="47625" h="6858000">
                  <a:moveTo>
                    <a:pt x="476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7625" y="6858000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D69D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71120" rIns="0" bIns="0" rtlCol="0" vert="horz">
            <a:spAutoFit/>
          </a:bodyPr>
          <a:lstStyle/>
          <a:p>
            <a:pPr marL="12700" marR="5080">
              <a:lnSpc>
                <a:spcPts val="5630"/>
              </a:lnSpc>
              <a:spcBef>
                <a:spcPts val="560"/>
              </a:spcBef>
            </a:pPr>
            <a:r>
              <a:rPr dirty="0" spc="-490"/>
              <a:t>Case-</a:t>
            </a:r>
            <a:r>
              <a:rPr dirty="0" spc="-540"/>
              <a:t>Based</a:t>
            </a:r>
            <a:r>
              <a:rPr dirty="0" spc="-980"/>
              <a:t> </a:t>
            </a:r>
            <a:r>
              <a:rPr dirty="0" spc="-425"/>
              <a:t>Analysis </a:t>
            </a:r>
            <a:r>
              <a:rPr dirty="0" spc="-90"/>
              <a:t>o</a:t>
            </a:r>
            <a:r>
              <a:rPr dirty="0" spc="320"/>
              <a:t>f</a:t>
            </a:r>
            <a:r>
              <a:rPr dirty="0" spc="-395">
                <a:solidFill>
                  <a:srgbClr val="D69D2E"/>
                </a:solidFill>
                <a:latin typeface="Lucida Sans Unicode"/>
                <a:cs typeface="Lucida Sans Unicode"/>
              </a:rPr>
              <a:t>A</a:t>
            </a:r>
            <a:r>
              <a:rPr dirty="0" spc="-50">
                <a:solidFill>
                  <a:srgbClr val="D69D2E"/>
                </a:solidFill>
                <a:latin typeface="Lucida Sans Unicode"/>
                <a:cs typeface="Lucida Sans Unicode"/>
              </a:rPr>
              <a:t>l</a:t>
            </a:r>
            <a:r>
              <a:rPr dirty="0" spc="-405">
                <a:solidFill>
                  <a:srgbClr val="D69D2E"/>
                </a:solidFill>
                <a:latin typeface="Lucida Sans Unicode"/>
                <a:cs typeface="Lucida Sans Unicode"/>
              </a:rPr>
              <a:t>g</a:t>
            </a:r>
            <a:r>
              <a:rPr dirty="0" spc="-90">
                <a:solidFill>
                  <a:srgbClr val="D69D2E"/>
                </a:solidFill>
                <a:latin typeface="Lucida Sans Unicode"/>
                <a:cs typeface="Lucida Sans Unicode"/>
              </a:rPr>
              <a:t>o</a:t>
            </a:r>
            <a:r>
              <a:rPr dirty="0" spc="-185">
                <a:solidFill>
                  <a:srgbClr val="D69D2E"/>
                </a:solidFill>
                <a:latin typeface="Lucida Sans Unicode"/>
                <a:cs typeface="Lucida Sans Unicode"/>
              </a:rPr>
              <a:t>r</a:t>
            </a:r>
            <a:r>
              <a:rPr dirty="0" spc="-70">
                <a:solidFill>
                  <a:srgbClr val="D69D2E"/>
                </a:solidFill>
                <a:latin typeface="Lucida Sans Unicode"/>
                <a:cs typeface="Lucida Sans Unicode"/>
              </a:rPr>
              <a:t>i</a:t>
            </a:r>
            <a:r>
              <a:rPr dirty="0" spc="-240">
                <a:solidFill>
                  <a:srgbClr val="D69D2E"/>
                </a:solidFill>
                <a:latin typeface="Lucida Sans Unicode"/>
                <a:cs typeface="Lucida Sans Unicode"/>
              </a:rPr>
              <a:t>t</a:t>
            </a:r>
            <a:r>
              <a:rPr dirty="0" spc="-300">
                <a:solidFill>
                  <a:srgbClr val="D69D2E"/>
                </a:solidFill>
                <a:latin typeface="Lucida Sans Unicode"/>
                <a:cs typeface="Lucida Sans Unicode"/>
              </a:rPr>
              <a:t>h</a:t>
            </a:r>
            <a:r>
              <a:rPr dirty="0" spc="-35">
                <a:solidFill>
                  <a:srgbClr val="D69D2E"/>
                </a:solidFill>
                <a:latin typeface="Lucida Sans Unicode"/>
                <a:cs typeface="Lucida Sans Unicode"/>
              </a:rPr>
              <a:t>m</a:t>
            </a:r>
            <a:r>
              <a:rPr dirty="0" spc="-140">
                <a:solidFill>
                  <a:srgbClr val="D69D2E"/>
                </a:solidFill>
                <a:latin typeface="Lucida Sans Unicode"/>
                <a:cs typeface="Lucida Sans Unicode"/>
              </a:rPr>
              <a:t> </a:t>
            </a:r>
            <a:r>
              <a:rPr dirty="0" spc="-295">
                <a:solidFill>
                  <a:srgbClr val="D69D2E"/>
                </a:solidFill>
                <a:latin typeface="Lucida Sans Unicode"/>
                <a:cs typeface="Lucida Sans Unicode"/>
              </a:rPr>
              <a:t>Efficiency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44525" y="3806825"/>
            <a:ext cx="5745480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 spc="195">
                <a:solidFill>
                  <a:srgbClr val="2D3748"/>
                </a:solidFill>
                <a:latin typeface="Calibri"/>
                <a:cs typeface="Calibri"/>
              </a:rPr>
              <a:t>A</a:t>
            </a:r>
            <a:r>
              <a:rPr dirty="0" sz="2250" spc="-55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2250" spc="-25">
                <a:solidFill>
                  <a:srgbClr val="2D3748"/>
                </a:solidFill>
                <a:latin typeface="Calibri"/>
                <a:cs typeface="Calibri"/>
              </a:rPr>
              <a:t>Deep</a:t>
            </a:r>
            <a:r>
              <a:rPr dirty="0" sz="2250" spc="-35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2D3748"/>
                </a:solidFill>
                <a:latin typeface="Calibri"/>
                <a:cs typeface="Calibri"/>
              </a:rPr>
              <a:t>Dive</a:t>
            </a:r>
            <a:r>
              <a:rPr dirty="0" sz="2250" spc="-15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2D3748"/>
                </a:solidFill>
                <a:latin typeface="Calibri"/>
                <a:cs typeface="Calibri"/>
              </a:rPr>
              <a:t>into</a:t>
            </a:r>
            <a:r>
              <a:rPr dirty="0" sz="2250" spc="-30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2250" spc="-25">
                <a:solidFill>
                  <a:srgbClr val="2D3748"/>
                </a:solidFill>
                <a:latin typeface="Calibri"/>
                <a:cs typeface="Calibri"/>
              </a:rPr>
              <a:t>Merge</a:t>
            </a:r>
            <a:r>
              <a:rPr dirty="0" sz="2250" spc="-10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2D3748"/>
                </a:solidFill>
                <a:latin typeface="Calibri"/>
                <a:cs typeface="Calibri"/>
              </a:rPr>
              <a:t>Sort</a:t>
            </a:r>
            <a:r>
              <a:rPr dirty="0" sz="2250" spc="-55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2250" spc="-60">
                <a:solidFill>
                  <a:srgbClr val="2D3748"/>
                </a:solidFill>
                <a:latin typeface="Calibri"/>
                <a:cs typeface="Calibri"/>
              </a:rPr>
              <a:t>Performance</a:t>
            </a:r>
            <a:r>
              <a:rPr dirty="0" sz="2250" spc="-5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2250" spc="-10">
                <a:solidFill>
                  <a:srgbClr val="2D3748"/>
                </a:solidFill>
                <a:latin typeface="Calibri"/>
                <a:cs typeface="Calibri"/>
              </a:rPr>
              <a:t>Bounds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57225" y="4505325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914400" y="0"/>
                </a:moveTo>
                <a:lnTo>
                  <a:pt x="0" y="0"/>
                </a:lnTo>
                <a:lnTo>
                  <a:pt x="0" y="38100"/>
                </a:lnTo>
                <a:lnTo>
                  <a:pt x="914400" y="38100"/>
                </a:lnTo>
                <a:lnTo>
                  <a:pt x="914400" y="0"/>
                </a:lnTo>
                <a:close/>
              </a:path>
            </a:pathLst>
          </a:custGeom>
          <a:solidFill>
            <a:srgbClr val="D69D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44525" y="4835525"/>
            <a:ext cx="2553970" cy="583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2D3748"/>
                </a:solidFill>
                <a:latin typeface="Calibri"/>
                <a:cs typeface="Calibri"/>
              </a:rPr>
              <a:t>Academic</a:t>
            </a:r>
            <a:r>
              <a:rPr dirty="0" sz="1500" spc="90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2D3748"/>
                </a:solidFill>
                <a:latin typeface="Calibri"/>
                <a:cs typeface="Calibri"/>
              </a:rPr>
              <a:t>Analysis</a:t>
            </a:r>
            <a:r>
              <a:rPr dirty="0" sz="1500" spc="5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2D3748"/>
                </a:solidFill>
                <a:latin typeface="Calibri"/>
                <a:cs typeface="Calibri"/>
              </a:rPr>
              <a:t>Presentation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 sz="1350">
                <a:solidFill>
                  <a:srgbClr val="2D3748"/>
                </a:solidFill>
                <a:latin typeface="Calibri"/>
                <a:cs typeface="Calibri"/>
              </a:rPr>
              <a:t>July</a:t>
            </a:r>
            <a:r>
              <a:rPr dirty="0" sz="1350" spc="-40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350" spc="-80">
                <a:solidFill>
                  <a:srgbClr val="2D3748"/>
                </a:solidFill>
                <a:latin typeface="Calibri"/>
                <a:cs typeface="Calibri"/>
              </a:rPr>
              <a:t>21,</a:t>
            </a:r>
            <a:r>
              <a:rPr dirty="0" sz="1350" spc="-25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2D3748"/>
                </a:solidFill>
                <a:latin typeface="Calibri"/>
                <a:cs typeface="Calibri"/>
              </a:rPr>
              <a:t>2026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"/>
            <a:ext cx="12192000" cy="7248525"/>
          </a:xfrm>
          <a:custGeom>
            <a:avLst/>
            <a:gdLst/>
            <a:ahLst/>
            <a:cxnLst/>
            <a:rect l="l" t="t" r="r" b="b"/>
            <a:pathLst>
              <a:path w="12192000" h="7248525">
                <a:moveTo>
                  <a:pt x="12192000" y="0"/>
                </a:moveTo>
                <a:lnTo>
                  <a:pt x="0" y="0"/>
                </a:lnTo>
                <a:lnTo>
                  <a:pt x="0" y="7248525"/>
                </a:lnTo>
                <a:lnTo>
                  <a:pt x="12192000" y="72485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57200" y="1076325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914400" y="0"/>
                </a:moveTo>
                <a:lnTo>
                  <a:pt x="0" y="0"/>
                </a:lnTo>
                <a:lnTo>
                  <a:pt x="0" y="38100"/>
                </a:lnTo>
                <a:lnTo>
                  <a:pt x="914400" y="38100"/>
                </a:lnTo>
                <a:lnTo>
                  <a:pt x="914400" y="0"/>
                </a:lnTo>
                <a:close/>
              </a:path>
            </a:pathLst>
          </a:custGeom>
          <a:solidFill>
            <a:srgbClr val="D69D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44500" y="374666"/>
            <a:ext cx="10118725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0"/>
              <a:t>Fundamental</a:t>
            </a:r>
            <a:r>
              <a:rPr dirty="0" spc="-405"/>
              <a:t> </a:t>
            </a:r>
            <a:r>
              <a:rPr dirty="0" spc="-225"/>
              <a:t>Metrics</a:t>
            </a:r>
            <a:r>
              <a:rPr dirty="0" spc="-385"/>
              <a:t> </a:t>
            </a:r>
            <a:r>
              <a:rPr dirty="0" spc="-190"/>
              <a:t>o</a:t>
            </a:r>
            <a:r>
              <a:rPr dirty="0" spc="135"/>
              <a:t>f</a:t>
            </a:r>
            <a:r>
              <a:rPr dirty="0" spc="-409"/>
              <a:t>A</a:t>
            </a:r>
            <a:r>
              <a:rPr dirty="0" spc="-150"/>
              <a:t>l</a:t>
            </a:r>
            <a:r>
              <a:rPr dirty="0" spc="-385"/>
              <a:t>g</a:t>
            </a:r>
            <a:r>
              <a:rPr dirty="0" spc="-190"/>
              <a:t>o</a:t>
            </a:r>
            <a:r>
              <a:rPr dirty="0" spc="-270"/>
              <a:t>r</a:t>
            </a:r>
            <a:r>
              <a:rPr dirty="0" spc="-160"/>
              <a:t>i</a:t>
            </a:r>
            <a:r>
              <a:rPr dirty="0" spc="-270"/>
              <a:t>t</a:t>
            </a:r>
            <a:r>
              <a:rPr dirty="0" spc="-315"/>
              <a:t>h</a:t>
            </a:r>
            <a:r>
              <a:rPr dirty="0" spc="-120"/>
              <a:t>m</a:t>
            </a:r>
            <a:r>
              <a:rPr dirty="0" spc="-690"/>
              <a:t> </a:t>
            </a:r>
            <a:r>
              <a:rPr dirty="0" spc="-280"/>
              <a:t>Performance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57200" y="1419225"/>
            <a:ext cx="5410200" cy="1638300"/>
            <a:chOff x="457200" y="1419225"/>
            <a:chExt cx="5410200" cy="1638300"/>
          </a:xfrm>
        </p:grpSpPr>
        <p:sp>
          <p:nvSpPr>
            <p:cNvPr id="6" name="object 6"/>
            <p:cNvSpPr/>
            <p:nvPr/>
          </p:nvSpPr>
          <p:spPr>
            <a:xfrm>
              <a:off x="495300" y="1419225"/>
              <a:ext cx="5372100" cy="1638300"/>
            </a:xfrm>
            <a:custGeom>
              <a:avLst/>
              <a:gdLst/>
              <a:ahLst/>
              <a:cxnLst/>
              <a:rect l="l" t="t" r="r" b="b"/>
              <a:pathLst>
                <a:path w="5372100" h="1638300">
                  <a:moveTo>
                    <a:pt x="0" y="1638300"/>
                  </a:moveTo>
                  <a:lnTo>
                    <a:pt x="5372100" y="1638300"/>
                  </a:lnTo>
                  <a:lnTo>
                    <a:pt x="5372100" y="0"/>
                  </a:lnTo>
                  <a:lnTo>
                    <a:pt x="0" y="0"/>
                  </a:lnTo>
                  <a:lnTo>
                    <a:pt x="0" y="1638300"/>
                  </a:lnTo>
                  <a:close/>
                </a:path>
              </a:pathLst>
            </a:custGeom>
            <a:solidFill>
              <a:srgbClr val="D69D2E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57200" y="1419225"/>
              <a:ext cx="38100" cy="1638300"/>
            </a:xfrm>
            <a:custGeom>
              <a:avLst/>
              <a:gdLst/>
              <a:ahLst/>
              <a:cxnLst/>
              <a:rect l="l" t="t" r="r" b="b"/>
              <a:pathLst>
                <a:path w="38100" h="1638300">
                  <a:moveTo>
                    <a:pt x="38100" y="0"/>
                  </a:moveTo>
                  <a:lnTo>
                    <a:pt x="0" y="0"/>
                  </a:lnTo>
                  <a:lnTo>
                    <a:pt x="0" y="1638300"/>
                  </a:lnTo>
                  <a:lnTo>
                    <a:pt x="38100" y="16383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D69D2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457200" y="3286125"/>
            <a:ext cx="5410200" cy="1638300"/>
            <a:chOff x="457200" y="3286125"/>
            <a:chExt cx="5410200" cy="1638300"/>
          </a:xfrm>
        </p:grpSpPr>
        <p:sp>
          <p:nvSpPr>
            <p:cNvPr id="9" name="object 9"/>
            <p:cNvSpPr/>
            <p:nvPr/>
          </p:nvSpPr>
          <p:spPr>
            <a:xfrm>
              <a:off x="495300" y="3286125"/>
              <a:ext cx="5372100" cy="1638300"/>
            </a:xfrm>
            <a:custGeom>
              <a:avLst/>
              <a:gdLst/>
              <a:ahLst/>
              <a:cxnLst/>
              <a:rect l="l" t="t" r="r" b="b"/>
              <a:pathLst>
                <a:path w="5372100" h="1638300">
                  <a:moveTo>
                    <a:pt x="0" y="1638300"/>
                  </a:moveTo>
                  <a:lnTo>
                    <a:pt x="5372100" y="1638300"/>
                  </a:lnTo>
                  <a:lnTo>
                    <a:pt x="5372100" y="0"/>
                  </a:lnTo>
                  <a:lnTo>
                    <a:pt x="0" y="0"/>
                  </a:lnTo>
                  <a:lnTo>
                    <a:pt x="0" y="1638300"/>
                  </a:lnTo>
                  <a:close/>
                </a:path>
              </a:pathLst>
            </a:custGeom>
            <a:solidFill>
              <a:srgbClr val="D69D2E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57200" y="3286125"/>
              <a:ext cx="38100" cy="1638300"/>
            </a:xfrm>
            <a:custGeom>
              <a:avLst/>
              <a:gdLst/>
              <a:ahLst/>
              <a:cxnLst/>
              <a:rect l="l" t="t" r="r" b="b"/>
              <a:pathLst>
                <a:path w="38100" h="1638300">
                  <a:moveTo>
                    <a:pt x="38100" y="0"/>
                  </a:moveTo>
                  <a:lnTo>
                    <a:pt x="0" y="0"/>
                  </a:lnTo>
                  <a:lnTo>
                    <a:pt x="0" y="1638300"/>
                  </a:lnTo>
                  <a:lnTo>
                    <a:pt x="38100" y="16383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D69D2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457200" y="5153022"/>
            <a:ext cx="5410200" cy="1638300"/>
            <a:chOff x="457200" y="5153022"/>
            <a:chExt cx="5410200" cy="1638300"/>
          </a:xfrm>
        </p:grpSpPr>
        <p:sp>
          <p:nvSpPr>
            <p:cNvPr id="12" name="object 12"/>
            <p:cNvSpPr/>
            <p:nvPr/>
          </p:nvSpPr>
          <p:spPr>
            <a:xfrm>
              <a:off x="495300" y="5153022"/>
              <a:ext cx="5372100" cy="1638300"/>
            </a:xfrm>
            <a:custGeom>
              <a:avLst/>
              <a:gdLst/>
              <a:ahLst/>
              <a:cxnLst/>
              <a:rect l="l" t="t" r="r" b="b"/>
              <a:pathLst>
                <a:path w="5372100" h="1638300">
                  <a:moveTo>
                    <a:pt x="0" y="1638300"/>
                  </a:moveTo>
                  <a:lnTo>
                    <a:pt x="5372100" y="1638300"/>
                  </a:lnTo>
                  <a:lnTo>
                    <a:pt x="5372100" y="0"/>
                  </a:lnTo>
                  <a:lnTo>
                    <a:pt x="0" y="0"/>
                  </a:lnTo>
                  <a:lnTo>
                    <a:pt x="0" y="1638300"/>
                  </a:lnTo>
                  <a:close/>
                </a:path>
              </a:pathLst>
            </a:custGeom>
            <a:solidFill>
              <a:srgbClr val="D69D2E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7200" y="5153022"/>
              <a:ext cx="38100" cy="1638300"/>
            </a:xfrm>
            <a:custGeom>
              <a:avLst/>
              <a:gdLst/>
              <a:ahLst/>
              <a:cxnLst/>
              <a:rect l="l" t="t" r="r" b="b"/>
              <a:pathLst>
                <a:path w="38100" h="1638300">
                  <a:moveTo>
                    <a:pt x="38100" y="0"/>
                  </a:moveTo>
                  <a:lnTo>
                    <a:pt x="0" y="0"/>
                  </a:lnTo>
                  <a:lnTo>
                    <a:pt x="0" y="1638300"/>
                  </a:lnTo>
                  <a:lnTo>
                    <a:pt x="38100" y="16383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D69D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495300" y="1486154"/>
            <a:ext cx="5372100" cy="5051425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marL="227965">
              <a:lnSpc>
                <a:spcPct val="100000"/>
              </a:lnSpc>
              <a:spcBef>
                <a:spcPts val="1195"/>
              </a:spcBef>
            </a:pPr>
            <a:r>
              <a:rPr dirty="0" sz="1800" spc="45" b="1">
                <a:solidFill>
                  <a:srgbClr val="2D3748"/>
                </a:solidFill>
                <a:latin typeface="Calibri"/>
                <a:cs typeface="Calibri"/>
              </a:rPr>
              <a:t>EÆciency</a:t>
            </a:r>
            <a:r>
              <a:rPr dirty="0" sz="1800" spc="-35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D3748"/>
                </a:solidFill>
                <a:latin typeface="Calibri"/>
                <a:cs typeface="Calibri"/>
              </a:rPr>
              <a:t>Metrics</a:t>
            </a:r>
            <a:endParaRPr sz="1800">
              <a:latin typeface="Calibri"/>
              <a:cs typeface="Calibri"/>
            </a:endParaRPr>
          </a:p>
          <a:p>
            <a:pPr marL="227965" marR="223520">
              <a:lnSpc>
                <a:spcPct val="116700"/>
              </a:lnSpc>
              <a:spcBef>
                <a:spcPts val="615"/>
              </a:spcBef>
            </a:pPr>
            <a:r>
              <a:rPr dirty="0" sz="1500" spc="-55">
                <a:solidFill>
                  <a:srgbClr val="4A5467"/>
                </a:solidFill>
                <a:latin typeface="Calibri"/>
                <a:cs typeface="Calibri"/>
              </a:rPr>
              <a:t>Performance</a:t>
            </a:r>
            <a:r>
              <a:rPr dirty="0" sz="1500" spc="-3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is primarily</a:t>
            </a:r>
            <a:r>
              <a:rPr dirty="0" sz="1500" spc="1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4A5467"/>
                </a:solidFill>
                <a:latin typeface="Calibri"/>
                <a:cs typeface="Calibri"/>
              </a:rPr>
              <a:t>evaluated</a:t>
            </a:r>
            <a:r>
              <a:rPr dirty="0" sz="1500" spc="2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4A5467"/>
                </a:solidFill>
                <a:latin typeface="Calibri"/>
                <a:cs typeface="Calibri"/>
              </a:rPr>
              <a:t>through</a:t>
            </a:r>
            <a:r>
              <a:rPr dirty="0" sz="1500" spc="-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**Time</a:t>
            </a:r>
            <a:r>
              <a:rPr dirty="0" sz="1500" spc="-3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Complexity** </a:t>
            </a:r>
            <a:r>
              <a:rPr dirty="0" sz="1500" spc="-35">
                <a:solidFill>
                  <a:srgbClr val="4A5467"/>
                </a:solidFill>
                <a:latin typeface="Calibri"/>
                <a:cs typeface="Calibri"/>
              </a:rPr>
              <a:t>(computational</a:t>
            </a:r>
            <a:r>
              <a:rPr dirty="0" sz="1500" spc="-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4A5467"/>
                </a:solidFill>
                <a:latin typeface="Calibri"/>
                <a:cs typeface="Calibri"/>
              </a:rPr>
              <a:t>steps)</a:t>
            </a:r>
            <a:r>
              <a:rPr dirty="0" sz="1500" spc="-3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4A5467"/>
                </a:solidFill>
                <a:latin typeface="Calibri"/>
                <a:cs typeface="Calibri"/>
              </a:rPr>
              <a:t>and</a:t>
            </a:r>
            <a:r>
              <a:rPr dirty="0" sz="1500" spc="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4A5467"/>
                </a:solidFill>
                <a:latin typeface="Calibri"/>
                <a:cs typeface="Calibri"/>
              </a:rPr>
              <a:t>**Space</a:t>
            </a:r>
            <a:r>
              <a:rPr dirty="0" sz="1500" spc="-4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4A5467"/>
                </a:solidFill>
                <a:latin typeface="Calibri"/>
                <a:cs typeface="Calibri"/>
              </a:rPr>
              <a:t>Complexity**</a:t>
            </a:r>
            <a:r>
              <a:rPr dirty="0" sz="1500" spc="2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(memory allocation).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500">
              <a:latin typeface="Calibri"/>
              <a:cs typeface="Calibri"/>
            </a:endParaRPr>
          </a:p>
          <a:p>
            <a:pPr marL="227965">
              <a:lnSpc>
                <a:spcPct val="100000"/>
              </a:lnSpc>
              <a:spcBef>
                <a:spcPts val="5"/>
              </a:spcBef>
            </a:pPr>
            <a:r>
              <a:rPr dirty="0" sz="1800" b="1">
                <a:solidFill>
                  <a:srgbClr val="2D3748"/>
                </a:solidFill>
                <a:latin typeface="Calibri"/>
                <a:cs typeface="Calibri"/>
              </a:rPr>
              <a:t>Asymptotic</a:t>
            </a:r>
            <a:r>
              <a:rPr dirty="0" sz="1800" spc="120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D3748"/>
                </a:solidFill>
                <a:latin typeface="Calibri"/>
                <a:cs typeface="Calibri"/>
              </a:rPr>
              <a:t>Notation</a:t>
            </a:r>
            <a:endParaRPr sz="1800">
              <a:latin typeface="Calibri"/>
              <a:cs typeface="Calibri"/>
            </a:endParaRPr>
          </a:p>
          <a:p>
            <a:pPr marL="227965">
              <a:lnSpc>
                <a:spcPct val="100000"/>
              </a:lnSpc>
              <a:spcBef>
                <a:spcPts val="915"/>
              </a:spcBef>
            </a:pPr>
            <a:r>
              <a:rPr dirty="0" sz="1500" spc="-50">
                <a:solidFill>
                  <a:srgbClr val="4A5467"/>
                </a:solidFill>
                <a:latin typeface="Calibri"/>
                <a:cs typeface="Calibri"/>
              </a:rPr>
              <a:t>Mathematical</a:t>
            </a:r>
            <a:r>
              <a:rPr dirty="0" sz="1500" spc="-2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4A5467"/>
                </a:solidFill>
                <a:latin typeface="Calibri"/>
                <a:cs typeface="Calibri"/>
              </a:rPr>
              <a:t>tools</a:t>
            </a:r>
            <a:r>
              <a:rPr dirty="0" sz="1500" spc="-2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like</a:t>
            </a:r>
            <a:r>
              <a:rPr dirty="0" sz="1500" spc="-5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**Big</a:t>
            </a:r>
            <a:r>
              <a:rPr dirty="0" sz="1500" spc="-4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65">
                <a:solidFill>
                  <a:srgbClr val="4A5467"/>
                </a:solidFill>
                <a:latin typeface="Calibri"/>
                <a:cs typeface="Calibri"/>
              </a:rPr>
              <a:t>O</a:t>
            </a:r>
            <a:r>
              <a:rPr dirty="0" sz="1500" spc="-4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4A5467"/>
                </a:solidFill>
                <a:latin typeface="Calibri"/>
                <a:cs typeface="Calibri"/>
              </a:rPr>
              <a:t>(O)**,</a:t>
            </a:r>
            <a:r>
              <a:rPr dirty="0" sz="1500" spc="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4A5467"/>
                </a:solidFill>
                <a:latin typeface="Calibri"/>
                <a:cs typeface="Calibri"/>
              </a:rPr>
              <a:t>**Omega</a:t>
            </a:r>
            <a:r>
              <a:rPr dirty="0" sz="1500" spc="-4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(</a:t>
            </a:r>
            <a:r>
              <a:rPr dirty="0" sz="1500">
                <a:solidFill>
                  <a:srgbClr val="4A5467"/>
                </a:solidFill>
                <a:latin typeface="Times New Roman"/>
                <a:cs typeface="Times New Roman"/>
              </a:rPr>
              <a:t>fi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)**, </a:t>
            </a:r>
            <a:r>
              <a:rPr dirty="0" sz="1500" spc="-25">
                <a:solidFill>
                  <a:srgbClr val="4A5467"/>
                </a:solidFill>
                <a:latin typeface="Calibri"/>
                <a:cs typeface="Calibri"/>
              </a:rPr>
              <a:t>and</a:t>
            </a:r>
            <a:endParaRPr sz="1500">
              <a:latin typeface="Calibri"/>
              <a:cs typeface="Calibri"/>
            </a:endParaRPr>
          </a:p>
          <a:p>
            <a:pPr marL="228600" marR="808355">
              <a:lnSpc>
                <a:spcPct val="116700"/>
              </a:lnSpc>
            </a:pPr>
            <a:r>
              <a:rPr dirty="0" sz="1500" spc="-45">
                <a:solidFill>
                  <a:srgbClr val="4A5467"/>
                </a:solidFill>
                <a:latin typeface="Calibri"/>
                <a:cs typeface="Calibri"/>
              </a:rPr>
              <a:t>**Theta</a:t>
            </a:r>
            <a:r>
              <a:rPr dirty="0" sz="1500" spc="-5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4A5467"/>
                </a:solidFill>
                <a:latin typeface="Calibri"/>
                <a:cs typeface="Calibri"/>
              </a:rPr>
              <a:t>(</a:t>
            </a:r>
            <a:r>
              <a:rPr dirty="0" sz="1500" spc="-45">
                <a:solidFill>
                  <a:srgbClr val="4A5467"/>
                </a:solidFill>
                <a:latin typeface="Times New Roman"/>
                <a:cs typeface="Times New Roman"/>
              </a:rPr>
              <a:t>Θ</a:t>
            </a:r>
            <a:r>
              <a:rPr dirty="0" sz="1500" spc="-45">
                <a:solidFill>
                  <a:srgbClr val="4A5467"/>
                </a:solidFill>
                <a:latin typeface="Calibri"/>
                <a:cs typeface="Calibri"/>
              </a:rPr>
              <a:t>)**</a:t>
            </a:r>
            <a:r>
              <a:rPr dirty="0" sz="1500" spc="-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4A5467"/>
                </a:solidFill>
                <a:latin typeface="Calibri"/>
                <a:cs typeface="Calibri"/>
              </a:rPr>
              <a:t>define</a:t>
            </a:r>
            <a:r>
              <a:rPr dirty="0" sz="1500" spc="-6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4A5467"/>
                </a:solidFill>
                <a:latin typeface="Calibri"/>
                <a:cs typeface="Calibri"/>
              </a:rPr>
              <a:t>the</a:t>
            </a:r>
            <a:r>
              <a:rPr dirty="0" sz="1500" spc="-6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4A5467"/>
                </a:solidFill>
                <a:latin typeface="Calibri"/>
                <a:cs typeface="Calibri"/>
              </a:rPr>
              <a:t>upper,</a:t>
            </a:r>
            <a:r>
              <a:rPr dirty="0" sz="1500" spc="-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35">
                <a:solidFill>
                  <a:srgbClr val="4A5467"/>
                </a:solidFill>
                <a:latin typeface="Calibri"/>
                <a:cs typeface="Calibri"/>
              </a:rPr>
              <a:t>lower,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4A5467"/>
                </a:solidFill>
                <a:latin typeface="Calibri"/>
                <a:cs typeface="Calibri"/>
              </a:rPr>
              <a:t>and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4A5467"/>
                </a:solidFill>
                <a:latin typeface="Calibri"/>
                <a:cs typeface="Calibri"/>
              </a:rPr>
              <a:t>tight</a:t>
            </a:r>
            <a:r>
              <a:rPr dirty="0" sz="1500" spc="-4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35">
                <a:solidFill>
                  <a:srgbClr val="4A5467"/>
                </a:solidFill>
                <a:latin typeface="Calibri"/>
                <a:cs typeface="Calibri"/>
              </a:rPr>
              <a:t>bounds</a:t>
            </a:r>
            <a:r>
              <a:rPr dirty="0" sz="1500" spc="-25">
                <a:solidFill>
                  <a:srgbClr val="4A5467"/>
                </a:solidFill>
                <a:latin typeface="Calibri"/>
                <a:cs typeface="Calibri"/>
              </a:rPr>
              <a:t> of </a:t>
            </a:r>
            <a:r>
              <a:rPr dirty="0" sz="1500" spc="-65">
                <a:solidFill>
                  <a:srgbClr val="4A5467"/>
                </a:solidFill>
                <a:latin typeface="Calibri"/>
                <a:cs typeface="Calibri"/>
              </a:rPr>
              <a:t>resource</a:t>
            </a:r>
            <a:r>
              <a:rPr dirty="0" sz="1500" spc="-4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scaling.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500">
              <a:latin typeface="Calibri"/>
              <a:cs typeface="Calibri"/>
            </a:endParaRPr>
          </a:p>
          <a:p>
            <a:pPr marL="227965">
              <a:lnSpc>
                <a:spcPct val="100000"/>
              </a:lnSpc>
            </a:pPr>
            <a:r>
              <a:rPr dirty="0" sz="1800" b="1">
                <a:solidFill>
                  <a:srgbClr val="2D3748"/>
                </a:solidFill>
                <a:latin typeface="Calibri"/>
                <a:cs typeface="Calibri"/>
              </a:rPr>
              <a:t>Significance of </a:t>
            </a:r>
            <a:r>
              <a:rPr dirty="0" sz="1800" spc="-20" b="1">
                <a:solidFill>
                  <a:srgbClr val="2D3748"/>
                </a:solidFill>
                <a:latin typeface="Calibri"/>
                <a:cs typeface="Calibri"/>
              </a:rPr>
              <a:t>Cases</a:t>
            </a:r>
            <a:endParaRPr sz="1800">
              <a:latin typeface="Calibri"/>
              <a:cs typeface="Calibri"/>
            </a:endParaRPr>
          </a:p>
          <a:p>
            <a:pPr marL="227965" marR="342265">
              <a:lnSpc>
                <a:spcPct val="116700"/>
              </a:lnSpc>
              <a:spcBef>
                <a:spcPts val="615"/>
              </a:spcBef>
            </a:pP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Analyzing</a:t>
            </a:r>
            <a:r>
              <a:rPr dirty="0" sz="1500" spc="-2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4A5467"/>
                </a:solidFill>
                <a:latin typeface="Calibri"/>
                <a:cs typeface="Calibri"/>
              </a:rPr>
              <a:t>**Best**,</a:t>
            </a:r>
            <a:r>
              <a:rPr dirty="0" sz="1500" spc="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4A5467"/>
                </a:solidFill>
                <a:latin typeface="Calibri"/>
                <a:cs typeface="Calibri"/>
              </a:rPr>
              <a:t>**Average**,</a:t>
            </a:r>
            <a:r>
              <a:rPr dirty="0" sz="1500" spc="3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4A5467"/>
                </a:solidFill>
                <a:latin typeface="Calibri"/>
                <a:cs typeface="Calibri"/>
              </a:rPr>
              <a:t>and</a:t>
            </a:r>
            <a:r>
              <a:rPr dirty="0" sz="1500" spc="2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4A5467"/>
                </a:solidFill>
                <a:latin typeface="Calibri"/>
                <a:cs typeface="Calibri"/>
              </a:rPr>
              <a:t>**Worst**</a:t>
            </a:r>
            <a:r>
              <a:rPr dirty="0" sz="1500" spc="3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4A5467"/>
                </a:solidFill>
                <a:latin typeface="Calibri"/>
                <a:cs typeface="Calibri"/>
              </a:rPr>
              <a:t>cases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4A5467"/>
                </a:solidFill>
                <a:latin typeface="Calibri"/>
                <a:cs typeface="Calibri"/>
              </a:rPr>
              <a:t>ensures</a:t>
            </a:r>
            <a:r>
              <a:rPr dirty="0" sz="1500" spc="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4A5467"/>
                </a:solidFill>
                <a:latin typeface="Calibri"/>
                <a:cs typeface="Calibri"/>
              </a:rPr>
              <a:t>a </a:t>
            </a:r>
            <a:r>
              <a:rPr dirty="0" sz="1500" spc="-45">
                <a:solidFill>
                  <a:srgbClr val="4A5467"/>
                </a:solidFill>
                <a:latin typeface="Calibri"/>
                <a:cs typeface="Calibri"/>
              </a:rPr>
              <a:t>robust</a:t>
            </a:r>
            <a:r>
              <a:rPr dirty="0" sz="1500" spc="-3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30">
                <a:solidFill>
                  <a:srgbClr val="4A5467"/>
                </a:solidFill>
                <a:latin typeface="Calibri"/>
                <a:cs typeface="Calibri"/>
              </a:rPr>
              <a:t>understanding</a:t>
            </a:r>
            <a:r>
              <a:rPr dirty="0" sz="1500" spc="-4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4A5467"/>
                </a:solidFill>
                <a:latin typeface="Calibri"/>
                <a:cs typeface="Calibri"/>
              </a:rPr>
              <a:t>of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4A5467"/>
                </a:solidFill>
                <a:latin typeface="Calibri"/>
                <a:cs typeface="Calibri"/>
              </a:rPr>
              <a:t>an</a:t>
            </a:r>
            <a:r>
              <a:rPr dirty="0" sz="1500" spc="1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30">
                <a:solidFill>
                  <a:srgbClr val="4A5467"/>
                </a:solidFill>
                <a:latin typeface="Calibri"/>
                <a:cs typeface="Calibri"/>
              </a:rPr>
              <a:t>algorithm's</a:t>
            </a:r>
            <a:r>
              <a:rPr dirty="0" sz="1500" spc="-2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reliability </a:t>
            </a:r>
            <a:r>
              <a:rPr dirty="0" sz="1500" spc="-60">
                <a:solidFill>
                  <a:srgbClr val="4A5467"/>
                </a:solidFill>
                <a:latin typeface="Calibri"/>
                <a:cs typeface="Calibri"/>
              </a:rPr>
              <a:t>across</a:t>
            </a:r>
            <a:r>
              <a:rPr dirty="0" sz="1500" spc="-2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diverse inputs.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83487" y="1873250"/>
            <a:ext cx="28898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D3748"/>
                </a:solidFill>
                <a:latin typeface="Calibri"/>
                <a:cs typeface="Calibri"/>
              </a:rPr>
              <a:t>Complexity</a:t>
            </a:r>
            <a:r>
              <a:rPr dirty="0" sz="1800" spc="160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D3748"/>
                </a:solidFill>
                <a:latin typeface="Calibri"/>
                <a:cs typeface="Calibri"/>
              </a:rPr>
              <a:t>Class</a:t>
            </a:r>
            <a:r>
              <a:rPr dirty="0" sz="1800" spc="175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D3748"/>
                </a:solidFill>
                <a:latin typeface="Calibri"/>
                <a:cs typeface="Calibri"/>
              </a:rPr>
              <a:t>Comparison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4600" y="2352675"/>
            <a:ext cx="5410199" cy="361949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7673975" y="6107768"/>
            <a:ext cx="271589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i="1">
                <a:solidFill>
                  <a:srgbClr val="4A5467"/>
                </a:solidFill>
                <a:latin typeface="Calibri"/>
                <a:cs typeface="Calibri"/>
              </a:rPr>
              <a:t>Visualizing</a:t>
            </a:r>
            <a:r>
              <a:rPr dirty="0" sz="1050" spc="-30" i="1">
                <a:solidFill>
                  <a:srgbClr val="4A5467"/>
                </a:solidFill>
                <a:latin typeface="Calibri"/>
                <a:cs typeface="Calibri"/>
              </a:rPr>
              <a:t> growth</a:t>
            </a:r>
            <a:r>
              <a:rPr dirty="0" sz="1050" spc="-5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50" i="1">
                <a:solidFill>
                  <a:srgbClr val="4A5467"/>
                </a:solidFill>
                <a:latin typeface="Calibri"/>
                <a:cs typeface="Calibri"/>
              </a:rPr>
              <a:t>rates:</a:t>
            </a:r>
            <a:r>
              <a:rPr dirty="0" sz="1050" spc="-5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4A5467"/>
                </a:solidFill>
                <a:latin typeface="Calibri"/>
                <a:cs typeface="Calibri"/>
              </a:rPr>
              <a:t>O(n),</a:t>
            </a:r>
            <a:r>
              <a:rPr dirty="0" sz="1050" spc="-5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4A5467"/>
                </a:solidFill>
                <a:latin typeface="Calibri"/>
                <a:cs typeface="Calibri"/>
              </a:rPr>
              <a:t>O(n</a:t>
            </a:r>
            <a:r>
              <a:rPr dirty="0" sz="1050" spc="-20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35" i="1">
                <a:solidFill>
                  <a:srgbClr val="4A5467"/>
                </a:solidFill>
                <a:latin typeface="Calibri"/>
                <a:cs typeface="Calibri"/>
              </a:rPr>
              <a:t>log</a:t>
            </a:r>
            <a:r>
              <a:rPr dirty="0" sz="1050" spc="-25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20" i="1">
                <a:solidFill>
                  <a:srgbClr val="4A5467"/>
                </a:solidFill>
                <a:latin typeface="Calibri"/>
                <a:cs typeface="Calibri"/>
              </a:rPr>
              <a:t>n),</a:t>
            </a:r>
            <a:r>
              <a:rPr dirty="0" sz="1050" spc="-10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45" i="1">
                <a:solidFill>
                  <a:srgbClr val="4A5467"/>
                </a:solidFill>
                <a:latin typeface="Calibri"/>
                <a:cs typeface="Calibri"/>
              </a:rPr>
              <a:t>and</a:t>
            </a:r>
            <a:r>
              <a:rPr dirty="0" sz="1050" spc="30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20" i="1">
                <a:solidFill>
                  <a:srgbClr val="4A5467"/>
                </a:solidFill>
                <a:latin typeface="Calibri"/>
                <a:cs typeface="Calibri"/>
              </a:rPr>
              <a:t>O(n²)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353300"/>
          </a:xfrm>
          <a:custGeom>
            <a:avLst/>
            <a:gdLst/>
            <a:ahLst/>
            <a:cxnLst/>
            <a:rect l="l" t="t" r="r" b="b"/>
            <a:pathLst>
              <a:path w="12192000" h="7353300">
                <a:moveTo>
                  <a:pt x="12192000" y="0"/>
                </a:moveTo>
                <a:lnTo>
                  <a:pt x="0" y="0"/>
                </a:lnTo>
                <a:lnTo>
                  <a:pt x="0" y="7353300"/>
                </a:lnTo>
                <a:lnTo>
                  <a:pt x="12192000" y="73533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81000" y="1000124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914400" y="0"/>
                </a:moveTo>
                <a:lnTo>
                  <a:pt x="0" y="0"/>
                </a:lnTo>
                <a:lnTo>
                  <a:pt x="0" y="38100"/>
                </a:lnTo>
                <a:lnTo>
                  <a:pt x="914400" y="38100"/>
                </a:lnTo>
                <a:lnTo>
                  <a:pt x="914400" y="0"/>
                </a:lnTo>
                <a:close/>
              </a:path>
            </a:pathLst>
          </a:custGeom>
          <a:solidFill>
            <a:srgbClr val="D69D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5"/>
              <a:t>Merge</a:t>
            </a:r>
            <a:r>
              <a:rPr dirty="0" spc="-465"/>
              <a:t> </a:t>
            </a:r>
            <a:r>
              <a:rPr dirty="0" spc="-235"/>
              <a:t>Sort:</a:t>
            </a:r>
            <a:r>
              <a:rPr dirty="0" spc="-330"/>
              <a:t> </a:t>
            </a:r>
            <a:r>
              <a:rPr dirty="0" spc="-285"/>
              <a:t>The</a:t>
            </a:r>
            <a:r>
              <a:rPr dirty="0" spc="-465"/>
              <a:t> </a:t>
            </a:r>
            <a:r>
              <a:rPr dirty="0" spc="-229"/>
              <a:t>Divide</a:t>
            </a:r>
            <a:r>
              <a:rPr dirty="0" spc="-465"/>
              <a:t> </a:t>
            </a:r>
            <a:r>
              <a:rPr dirty="0" spc="-310"/>
              <a:t>and</a:t>
            </a:r>
            <a:r>
              <a:rPr dirty="0" spc="-525"/>
              <a:t> </a:t>
            </a:r>
            <a:r>
              <a:rPr dirty="0" spc="-290"/>
              <a:t>Conquer</a:t>
            </a:r>
            <a:r>
              <a:rPr dirty="0" spc="-660"/>
              <a:t> </a:t>
            </a:r>
            <a:r>
              <a:rPr dirty="0" spc="-175"/>
              <a:t>Paradigm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54150" y="1939925"/>
            <a:ext cx="33756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D3748"/>
                </a:solidFill>
                <a:latin typeface="Calibri"/>
                <a:cs typeface="Calibri"/>
              </a:rPr>
              <a:t>Structural</a:t>
            </a:r>
            <a:r>
              <a:rPr dirty="0" sz="1800" spc="25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D3748"/>
                </a:solidFill>
                <a:latin typeface="Calibri"/>
                <a:cs typeface="Calibri"/>
              </a:rPr>
              <a:t>Breakdown</a:t>
            </a:r>
            <a:r>
              <a:rPr dirty="0" sz="1800" spc="50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D3748"/>
                </a:solidFill>
                <a:latin typeface="Calibri"/>
                <a:cs typeface="Calibri"/>
              </a:rPr>
              <a:t>of</a:t>
            </a:r>
            <a:r>
              <a:rPr dirty="0" sz="1800" spc="5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D3748"/>
                </a:solidFill>
                <a:latin typeface="Calibri"/>
                <a:cs typeface="Calibri"/>
              </a:rPr>
              <a:t>Recursion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2495550"/>
            <a:ext cx="5524499" cy="34289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544637" y="6060146"/>
            <a:ext cx="320167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i="1">
                <a:solidFill>
                  <a:srgbClr val="4A5467"/>
                </a:solidFill>
                <a:latin typeface="Calibri"/>
                <a:cs typeface="Calibri"/>
              </a:rPr>
              <a:t>Visualizing</a:t>
            </a:r>
            <a:r>
              <a:rPr dirty="0" sz="1050" spc="-25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30" i="1">
                <a:solidFill>
                  <a:srgbClr val="4A5467"/>
                </a:solidFill>
                <a:latin typeface="Calibri"/>
                <a:cs typeface="Calibri"/>
              </a:rPr>
              <a:t>log(n)</a:t>
            </a:r>
            <a:r>
              <a:rPr dirty="0" sz="1050" spc="-20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4A5467"/>
                </a:solidFill>
                <a:latin typeface="Calibri"/>
                <a:cs typeface="Calibri"/>
              </a:rPr>
              <a:t>recursion</a:t>
            </a:r>
            <a:r>
              <a:rPr dirty="0" sz="1050" spc="-15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30" i="1">
                <a:solidFill>
                  <a:srgbClr val="4A5467"/>
                </a:solidFill>
                <a:latin typeface="Calibri"/>
                <a:cs typeface="Calibri"/>
              </a:rPr>
              <a:t>depth</a:t>
            </a:r>
            <a:r>
              <a:rPr dirty="0" sz="1050" spc="-10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4A5467"/>
                </a:solidFill>
                <a:latin typeface="Calibri"/>
                <a:cs typeface="Calibri"/>
              </a:rPr>
              <a:t>with</a:t>
            </a:r>
            <a:r>
              <a:rPr dirty="0" sz="1050" spc="-5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4A5467"/>
                </a:solidFill>
                <a:latin typeface="Calibri"/>
                <a:cs typeface="Calibri"/>
              </a:rPr>
              <a:t>n</a:t>
            </a:r>
            <a:r>
              <a:rPr dirty="0" sz="1050" spc="-20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25" i="1">
                <a:solidFill>
                  <a:srgbClr val="4A5467"/>
                </a:solidFill>
                <a:latin typeface="Calibri"/>
                <a:cs typeface="Calibri"/>
              </a:rPr>
              <a:t>operations</a:t>
            </a:r>
            <a:r>
              <a:rPr dirty="0" sz="1050" spc="25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4A5467"/>
                </a:solidFill>
                <a:latin typeface="Calibri"/>
                <a:cs typeface="Calibri"/>
              </a:rPr>
              <a:t>per</a:t>
            </a:r>
            <a:r>
              <a:rPr dirty="0" sz="1050" spc="-5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20" i="1">
                <a:solidFill>
                  <a:srgbClr val="4A5467"/>
                </a:solidFill>
                <a:latin typeface="Calibri"/>
                <a:cs typeface="Calibri"/>
              </a:rPr>
              <a:t>level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286500" y="1266824"/>
            <a:ext cx="5524500" cy="1638300"/>
            <a:chOff x="6286500" y="1266824"/>
            <a:chExt cx="5524500" cy="1638300"/>
          </a:xfrm>
        </p:grpSpPr>
        <p:sp>
          <p:nvSpPr>
            <p:cNvPr id="9" name="object 9"/>
            <p:cNvSpPr/>
            <p:nvPr/>
          </p:nvSpPr>
          <p:spPr>
            <a:xfrm>
              <a:off x="6324600" y="1266824"/>
              <a:ext cx="5486400" cy="1638300"/>
            </a:xfrm>
            <a:custGeom>
              <a:avLst/>
              <a:gdLst/>
              <a:ahLst/>
              <a:cxnLst/>
              <a:rect l="l" t="t" r="r" b="b"/>
              <a:pathLst>
                <a:path w="5486400" h="1638300">
                  <a:moveTo>
                    <a:pt x="0" y="1638300"/>
                  </a:moveTo>
                  <a:lnTo>
                    <a:pt x="5486400" y="1638300"/>
                  </a:lnTo>
                  <a:lnTo>
                    <a:pt x="5486400" y="0"/>
                  </a:lnTo>
                  <a:lnTo>
                    <a:pt x="0" y="0"/>
                  </a:lnTo>
                  <a:lnTo>
                    <a:pt x="0" y="1638300"/>
                  </a:lnTo>
                  <a:close/>
                </a:path>
              </a:pathLst>
            </a:custGeom>
            <a:solidFill>
              <a:srgbClr val="D69D2E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286500" y="1266824"/>
              <a:ext cx="38100" cy="1638300"/>
            </a:xfrm>
            <a:custGeom>
              <a:avLst/>
              <a:gdLst/>
              <a:ahLst/>
              <a:cxnLst/>
              <a:rect l="l" t="t" r="r" b="b"/>
              <a:pathLst>
                <a:path w="38100" h="1638300">
                  <a:moveTo>
                    <a:pt x="38100" y="0"/>
                  </a:moveTo>
                  <a:lnTo>
                    <a:pt x="0" y="0"/>
                  </a:lnTo>
                  <a:lnTo>
                    <a:pt x="0" y="1638300"/>
                  </a:lnTo>
                  <a:lnTo>
                    <a:pt x="38100" y="16383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D69D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6324600" y="1333753"/>
            <a:ext cx="5486400" cy="1317625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marL="227965">
              <a:lnSpc>
                <a:spcPct val="100000"/>
              </a:lnSpc>
              <a:spcBef>
                <a:spcPts val="1195"/>
              </a:spcBef>
            </a:pPr>
            <a:r>
              <a:rPr dirty="0" sz="1800" b="1">
                <a:solidFill>
                  <a:srgbClr val="2D3748"/>
                </a:solidFill>
                <a:latin typeface="Calibri"/>
                <a:cs typeface="Calibri"/>
              </a:rPr>
              <a:t>Core</a:t>
            </a:r>
            <a:r>
              <a:rPr dirty="0" sz="1800" spc="15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D3748"/>
                </a:solidFill>
                <a:latin typeface="Calibri"/>
                <a:cs typeface="Calibri"/>
              </a:rPr>
              <a:t>Principle</a:t>
            </a:r>
            <a:endParaRPr sz="1800">
              <a:latin typeface="Calibri"/>
              <a:cs typeface="Calibri"/>
            </a:endParaRPr>
          </a:p>
          <a:p>
            <a:pPr marL="227965" marR="274955">
              <a:lnSpc>
                <a:spcPct val="116700"/>
              </a:lnSpc>
              <a:spcBef>
                <a:spcPts val="615"/>
              </a:spcBef>
            </a:pPr>
            <a:r>
              <a:rPr dirty="0" sz="1500" spc="-55">
                <a:solidFill>
                  <a:srgbClr val="4A5467"/>
                </a:solidFill>
                <a:latin typeface="Calibri"/>
                <a:cs typeface="Calibri"/>
              </a:rPr>
              <a:t>Merge</a:t>
            </a:r>
            <a:r>
              <a:rPr dirty="0" sz="1500" spc="-6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Sort</a:t>
            </a:r>
            <a:r>
              <a:rPr dirty="0" sz="1500" spc="-4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30">
                <a:solidFill>
                  <a:srgbClr val="4A5467"/>
                </a:solidFill>
                <a:latin typeface="Calibri"/>
                <a:cs typeface="Calibri"/>
              </a:rPr>
              <a:t>recursively</a:t>
            </a:r>
            <a:r>
              <a:rPr dirty="0" sz="1500" spc="-20">
                <a:solidFill>
                  <a:srgbClr val="4A5467"/>
                </a:solidFill>
                <a:latin typeface="Calibri"/>
                <a:cs typeface="Calibri"/>
              </a:rPr>
              <a:t> splits</a:t>
            </a:r>
            <a:r>
              <a:rPr dirty="0" sz="1500" spc="-3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4A5467"/>
                </a:solidFill>
                <a:latin typeface="Calibri"/>
                <a:cs typeface="Calibri"/>
              </a:rPr>
              <a:t>an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60">
                <a:solidFill>
                  <a:srgbClr val="4A5467"/>
                </a:solidFill>
                <a:latin typeface="Calibri"/>
                <a:cs typeface="Calibri"/>
              </a:rPr>
              <a:t>array</a:t>
            </a:r>
            <a:r>
              <a:rPr dirty="0" sz="1500" spc="-2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into</a:t>
            </a:r>
            <a:r>
              <a:rPr dirty="0" sz="1500" spc="-30">
                <a:solidFill>
                  <a:srgbClr val="4A5467"/>
                </a:solidFill>
                <a:latin typeface="Calibri"/>
                <a:cs typeface="Calibri"/>
              </a:rPr>
              <a:t> atomic</a:t>
            </a:r>
            <a:r>
              <a:rPr dirty="0" sz="1500" spc="-2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35">
                <a:solidFill>
                  <a:srgbClr val="4A5467"/>
                </a:solidFill>
                <a:latin typeface="Calibri"/>
                <a:cs typeface="Calibri"/>
              </a:rPr>
              <a:t>sub-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units,</a:t>
            </a:r>
            <a:r>
              <a:rPr dirty="0" sz="1500" spc="-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4A5467"/>
                </a:solidFill>
                <a:latin typeface="Calibri"/>
                <a:cs typeface="Calibri"/>
              </a:rPr>
              <a:t>then </a:t>
            </a:r>
            <a:r>
              <a:rPr dirty="0" sz="1500" spc="-80">
                <a:solidFill>
                  <a:srgbClr val="4A5467"/>
                </a:solidFill>
                <a:latin typeface="Calibri"/>
                <a:cs typeface="Calibri"/>
              </a:rPr>
              <a:t>merges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4A5467"/>
                </a:solidFill>
                <a:latin typeface="Calibri"/>
                <a:cs typeface="Calibri"/>
              </a:rPr>
              <a:t>them</a:t>
            </a:r>
            <a:r>
              <a:rPr dirty="0" sz="1500" spc="2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50">
                <a:solidFill>
                  <a:srgbClr val="4A5467"/>
                </a:solidFill>
                <a:latin typeface="Calibri"/>
                <a:cs typeface="Calibri"/>
              </a:rPr>
              <a:t>in</a:t>
            </a:r>
            <a:r>
              <a:rPr dirty="0" sz="1500" spc="2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4A5467"/>
                </a:solidFill>
                <a:latin typeface="Calibri"/>
                <a:cs typeface="Calibri"/>
              </a:rPr>
              <a:t>a</a:t>
            </a:r>
            <a:r>
              <a:rPr dirty="0" sz="1500" spc="-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4A5467"/>
                </a:solidFill>
                <a:latin typeface="Calibri"/>
                <a:cs typeface="Calibri"/>
              </a:rPr>
              <a:t>sorted</a:t>
            </a:r>
            <a:r>
              <a:rPr dirty="0" sz="1500" spc="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4A5467"/>
                </a:solidFill>
                <a:latin typeface="Calibri"/>
                <a:cs typeface="Calibri"/>
              </a:rPr>
              <a:t>sequence,</a:t>
            </a:r>
            <a:r>
              <a:rPr dirty="0" sz="1500" spc="2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4A5467"/>
                </a:solidFill>
                <a:latin typeface="Calibri"/>
                <a:cs typeface="Calibri"/>
              </a:rPr>
              <a:t>ensuring</a:t>
            </a:r>
            <a:r>
              <a:rPr dirty="0" sz="1500" spc="-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4A5467"/>
                </a:solidFill>
                <a:latin typeface="Calibri"/>
                <a:cs typeface="Calibri"/>
              </a:rPr>
              <a:t>a</a:t>
            </a:r>
            <a:r>
              <a:rPr dirty="0" sz="1500" spc="-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4A5467"/>
                </a:solidFill>
                <a:latin typeface="Calibri"/>
                <a:cs typeface="Calibri"/>
              </a:rPr>
              <a:t>predictable</a:t>
            </a:r>
            <a:r>
              <a:rPr dirty="0" sz="1500" spc="-4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O(n</a:t>
            </a:r>
            <a:r>
              <a:rPr dirty="0" sz="1500" spc="2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log</a:t>
            </a:r>
            <a:r>
              <a:rPr dirty="0" sz="1500" spc="-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4A5467"/>
                </a:solidFill>
                <a:latin typeface="Calibri"/>
                <a:cs typeface="Calibri"/>
              </a:rPr>
              <a:t>n) 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scaling.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286500" y="4276725"/>
            <a:ext cx="2686050" cy="28575"/>
          </a:xfrm>
          <a:custGeom>
            <a:avLst/>
            <a:gdLst/>
            <a:ahLst/>
            <a:cxnLst/>
            <a:rect l="l" t="t" r="r" b="b"/>
            <a:pathLst>
              <a:path w="2686050" h="28575">
                <a:moveTo>
                  <a:pt x="2686050" y="0"/>
                </a:moveTo>
                <a:lnTo>
                  <a:pt x="0" y="0"/>
                </a:lnTo>
                <a:lnTo>
                  <a:pt x="0" y="28575"/>
                </a:lnTo>
                <a:lnTo>
                  <a:pt x="2686050" y="28575"/>
                </a:lnTo>
                <a:lnTo>
                  <a:pt x="2686050" y="0"/>
                </a:lnTo>
                <a:close/>
              </a:path>
            </a:pathLst>
          </a:custGeom>
          <a:solidFill>
            <a:srgbClr val="D69D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035800" y="3282950"/>
            <a:ext cx="1190625" cy="8235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600"/>
              </a:lnSpc>
              <a:spcBef>
                <a:spcPts val="100"/>
              </a:spcBef>
            </a:pP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Recursion</a:t>
            </a:r>
            <a:r>
              <a:rPr dirty="0" sz="1350" spc="-3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4A5467"/>
                </a:solidFill>
                <a:latin typeface="Calibri"/>
                <a:cs typeface="Calibri"/>
              </a:rPr>
              <a:t>Depth</a:t>
            </a:r>
            <a:endParaRPr sz="1350">
              <a:latin typeface="Calibri"/>
              <a:cs typeface="Calibri"/>
            </a:endParaRPr>
          </a:p>
          <a:p>
            <a:pPr algn="ctr">
              <a:lnSpc>
                <a:spcPts val="3215"/>
              </a:lnSpc>
            </a:pPr>
            <a:r>
              <a:rPr dirty="0" sz="2700" b="1">
                <a:solidFill>
                  <a:srgbClr val="2D3748"/>
                </a:solidFill>
                <a:latin typeface="Calibri"/>
                <a:cs typeface="Calibri"/>
              </a:rPr>
              <a:t>log</a:t>
            </a:r>
            <a:r>
              <a:rPr dirty="0" sz="2700" spc="-120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2700" spc="35" b="1">
                <a:solidFill>
                  <a:srgbClr val="2D3748"/>
                </a:solidFill>
                <a:latin typeface="Calibri"/>
                <a:cs typeface="Calibri"/>
              </a:rPr>
              <a:t>n</a:t>
            </a:r>
            <a:endParaRPr sz="2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10"/>
              </a:spcBef>
            </a:pPr>
            <a:r>
              <a:rPr dirty="0" sz="1050" spc="-10">
                <a:solidFill>
                  <a:srgbClr val="4A5467"/>
                </a:solidFill>
                <a:latin typeface="Calibri"/>
                <a:cs typeface="Calibri"/>
              </a:rPr>
              <a:t>Tree</a:t>
            </a:r>
            <a:r>
              <a:rPr dirty="0" sz="1050" spc="-5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4A5467"/>
                </a:solidFill>
                <a:latin typeface="Calibri"/>
                <a:cs typeface="Calibri"/>
              </a:rPr>
              <a:t>Height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124950" y="4276725"/>
            <a:ext cx="2686050" cy="28575"/>
          </a:xfrm>
          <a:custGeom>
            <a:avLst/>
            <a:gdLst/>
            <a:ahLst/>
            <a:cxnLst/>
            <a:rect l="l" t="t" r="r" b="b"/>
            <a:pathLst>
              <a:path w="2686050" h="28575">
                <a:moveTo>
                  <a:pt x="2686050" y="0"/>
                </a:moveTo>
                <a:lnTo>
                  <a:pt x="0" y="0"/>
                </a:lnTo>
                <a:lnTo>
                  <a:pt x="0" y="28575"/>
                </a:lnTo>
                <a:lnTo>
                  <a:pt x="2686050" y="28575"/>
                </a:lnTo>
                <a:lnTo>
                  <a:pt x="2686050" y="0"/>
                </a:lnTo>
                <a:close/>
              </a:path>
            </a:pathLst>
          </a:custGeom>
          <a:solidFill>
            <a:srgbClr val="D69D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9917112" y="3282950"/>
            <a:ext cx="1106170" cy="8235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600"/>
              </a:lnSpc>
              <a:spcBef>
                <a:spcPts val="100"/>
              </a:spcBef>
            </a:pP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Work</a:t>
            </a:r>
            <a:r>
              <a:rPr dirty="0" sz="1350" spc="3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A5467"/>
                </a:solidFill>
                <a:latin typeface="Calibri"/>
                <a:cs typeface="Calibri"/>
              </a:rPr>
              <a:t>Per</a:t>
            </a:r>
            <a:r>
              <a:rPr dirty="0" sz="1350" spc="4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A5467"/>
                </a:solidFill>
                <a:latin typeface="Calibri"/>
                <a:cs typeface="Calibri"/>
              </a:rPr>
              <a:t>Level</a:t>
            </a:r>
            <a:endParaRPr sz="1350">
              <a:latin typeface="Calibri"/>
              <a:cs typeface="Calibri"/>
            </a:endParaRPr>
          </a:p>
          <a:p>
            <a:pPr algn="ctr" marR="635">
              <a:lnSpc>
                <a:spcPts val="3215"/>
              </a:lnSpc>
            </a:pPr>
            <a:r>
              <a:rPr dirty="0" sz="2700" spc="35" b="1">
                <a:solidFill>
                  <a:srgbClr val="2D3748"/>
                </a:solidFill>
                <a:latin typeface="Calibri"/>
                <a:cs typeface="Calibri"/>
              </a:rPr>
              <a:t>n</a:t>
            </a:r>
            <a:endParaRPr sz="2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10"/>
              </a:spcBef>
            </a:pPr>
            <a:r>
              <a:rPr dirty="0" sz="1050" spc="-25">
                <a:solidFill>
                  <a:srgbClr val="4A5467"/>
                </a:solidFill>
                <a:latin typeface="Calibri"/>
                <a:cs typeface="Calibri"/>
              </a:rPr>
              <a:t>Merging</a:t>
            </a:r>
            <a:r>
              <a:rPr dirty="0" sz="105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4A5467"/>
                </a:solidFill>
                <a:latin typeface="Calibri"/>
                <a:cs typeface="Calibri"/>
              </a:rPr>
              <a:t>Cost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73800" y="4372228"/>
            <a:ext cx="5539740" cy="1050925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dirty="0" sz="1800" spc="45" b="1">
                <a:solidFill>
                  <a:srgbClr val="2D3748"/>
                </a:solidFill>
                <a:latin typeface="Calibri"/>
                <a:cs typeface="Calibri"/>
              </a:rPr>
              <a:t>Algorithmic</a:t>
            </a:r>
            <a:r>
              <a:rPr dirty="0" sz="1800" spc="-40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D3748"/>
                </a:solidFill>
                <a:latin typeface="Calibri"/>
                <a:cs typeface="Calibri"/>
              </a:rPr>
              <a:t>Stability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16700"/>
              </a:lnSpc>
              <a:spcBef>
                <a:spcPts val="615"/>
              </a:spcBef>
            </a:pPr>
            <a:r>
              <a:rPr dirty="0" sz="1500" spc="-55">
                <a:solidFill>
                  <a:srgbClr val="4A5467"/>
                </a:solidFill>
                <a:latin typeface="Calibri"/>
                <a:cs typeface="Calibri"/>
              </a:rPr>
              <a:t>Merge</a:t>
            </a:r>
            <a:r>
              <a:rPr dirty="0" sz="1500" spc="-6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Sort</a:t>
            </a:r>
            <a:r>
              <a:rPr dirty="0" sz="1500" spc="-3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is</a:t>
            </a:r>
            <a:r>
              <a:rPr dirty="0" sz="1500" spc="-2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4A5467"/>
                </a:solidFill>
                <a:latin typeface="Calibri"/>
                <a:cs typeface="Calibri"/>
              </a:rPr>
              <a:t>a</a:t>
            </a:r>
            <a:r>
              <a:rPr dirty="0" sz="1500" spc="-5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4A5467"/>
                </a:solidFill>
                <a:latin typeface="Calibri"/>
                <a:cs typeface="Calibri"/>
              </a:rPr>
              <a:t>**stable**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4A5467"/>
                </a:solidFill>
                <a:latin typeface="Calibri"/>
                <a:cs typeface="Calibri"/>
              </a:rPr>
              <a:t>algorithm.</a:t>
            </a:r>
            <a:r>
              <a:rPr dirty="0" sz="1500" spc="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It</a:t>
            </a:r>
            <a:r>
              <a:rPr dirty="0" sz="1500" spc="-3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4A5467"/>
                </a:solidFill>
                <a:latin typeface="Calibri"/>
                <a:cs typeface="Calibri"/>
              </a:rPr>
              <a:t>preserves</a:t>
            </a:r>
            <a:r>
              <a:rPr dirty="0" sz="1500" spc="-2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4A5467"/>
                </a:solidFill>
                <a:latin typeface="Calibri"/>
                <a:cs typeface="Calibri"/>
              </a:rPr>
              <a:t>the</a:t>
            </a:r>
            <a:r>
              <a:rPr dirty="0" sz="1500" spc="-5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4A5467"/>
                </a:solidFill>
                <a:latin typeface="Calibri"/>
                <a:cs typeface="Calibri"/>
              </a:rPr>
              <a:t>relative</a:t>
            </a:r>
            <a:r>
              <a:rPr dirty="0" sz="1500" spc="-6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4A5467"/>
                </a:solidFill>
                <a:latin typeface="Calibri"/>
                <a:cs typeface="Calibri"/>
              </a:rPr>
              <a:t>order</a:t>
            </a:r>
            <a:r>
              <a:rPr dirty="0" sz="1500" spc="-6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4A5467"/>
                </a:solidFill>
                <a:latin typeface="Calibri"/>
                <a:cs typeface="Calibri"/>
              </a:rPr>
              <a:t>of</a:t>
            </a:r>
            <a:r>
              <a:rPr dirty="0" sz="150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equal </a:t>
            </a:r>
            <a:r>
              <a:rPr dirty="0" sz="1500" spc="-65">
                <a:solidFill>
                  <a:srgbClr val="4A5467"/>
                </a:solidFill>
                <a:latin typeface="Calibri"/>
                <a:cs typeface="Calibri"/>
              </a:rPr>
              <a:t>elements,</a:t>
            </a:r>
            <a:r>
              <a:rPr dirty="0" sz="1500" spc="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making</a:t>
            </a:r>
            <a:r>
              <a:rPr dirty="0" sz="1500" spc="-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it</a:t>
            </a:r>
            <a:r>
              <a:rPr dirty="0" sz="1500" spc="-2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4A5467"/>
                </a:solidFill>
                <a:latin typeface="Calibri"/>
                <a:cs typeface="Calibri"/>
              </a:rPr>
              <a:t>essential</a:t>
            </a:r>
            <a:r>
              <a:rPr dirty="0" sz="1500" spc="-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4A5467"/>
                </a:solidFill>
                <a:latin typeface="Calibri"/>
                <a:cs typeface="Calibri"/>
              </a:rPr>
              <a:t>for</a:t>
            </a:r>
            <a:r>
              <a:rPr dirty="0" sz="1500" spc="-4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sorting</a:t>
            </a:r>
            <a:r>
              <a:rPr dirty="0" sz="1500" spc="-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multi-</a:t>
            </a:r>
            <a:r>
              <a:rPr dirty="0" sz="1500" spc="-70">
                <a:solidFill>
                  <a:srgbClr val="4A5467"/>
                </a:solidFill>
                <a:latin typeface="Calibri"/>
                <a:cs typeface="Calibri"/>
              </a:rPr>
              <a:t>key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4A5467"/>
                </a:solidFill>
                <a:latin typeface="Calibri"/>
                <a:cs typeface="Calibri"/>
              </a:rPr>
              <a:t>data</a:t>
            </a:r>
            <a:r>
              <a:rPr dirty="0" sz="1500" spc="-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structures.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286500" y="5676901"/>
            <a:ext cx="5524500" cy="1295400"/>
            <a:chOff x="6286500" y="5676901"/>
            <a:chExt cx="5524500" cy="1295400"/>
          </a:xfrm>
        </p:grpSpPr>
        <p:sp>
          <p:nvSpPr>
            <p:cNvPr id="18" name="object 18"/>
            <p:cNvSpPr/>
            <p:nvPr/>
          </p:nvSpPr>
          <p:spPr>
            <a:xfrm>
              <a:off x="6324600" y="5676901"/>
              <a:ext cx="5486400" cy="1295400"/>
            </a:xfrm>
            <a:custGeom>
              <a:avLst/>
              <a:gdLst/>
              <a:ahLst/>
              <a:cxnLst/>
              <a:rect l="l" t="t" r="r" b="b"/>
              <a:pathLst>
                <a:path w="5486400" h="1295400">
                  <a:moveTo>
                    <a:pt x="0" y="1295400"/>
                  </a:moveTo>
                  <a:lnTo>
                    <a:pt x="5486400" y="1295400"/>
                  </a:lnTo>
                  <a:lnTo>
                    <a:pt x="5486400" y="0"/>
                  </a:lnTo>
                  <a:lnTo>
                    <a:pt x="0" y="0"/>
                  </a:lnTo>
                  <a:lnTo>
                    <a:pt x="0" y="1295400"/>
                  </a:lnTo>
                  <a:close/>
                </a:path>
              </a:pathLst>
            </a:custGeom>
            <a:solidFill>
              <a:srgbClr val="D69D2E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286500" y="5676901"/>
              <a:ext cx="38100" cy="1295400"/>
            </a:xfrm>
            <a:custGeom>
              <a:avLst/>
              <a:gdLst/>
              <a:ahLst/>
              <a:cxnLst/>
              <a:rect l="l" t="t" r="r" b="b"/>
              <a:pathLst>
                <a:path w="38100" h="1295400">
                  <a:moveTo>
                    <a:pt x="381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38100" y="12954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D69D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6324600" y="5797551"/>
            <a:ext cx="5486400" cy="907415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227965">
              <a:lnSpc>
                <a:spcPct val="100000"/>
              </a:lnSpc>
              <a:spcBef>
                <a:spcPts val="850"/>
              </a:spcBef>
            </a:pPr>
            <a:r>
              <a:rPr dirty="0" sz="1500" spc="55" b="1">
                <a:solidFill>
                  <a:srgbClr val="2D3748"/>
                </a:solidFill>
                <a:latin typeface="Calibri"/>
                <a:cs typeface="Calibri"/>
              </a:rPr>
              <a:t>Key</a:t>
            </a:r>
            <a:r>
              <a:rPr dirty="0" sz="1500" spc="-30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2D3748"/>
                </a:solidFill>
                <a:latin typeface="Calibri"/>
                <a:cs typeface="Calibri"/>
              </a:rPr>
              <a:t>Insight</a:t>
            </a:r>
            <a:endParaRPr sz="1500">
              <a:latin typeface="Calibri"/>
              <a:cs typeface="Calibri"/>
            </a:endParaRPr>
          </a:p>
          <a:p>
            <a:pPr marL="227965" marR="265430">
              <a:lnSpc>
                <a:spcPct val="129600"/>
              </a:lnSpc>
              <a:spcBef>
                <a:spcPts val="195"/>
              </a:spcBef>
            </a:pP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The</a:t>
            </a:r>
            <a:r>
              <a:rPr dirty="0" sz="1350" spc="-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"Divide"</a:t>
            </a:r>
            <a:r>
              <a:rPr dirty="0" sz="1350" spc="-2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80">
                <a:solidFill>
                  <a:srgbClr val="4A5467"/>
                </a:solidFill>
                <a:latin typeface="Calibri"/>
                <a:cs typeface="Calibri"/>
              </a:rPr>
              <a:t>phase</a:t>
            </a:r>
            <a:r>
              <a:rPr dirty="0" sz="1350" spc="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50">
                <a:solidFill>
                  <a:srgbClr val="4A5467"/>
                </a:solidFill>
                <a:latin typeface="Calibri"/>
                <a:cs typeface="Calibri"/>
              </a:rPr>
              <a:t>takes</a:t>
            </a:r>
            <a:r>
              <a:rPr dirty="0" sz="1350" spc="-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O(1)</a:t>
            </a:r>
            <a:r>
              <a:rPr dirty="0" sz="1350" spc="1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A5467"/>
                </a:solidFill>
                <a:latin typeface="Calibri"/>
                <a:cs typeface="Calibri"/>
              </a:rPr>
              <a:t>per</a:t>
            </a:r>
            <a:r>
              <a:rPr dirty="0" sz="1350" spc="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55">
                <a:solidFill>
                  <a:srgbClr val="4A5467"/>
                </a:solidFill>
                <a:latin typeface="Calibri"/>
                <a:cs typeface="Calibri"/>
              </a:rPr>
              <a:t>step,</a:t>
            </a:r>
            <a:r>
              <a:rPr dirty="0" sz="1350" spc="-2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A5467"/>
                </a:solidFill>
                <a:latin typeface="Calibri"/>
                <a:cs typeface="Calibri"/>
              </a:rPr>
              <a:t>while</a:t>
            </a:r>
            <a:r>
              <a:rPr dirty="0" sz="1350" spc="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35">
                <a:solidFill>
                  <a:srgbClr val="4A5467"/>
                </a:solidFill>
                <a:latin typeface="Calibri"/>
                <a:cs typeface="Calibri"/>
              </a:rPr>
              <a:t>the</a:t>
            </a:r>
            <a:r>
              <a:rPr dirty="0" sz="1350" spc="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40">
                <a:solidFill>
                  <a:srgbClr val="4A5467"/>
                </a:solidFill>
                <a:latin typeface="Calibri"/>
                <a:cs typeface="Calibri"/>
              </a:rPr>
              <a:t>"Merge"</a:t>
            </a:r>
            <a:r>
              <a:rPr dirty="0" sz="1350" spc="-2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80">
                <a:solidFill>
                  <a:srgbClr val="4A5467"/>
                </a:solidFill>
                <a:latin typeface="Calibri"/>
                <a:cs typeface="Calibri"/>
              </a:rPr>
              <a:t>phase</a:t>
            </a:r>
            <a:r>
              <a:rPr dirty="0" sz="1350" spc="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A5467"/>
                </a:solidFill>
                <a:latin typeface="Calibri"/>
                <a:cs typeface="Calibri"/>
              </a:rPr>
              <a:t>performs </a:t>
            </a:r>
            <a:r>
              <a:rPr dirty="0" sz="1350" spc="-35">
                <a:solidFill>
                  <a:srgbClr val="4A5467"/>
                </a:solidFill>
                <a:latin typeface="Calibri"/>
                <a:cs typeface="Calibri"/>
              </a:rPr>
              <a:t>the</a:t>
            </a:r>
            <a:r>
              <a:rPr dirty="0" sz="1350" spc="4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45">
                <a:solidFill>
                  <a:srgbClr val="4A5467"/>
                </a:solidFill>
                <a:latin typeface="Calibri"/>
                <a:cs typeface="Calibri"/>
              </a:rPr>
              <a:t>heavy</a:t>
            </a:r>
            <a:r>
              <a:rPr dirty="0" sz="1350" spc="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lifting</a:t>
            </a:r>
            <a:r>
              <a:rPr dirty="0" sz="135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with</a:t>
            </a:r>
            <a:r>
              <a:rPr dirty="0" sz="135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O(n)</a:t>
            </a:r>
            <a:r>
              <a:rPr dirty="0" sz="1350" spc="4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25">
                <a:solidFill>
                  <a:srgbClr val="4A5467"/>
                </a:solidFill>
                <a:latin typeface="Calibri"/>
                <a:cs typeface="Calibri"/>
              </a:rPr>
              <a:t>complexity</a:t>
            </a:r>
            <a:r>
              <a:rPr dirty="0" sz="1350" spc="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A5467"/>
                </a:solidFill>
                <a:latin typeface="Calibri"/>
                <a:cs typeface="Calibri"/>
              </a:rPr>
              <a:t>per</a:t>
            </a:r>
            <a:r>
              <a:rPr dirty="0" sz="1350" spc="3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A5467"/>
                </a:solidFill>
                <a:latin typeface="Calibri"/>
                <a:cs typeface="Calibri"/>
              </a:rPr>
              <a:t>level.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96100"/>
          </a:xfrm>
          <a:custGeom>
            <a:avLst/>
            <a:gdLst/>
            <a:ahLst/>
            <a:cxnLst/>
            <a:rect l="l" t="t" r="r" b="b"/>
            <a:pathLst>
              <a:path w="12192000" h="6896100">
                <a:moveTo>
                  <a:pt x="12192000" y="0"/>
                </a:moveTo>
                <a:lnTo>
                  <a:pt x="0" y="0"/>
                </a:lnTo>
                <a:lnTo>
                  <a:pt x="0" y="6896100"/>
                </a:lnTo>
                <a:lnTo>
                  <a:pt x="12192000" y="68961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81000" y="838199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914400" y="0"/>
                </a:moveTo>
                <a:lnTo>
                  <a:pt x="0" y="0"/>
                </a:lnTo>
                <a:lnTo>
                  <a:pt x="0" y="38100"/>
                </a:lnTo>
                <a:lnTo>
                  <a:pt x="914400" y="38100"/>
                </a:lnTo>
                <a:lnTo>
                  <a:pt x="914400" y="0"/>
                </a:lnTo>
                <a:close/>
              </a:path>
            </a:pathLst>
          </a:custGeom>
          <a:solidFill>
            <a:srgbClr val="D69D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60">
                <a:latin typeface="Georgia"/>
                <a:cs typeface="Georgia"/>
              </a:rPr>
              <a:t>Best-</a:t>
            </a:r>
            <a:r>
              <a:rPr dirty="0" sz="3000" spc="-70">
                <a:latin typeface="Georgia"/>
                <a:cs typeface="Georgia"/>
              </a:rPr>
              <a:t>Case</a:t>
            </a:r>
            <a:r>
              <a:rPr dirty="0" sz="3000" spc="-120">
                <a:latin typeface="Georgia"/>
                <a:cs typeface="Georgia"/>
              </a:rPr>
              <a:t> </a:t>
            </a:r>
            <a:r>
              <a:rPr dirty="0" sz="3000" spc="-100">
                <a:latin typeface="Georgia"/>
                <a:cs typeface="Georgia"/>
              </a:rPr>
              <a:t>Scenario:</a:t>
            </a:r>
            <a:r>
              <a:rPr dirty="0" sz="3000" spc="5">
                <a:latin typeface="Georgia"/>
                <a:cs typeface="Georgia"/>
              </a:rPr>
              <a:t> </a:t>
            </a:r>
            <a:r>
              <a:rPr dirty="0" sz="3000" spc="-90">
                <a:latin typeface="Georgia"/>
                <a:cs typeface="Georgia"/>
              </a:rPr>
              <a:t>Performance</a:t>
            </a:r>
            <a:r>
              <a:rPr dirty="0" sz="3000" spc="-120">
                <a:latin typeface="Georgia"/>
                <a:cs typeface="Georgia"/>
              </a:rPr>
              <a:t> </a:t>
            </a:r>
            <a:r>
              <a:rPr dirty="0" sz="3000" spc="-70">
                <a:latin typeface="Georgia"/>
                <a:cs typeface="Georgia"/>
              </a:rPr>
              <a:t>on</a:t>
            </a:r>
            <a:r>
              <a:rPr dirty="0" sz="3000" spc="-220">
                <a:latin typeface="Georgia"/>
                <a:cs typeface="Georgia"/>
              </a:rPr>
              <a:t> </a:t>
            </a:r>
            <a:r>
              <a:rPr dirty="0" sz="3000" spc="-70">
                <a:latin typeface="Georgia"/>
                <a:cs typeface="Georgia"/>
              </a:rPr>
              <a:t>Sorted</a:t>
            </a:r>
            <a:r>
              <a:rPr dirty="0" sz="3000" spc="-150">
                <a:latin typeface="Georgia"/>
                <a:cs typeface="Georgia"/>
              </a:rPr>
              <a:t> </a:t>
            </a:r>
            <a:r>
              <a:rPr dirty="0" sz="3000" spc="-20">
                <a:latin typeface="Georgia"/>
                <a:cs typeface="Georgia"/>
              </a:rPr>
              <a:t>Data</a:t>
            </a:r>
            <a:endParaRPr sz="3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97976" y="1577975"/>
            <a:ext cx="32994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0" b="1">
                <a:solidFill>
                  <a:srgbClr val="2D3748"/>
                </a:solidFill>
                <a:latin typeface="Calibri"/>
                <a:cs typeface="Calibri"/>
              </a:rPr>
              <a:t>Best-</a:t>
            </a:r>
            <a:r>
              <a:rPr dirty="0" sz="1800" spc="-10" b="1">
                <a:solidFill>
                  <a:srgbClr val="2D3748"/>
                </a:solidFill>
                <a:latin typeface="Calibri"/>
                <a:cs typeface="Calibri"/>
              </a:rPr>
              <a:t>Case</a:t>
            </a:r>
            <a:r>
              <a:rPr dirty="0" sz="1800" spc="100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D3748"/>
                </a:solidFill>
                <a:latin typeface="Calibri"/>
                <a:cs typeface="Calibri"/>
              </a:rPr>
              <a:t>Complexity</a:t>
            </a:r>
            <a:r>
              <a:rPr dirty="0" sz="1800" spc="125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D3748"/>
                </a:solidFill>
                <a:latin typeface="Calibri"/>
                <a:cs typeface="Calibri"/>
              </a:rPr>
              <a:t>Comparison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2057401"/>
            <a:ext cx="6734174" cy="3619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320632" y="5812496"/>
            <a:ext cx="286067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40" i="1">
                <a:solidFill>
                  <a:srgbClr val="4A5467"/>
                </a:solidFill>
                <a:latin typeface="Calibri"/>
                <a:cs typeface="Calibri"/>
              </a:rPr>
              <a:t>Merge</a:t>
            </a:r>
            <a:r>
              <a:rPr dirty="0" sz="1050" spc="-5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4A5467"/>
                </a:solidFill>
                <a:latin typeface="Calibri"/>
                <a:cs typeface="Calibri"/>
              </a:rPr>
              <a:t>Sort</a:t>
            </a:r>
            <a:r>
              <a:rPr dirty="0" sz="1050" spc="-35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4A5467"/>
                </a:solidFill>
                <a:latin typeface="Calibri"/>
                <a:cs typeface="Calibri"/>
              </a:rPr>
              <a:t>(</a:t>
            </a:r>
            <a:r>
              <a:rPr dirty="0" sz="1050" spc="-10" i="1">
                <a:solidFill>
                  <a:srgbClr val="4A5467"/>
                </a:solidFill>
                <a:latin typeface="Times New Roman"/>
                <a:cs typeface="Times New Roman"/>
              </a:rPr>
              <a:t>Ω</a:t>
            </a:r>
            <a:r>
              <a:rPr dirty="0" sz="1050" spc="-10" i="1">
                <a:solidFill>
                  <a:srgbClr val="4A5467"/>
                </a:solidFill>
                <a:latin typeface="Calibri"/>
                <a:cs typeface="Calibri"/>
              </a:rPr>
              <a:t>(n</a:t>
            </a:r>
            <a:r>
              <a:rPr dirty="0" sz="1050" spc="-40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35" i="1">
                <a:solidFill>
                  <a:srgbClr val="4A5467"/>
                </a:solidFill>
                <a:latin typeface="Calibri"/>
                <a:cs typeface="Calibri"/>
              </a:rPr>
              <a:t>log</a:t>
            </a:r>
            <a:r>
              <a:rPr dirty="0" sz="1050" spc="-50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4A5467"/>
                </a:solidFill>
                <a:latin typeface="Calibri"/>
                <a:cs typeface="Calibri"/>
              </a:rPr>
              <a:t>n))</a:t>
            </a:r>
            <a:r>
              <a:rPr dirty="0" sz="1050" spc="-45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4A5467"/>
                </a:solidFill>
                <a:latin typeface="Calibri"/>
                <a:cs typeface="Calibri"/>
              </a:rPr>
              <a:t>vs.</a:t>
            </a:r>
            <a:r>
              <a:rPr dirty="0" sz="1050" spc="-25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4A5467"/>
                </a:solidFill>
                <a:latin typeface="Calibri"/>
                <a:cs typeface="Calibri"/>
              </a:rPr>
              <a:t>Adaptive</a:t>
            </a:r>
            <a:r>
              <a:rPr dirty="0" sz="1050" spc="-5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4A5467"/>
                </a:solidFill>
                <a:latin typeface="Calibri"/>
                <a:cs typeface="Calibri"/>
              </a:rPr>
              <a:t>Algorithms (</a:t>
            </a:r>
            <a:r>
              <a:rPr dirty="0" sz="1050" spc="-10" i="1">
                <a:solidFill>
                  <a:srgbClr val="4A5467"/>
                </a:solidFill>
                <a:latin typeface="Times New Roman"/>
                <a:cs typeface="Times New Roman"/>
              </a:rPr>
              <a:t>Ω</a:t>
            </a:r>
            <a:r>
              <a:rPr dirty="0" sz="1050" spc="-10" i="1">
                <a:solidFill>
                  <a:srgbClr val="4A5467"/>
                </a:solidFill>
                <a:latin typeface="Calibri"/>
                <a:cs typeface="Calibri"/>
              </a:rPr>
              <a:t>(n))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419975" y="1104899"/>
            <a:ext cx="4391025" cy="1638300"/>
            <a:chOff x="7419975" y="1104899"/>
            <a:chExt cx="4391025" cy="1638300"/>
          </a:xfrm>
        </p:grpSpPr>
        <p:sp>
          <p:nvSpPr>
            <p:cNvPr id="9" name="object 9"/>
            <p:cNvSpPr/>
            <p:nvPr/>
          </p:nvSpPr>
          <p:spPr>
            <a:xfrm>
              <a:off x="7458075" y="1104899"/>
              <a:ext cx="4352925" cy="1638300"/>
            </a:xfrm>
            <a:custGeom>
              <a:avLst/>
              <a:gdLst/>
              <a:ahLst/>
              <a:cxnLst/>
              <a:rect l="l" t="t" r="r" b="b"/>
              <a:pathLst>
                <a:path w="4352925" h="1638300">
                  <a:moveTo>
                    <a:pt x="0" y="1638300"/>
                  </a:moveTo>
                  <a:lnTo>
                    <a:pt x="4352925" y="1638300"/>
                  </a:lnTo>
                  <a:lnTo>
                    <a:pt x="4352925" y="0"/>
                  </a:lnTo>
                  <a:lnTo>
                    <a:pt x="0" y="0"/>
                  </a:lnTo>
                  <a:lnTo>
                    <a:pt x="0" y="1638300"/>
                  </a:lnTo>
                  <a:close/>
                </a:path>
              </a:pathLst>
            </a:custGeom>
            <a:solidFill>
              <a:srgbClr val="D69D2E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419975" y="1104899"/>
              <a:ext cx="38100" cy="1638300"/>
            </a:xfrm>
            <a:custGeom>
              <a:avLst/>
              <a:gdLst/>
              <a:ahLst/>
              <a:cxnLst/>
              <a:rect l="l" t="t" r="r" b="b"/>
              <a:pathLst>
                <a:path w="38100" h="1638300">
                  <a:moveTo>
                    <a:pt x="38100" y="0"/>
                  </a:moveTo>
                  <a:lnTo>
                    <a:pt x="0" y="0"/>
                  </a:lnTo>
                  <a:lnTo>
                    <a:pt x="0" y="1638300"/>
                  </a:lnTo>
                  <a:lnTo>
                    <a:pt x="38100" y="16383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D69D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/>
          <p:nvPr/>
        </p:nvSpPr>
        <p:spPr>
          <a:xfrm>
            <a:off x="7467600" y="34575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4A54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467600" y="38004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4A54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467600" y="41433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4A54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467600" y="44862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4A546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" name="object 15"/>
          <p:cNvGrpSpPr/>
          <p:nvPr/>
        </p:nvGrpSpPr>
        <p:grpSpPr>
          <a:xfrm>
            <a:off x="7419975" y="4876801"/>
            <a:ext cx="4391025" cy="1638300"/>
            <a:chOff x="7419975" y="4876801"/>
            <a:chExt cx="4391025" cy="1638300"/>
          </a:xfrm>
        </p:grpSpPr>
        <p:sp>
          <p:nvSpPr>
            <p:cNvPr id="16" name="object 16"/>
            <p:cNvSpPr/>
            <p:nvPr/>
          </p:nvSpPr>
          <p:spPr>
            <a:xfrm>
              <a:off x="7458075" y="4876801"/>
              <a:ext cx="4352925" cy="1638300"/>
            </a:xfrm>
            <a:custGeom>
              <a:avLst/>
              <a:gdLst/>
              <a:ahLst/>
              <a:cxnLst/>
              <a:rect l="l" t="t" r="r" b="b"/>
              <a:pathLst>
                <a:path w="4352925" h="1638300">
                  <a:moveTo>
                    <a:pt x="0" y="1638300"/>
                  </a:moveTo>
                  <a:lnTo>
                    <a:pt x="4352925" y="1638300"/>
                  </a:lnTo>
                  <a:lnTo>
                    <a:pt x="4352925" y="0"/>
                  </a:lnTo>
                  <a:lnTo>
                    <a:pt x="0" y="0"/>
                  </a:lnTo>
                  <a:lnTo>
                    <a:pt x="0" y="1638300"/>
                  </a:lnTo>
                  <a:close/>
                </a:path>
              </a:pathLst>
            </a:custGeom>
            <a:solidFill>
              <a:srgbClr val="D69D2E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419975" y="4876801"/>
              <a:ext cx="38100" cy="1638300"/>
            </a:xfrm>
            <a:custGeom>
              <a:avLst/>
              <a:gdLst/>
              <a:ahLst/>
              <a:cxnLst/>
              <a:rect l="l" t="t" r="r" b="b"/>
              <a:pathLst>
                <a:path w="38100" h="1638300">
                  <a:moveTo>
                    <a:pt x="38100" y="0"/>
                  </a:moveTo>
                  <a:lnTo>
                    <a:pt x="0" y="0"/>
                  </a:lnTo>
                  <a:lnTo>
                    <a:pt x="0" y="1638300"/>
                  </a:lnTo>
                  <a:lnTo>
                    <a:pt x="38100" y="16383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D69D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7409065" y="1171828"/>
            <a:ext cx="4402455" cy="5089525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marL="279400">
              <a:lnSpc>
                <a:spcPct val="100000"/>
              </a:lnSpc>
              <a:spcBef>
                <a:spcPts val="1195"/>
              </a:spcBef>
            </a:pPr>
            <a:r>
              <a:rPr dirty="0" sz="1800" b="1">
                <a:solidFill>
                  <a:srgbClr val="2D3748"/>
                </a:solidFill>
                <a:latin typeface="Calibri"/>
                <a:cs typeface="Calibri"/>
              </a:rPr>
              <a:t>Input</a:t>
            </a:r>
            <a:r>
              <a:rPr dirty="0" sz="1800" spc="145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D3748"/>
                </a:solidFill>
                <a:latin typeface="Calibri"/>
                <a:cs typeface="Calibri"/>
              </a:rPr>
              <a:t>Condition</a:t>
            </a:r>
            <a:endParaRPr sz="1800">
              <a:latin typeface="Calibri"/>
              <a:cs typeface="Calibri"/>
            </a:endParaRPr>
          </a:p>
          <a:p>
            <a:pPr marL="279400" marR="231775">
              <a:lnSpc>
                <a:spcPct val="116700"/>
              </a:lnSpc>
              <a:spcBef>
                <a:spcPts val="615"/>
              </a:spcBef>
            </a:pP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The</a:t>
            </a:r>
            <a:r>
              <a:rPr dirty="0" sz="1500" spc="-5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90">
                <a:solidFill>
                  <a:srgbClr val="4A5467"/>
                </a:solidFill>
                <a:latin typeface="Calibri"/>
                <a:cs typeface="Calibri"/>
              </a:rPr>
              <a:t>best</a:t>
            </a:r>
            <a:r>
              <a:rPr dirty="0" sz="1500" spc="-2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95">
                <a:solidFill>
                  <a:srgbClr val="4A5467"/>
                </a:solidFill>
                <a:latin typeface="Calibri"/>
                <a:cs typeface="Calibri"/>
              </a:rPr>
              <a:t>case</a:t>
            </a:r>
            <a:r>
              <a:rPr dirty="0" sz="1500" spc="-4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4A5467"/>
                </a:solidFill>
                <a:latin typeface="Calibri"/>
                <a:cs typeface="Calibri"/>
              </a:rPr>
              <a:t>occurs</a:t>
            </a:r>
            <a:r>
              <a:rPr dirty="0" sz="150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4A5467"/>
                </a:solidFill>
                <a:latin typeface="Calibri"/>
                <a:cs typeface="Calibri"/>
              </a:rPr>
              <a:t>when</a:t>
            </a:r>
            <a:r>
              <a:rPr dirty="0" sz="1500" spc="2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4A5467"/>
                </a:solidFill>
                <a:latin typeface="Calibri"/>
                <a:cs typeface="Calibri"/>
              </a:rPr>
              <a:t>the</a:t>
            </a:r>
            <a:r>
              <a:rPr dirty="0" sz="1500" spc="-5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input</a:t>
            </a:r>
            <a:r>
              <a:rPr dirty="0" sz="1500" spc="-2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60">
                <a:solidFill>
                  <a:srgbClr val="4A5467"/>
                </a:solidFill>
                <a:latin typeface="Calibri"/>
                <a:cs typeface="Calibri"/>
              </a:rPr>
              <a:t>array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 is</a:t>
            </a:r>
            <a:r>
              <a:rPr dirty="0" sz="150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35" b="1">
                <a:solidFill>
                  <a:srgbClr val="4A5467"/>
                </a:solidFill>
                <a:latin typeface="Calibri"/>
                <a:cs typeface="Calibri"/>
              </a:rPr>
              <a:t>already </a:t>
            </a:r>
            <a:r>
              <a:rPr dirty="0" sz="1500" b="1">
                <a:solidFill>
                  <a:srgbClr val="4A5467"/>
                </a:solidFill>
                <a:latin typeface="Calibri"/>
                <a:cs typeface="Calibri"/>
              </a:rPr>
              <a:t>sorted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.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30">
                <a:solidFill>
                  <a:srgbClr val="4A5467"/>
                </a:solidFill>
                <a:latin typeface="Calibri"/>
                <a:cs typeface="Calibri"/>
              </a:rPr>
              <a:t>However,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4A5467"/>
                </a:solidFill>
                <a:latin typeface="Calibri"/>
                <a:cs typeface="Calibri"/>
              </a:rPr>
              <a:t>Merge</a:t>
            </a:r>
            <a:r>
              <a:rPr dirty="0" sz="1500" spc="-7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4A5467"/>
                </a:solidFill>
                <a:latin typeface="Calibri"/>
                <a:cs typeface="Calibri"/>
              </a:rPr>
              <a:t>Sort's</a:t>
            </a:r>
            <a:r>
              <a:rPr dirty="0" sz="1500" spc="-3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4A5467"/>
                </a:solidFill>
                <a:latin typeface="Calibri"/>
                <a:cs typeface="Calibri"/>
              </a:rPr>
              <a:t>structure</a:t>
            </a:r>
            <a:r>
              <a:rPr dirty="0" sz="1500" spc="-6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remains rigid.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1500">
              <a:latin typeface="Calibri"/>
              <a:cs typeface="Calibri"/>
            </a:endParaRPr>
          </a:p>
          <a:p>
            <a:pPr marL="241300" marR="1714500" indent="-228600">
              <a:lnSpc>
                <a:spcPct val="148100"/>
              </a:lnSpc>
            </a:pPr>
            <a:r>
              <a:rPr dirty="0" sz="1800" b="1">
                <a:solidFill>
                  <a:srgbClr val="2D3748"/>
                </a:solidFill>
                <a:latin typeface="Calibri"/>
                <a:cs typeface="Calibri"/>
              </a:rPr>
              <a:t>Structural</a:t>
            </a:r>
            <a:r>
              <a:rPr dirty="0" sz="1800" spc="170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D3748"/>
                </a:solidFill>
                <a:latin typeface="Calibri"/>
                <a:cs typeface="Calibri"/>
              </a:rPr>
              <a:t>Consistency </a:t>
            </a:r>
            <a:r>
              <a:rPr dirty="0" sz="1500" spc="-20">
                <a:solidFill>
                  <a:srgbClr val="4A5467"/>
                </a:solidFill>
                <a:latin typeface="Calibri"/>
                <a:cs typeface="Calibri"/>
              </a:rPr>
              <a:t>Recursive</a:t>
            </a:r>
            <a:r>
              <a:rPr dirty="0" sz="1500" spc="-4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splitting</a:t>
            </a:r>
            <a:r>
              <a:rPr dirty="0" sz="1500" spc="-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4A5467"/>
                </a:solidFill>
                <a:latin typeface="Calibri"/>
                <a:cs typeface="Calibri"/>
              </a:rPr>
              <a:t>always</a:t>
            </a:r>
            <a:r>
              <a:rPr dirty="0" sz="1500" spc="-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30">
                <a:solidFill>
                  <a:srgbClr val="4A5467"/>
                </a:solidFill>
                <a:latin typeface="Calibri"/>
                <a:cs typeface="Calibri"/>
              </a:rPr>
              <a:t>occurs 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Merging</a:t>
            </a:r>
            <a:r>
              <a:rPr dirty="0" sz="1500" spc="-4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4A5467"/>
                </a:solidFill>
                <a:latin typeface="Calibri"/>
                <a:cs typeface="Calibri"/>
              </a:rPr>
              <a:t>process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is</a:t>
            </a:r>
            <a:r>
              <a:rPr dirty="0" sz="150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still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 executed 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No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4A5467"/>
                </a:solidFill>
                <a:latin typeface="Calibri"/>
                <a:cs typeface="Calibri"/>
              </a:rPr>
              <a:t>"short-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circuit"</a:t>
            </a:r>
            <a:r>
              <a:rPr dirty="0" sz="1500" spc="1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mechanism </a:t>
            </a:r>
            <a:r>
              <a:rPr dirty="0" sz="1500" spc="-60">
                <a:solidFill>
                  <a:srgbClr val="4A5467"/>
                </a:solidFill>
                <a:latin typeface="Calibri"/>
                <a:cs typeface="Calibri"/>
              </a:rPr>
              <a:t>Guaranteed</a:t>
            </a:r>
            <a:r>
              <a:rPr dirty="0" sz="1500" spc="4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4A5467"/>
                </a:solidFill>
                <a:latin typeface="Times New Roman"/>
                <a:cs typeface="Times New Roman"/>
              </a:rPr>
              <a:t>Ω</a:t>
            </a:r>
            <a:r>
              <a:rPr dirty="0" sz="1500" b="1">
                <a:solidFill>
                  <a:srgbClr val="4A5467"/>
                </a:solidFill>
                <a:latin typeface="Calibri"/>
                <a:cs typeface="Calibri"/>
              </a:rPr>
              <a:t>(n</a:t>
            </a:r>
            <a:r>
              <a:rPr dirty="0" sz="1500" spc="30" b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4A5467"/>
                </a:solidFill>
                <a:latin typeface="Calibri"/>
                <a:cs typeface="Calibri"/>
              </a:rPr>
              <a:t>log</a:t>
            </a:r>
            <a:r>
              <a:rPr dirty="0" sz="1500" spc="-25" b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4A5467"/>
                </a:solidFill>
                <a:latin typeface="Calibri"/>
                <a:cs typeface="Calibri"/>
              </a:rPr>
              <a:t>n)</a:t>
            </a:r>
            <a:r>
              <a:rPr dirty="0" sz="1500" spc="15" b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4A5467"/>
                </a:solidFill>
                <a:latin typeface="Calibri"/>
                <a:cs typeface="Calibri"/>
              </a:rPr>
              <a:t>bound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500">
              <a:latin typeface="Calibri"/>
              <a:cs typeface="Calibri"/>
            </a:endParaRPr>
          </a:p>
          <a:p>
            <a:pPr marL="279400">
              <a:lnSpc>
                <a:spcPct val="100000"/>
              </a:lnSpc>
            </a:pPr>
            <a:r>
              <a:rPr dirty="0" sz="1800" spc="50" b="1">
                <a:solidFill>
                  <a:srgbClr val="2D3748"/>
                </a:solidFill>
                <a:latin typeface="Calibri"/>
                <a:cs typeface="Calibri"/>
              </a:rPr>
              <a:t>Key</a:t>
            </a:r>
            <a:r>
              <a:rPr dirty="0" sz="1800" spc="-25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D3748"/>
                </a:solidFill>
                <a:latin typeface="Calibri"/>
                <a:cs typeface="Calibri"/>
              </a:rPr>
              <a:t>Comparison</a:t>
            </a:r>
            <a:endParaRPr sz="1800">
              <a:latin typeface="Calibri"/>
              <a:cs typeface="Calibri"/>
            </a:endParaRPr>
          </a:p>
          <a:p>
            <a:pPr marL="279400" marR="486409">
              <a:lnSpc>
                <a:spcPct val="116700"/>
              </a:lnSpc>
              <a:spcBef>
                <a:spcPts val="615"/>
              </a:spcBef>
            </a:pP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Unlike</a:t>
            </a:r>
            <a:r>
              <a:rPr dirty="0" sz="1500" spc="-5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Insertion</a:t>
            </a:r>
            <a:r>
              <a:rPr dirty="0" sz="1500" spc="2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Sort,</a:t>
            </a:r>
            <a:r>
              <a:rPr dirty="0" sz="1500" spc="1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which</a:t>
            </a:r>
            <a:r>
              <a:rPr dirty="0" sz="1500" spc="-4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4A5467"/>
                </a:solidFill>
                <a:latin typeface="Calibri"/>
                <a:cs typeface="Calibri"/>
              </a:rPr>
              <a:t>achieves</a:t>
            </a:r>
            <a:r>
              <a:rPr dirty="0" sz="150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4A5467"/>
                </a:solidFill>
                <a:latin typeface="Calibri"/>
                <a:cs typeface="Calibri"/>
              </a:rPr>
              <a:t>O(n)</a:t>
            </a:r>
            <a:r>
              <a:rPr dirty="0" sz="1500" spc="-20" b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35">
                <a:solidFill>
                  <a:srgbClr val="4A5467"/>
                </a:solidFill>
                <a:latin typeface="Calibri"/>
                <a:cs typeface="Calibri"/>
              </a:rPr>
              <a:t>on </a:t>
            </a:r>
            <a:r>
              <a:rPr dirty="0" sz="1500" spc="-75">
                <a:solidFill>
                  <a:srgbClr val="4A5467"/>
                </a:solidFill>
                <a:latin typeface="Calibri"/>
                <a:cs typeface="Calibri"/>
              </a:rPr>
              <a:t>sorted</a:t>
            </a:r>
            <a:r>
              <a:rPr dirty="0" sz="150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4A5467"/>
                </a:solidFill>
                <a:latin typeface="Calibri"/>
                <a:cs typeface="Calibri"/>
              </a:rPr>
              <a:t>data,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4A5467"/>
                </a:solidFill>
                <a:latin typeface="Calibri"/>
                <a:cs typeface="Calibri"/>
              </a:rPr>
              <a:t>Merge</a:t>
            </a:r>
            <a:r>
              <a:rPr dirty="0" sz="1500" spc="-6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Sort</a:t>
            </a:r>
            <a:r>
              <a:rPr dirty="0" sz="1500" spc="-4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maintains</a:t>
            </a:r>
            <a:r>
              <a:rPr dirty="0" sz="1500" spc="-3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its</a:t>
            </a:r>
            <a:r>
              <a:rPr dirty="0" sz="1500" spc="-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logarithmic overhead.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286625"/>
          </a:xfrm>
          <a:custGeom>
            <a:avLst/>
            <a:gdLst/>
            <a:ahLst/>
            <a:cxnLst/>
            <a:rect l="l" t="t" r="r" b="b"/>
            <a:pathLst>
              <a:path w="12192000" h="7286625">
                <a:moveTo>
                  <a:pt x="12192000" y="0"/>
                </a:moveTo>
                <a:lnTo>
                  <a:pt x="0" y="0"/>
                </a:lnTo>
                <a:lnTo>
                  <a:pt x="0" y="7286625"/>
                </a:lnTo>
                <a:lnTo>
                  <a:pt x="12192000" y="72866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81000" y="1000125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914400" y="0"/>
                </a:moveTo>
                <a:lnTo>
                  <a:pt x="0" y="0"/>
                </a:lnTo>
                <a:lnTo>
                  <a:pt x="0" y="38100"/>
                </a:lnTo>
                <a:lnTo>
                  <a:pt x="914400" y="38100"/>
                </a:lnTo>
                <a:lnTo>
                  <a:pt x="914400" y="0"/>
                </a:lnTo>
                <a:close/>
              </a:path>
            </a:pathLst>
          </a:custGeom>
          <a:solidFill>
            <a:srgbClr val="D69D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68300" y="298466"/>
            <a:ext cx="10356850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90"/>
              <a:t>Average-</a:t>
            </a:r>
            <a:r>
              <a:rPr dirty="0" spc="-345"/>
              <a:t>Case</a:t>
            </a:r>
            <a:r>
              <a:rPr dirty="0" spc="-445"/>
              <a:t> </a:t>
            </a:r>
            <a:r>
              <a:rPr dirty="0" spc="-260"/>
              <a:t>Scenario:</a:t>
            </a:r>
            <a:r>
              <a:rPr dirty="0" spc="-220"/>
              <a:t> </a:t>
            </a:r>
            <a:r>
              <a:rPr dirty="0" spc="-235"/>
              <a:t>Predictable</a:t>
            </a:r>
            <a:r>
              <a:rPr dirty="0" spc="-440"/>
              <a:t> </a:t>
            </a:r>
            <a:r>
              <a:rPr dirty="0" spc="-280"/>
              <a:t>Performance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01750" y="2044700"/>
            <a:ext cx="36804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2D3748"/>
                </a:solidFill>
                <a:latin typeface="Calibri"/>
                <a:cs typeface="Calibri"/>
              </a:rPr>
              <a:t>Average-Case</a:t>
            </a:r>
            <a:r>
              <a:rPr dirty="0" sz="1800" spc="100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D3748"/>
                </a:solidFill>
                <a:latin typeface="Calibri"/>
                <a:cs typeface="Calibri"/>
              </a:rPr>
              <a:t>Complexity</a:t>
            </a:r>
            <a:r>
              <a:rPr dirty="0" sz="1800" spc="120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D3748"/>
                </a:solidFill>
                <a:latin typeface="Calibri"/>
                <a:cs typeface="Calibri"/>
              </a:rPr>
              <a:t>Comparison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2524125"/>
            <a:ext cx="5524499" cy="32384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706562" y="5898219"/>
            <a:ext cx="287274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20" i="1">
                <a:solidFill>
                  <a:srgbClr val="4A5467"/>
                </a:solidFill>
                <a:latin typeface="Calibri"/>
                <a:cs typeface="Calibri"/>
              </a:rPr>
              <a:t>Operations</a:t>
            </a:r>
            <a:r>
              <a:rPr dirty="0" sz="1050" spc="-5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4A5467"/>
                </a:solidFill>
                <a:latin typeface="Calibri"/>
                <a:cs typeface="Calibri"/>
              </a:rPr>
              <a:t>comparison</a:t>
            </a:r>
            <a:r>
              <a:rPr dirty="0" sz="1050" spc="-40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4A5467"/>
                </a:solidFill>
                <a:latin typeface="Calibri"/>
                <a:cs typeface="Calibri"/>
              </a:rPr>
              <a:t>for</a:t>
            </a:r>
            <a:r>
              <a:rPr dirty="0" sz="1050" spc="-20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25" i="1">
                <a:solidFill>
                  <a:srgbClr val="4A5467"/>
                </a:solidFill>
                <a:latin typeface="Calibri"/>
                <a:cs typeface="Calibri"/>
              </a:rPr>
              <a:t>random</a:t>
            </a:r>
            <a:r>
              <a:rPr dirty="0" sz="1050" spc="-5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4A5467"/>
                </a:solidFill>
                <a:latin typeface="Calibri"/>
                <a:cs typeface="Calibri"/>
              </a:rPr>
              <a:t>input</a:t>
            </a:r>
            <a:r>
              <a:rPr dirty="0" sz="1050" spc="-25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4A5467"/>
                </a:solidFill>
                <a:latin typeface="Calibri"/>
                <a:cs typeface="Calibri"/>
              </a:rPr>
              <a:t>distributions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286500" y="1266825"/>
            <a:ext cx="5524500" cy="1638300"/>
            <a:chOff x="6286500" y="1266825"/>
            <a:chExt cx="5524500" cy="1638300"/>
          </a:xfrm>
        </p:grpSpPr>
        <p:sp>
          <p:nvSpPr>
            <p:cNvPr id="9" name="object 9"/>
            <p:cNvSpPr/>
            <p:nvPr/>
          </p:nvSpPr>
          <p:spPr>
            <a:xfrm>
              <a:off x="6324600" y="1266825"/>
              <a:ext cx="5486400" cy="1638300"/>
            </a:xfrm>
            <a:custGeom>
              <a:avLst/>
              <a:gdLst/>
              <a:ahLst/>
              <a:cxnLst/>
              <a:rect l="l" t="t" r="r" b="b"/>
              <a:pathLst>
                <a:path w="5486400" h="1638300">
                  <a:moveTo>
                    <a:pt x="0" y="1638300"/>
                  </a:moveTo>
                  <a:lnTo>
                    <a:pt x="5486400" y="1638300"/>
                  </a:lnTo>
                  <a:lnTo>
                    <a:pt x="5486400" y="0"/>
                  </a:lnTo>
                  <a:lnTo>
                    <a:pt x="0" y="0"/>
                  </a:lnTo>
                  <a:lnTo>
                    <a:pt x="0" y="1638300"/>
                  </a:lnTo>
                  <a:close/>
                </a:path>
              </a:pathLst>
            </a:custGeom>
            <a:solidFill>
              <a:srgbClr val="D69D2E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286500" y="1266825"/>
              <a:ext cx="38100" cy="1638300"/>
            </a:xfrm>
            <a:custGeom>
              <a:avLst/>
              <a:gdLst/>
              <a:ahLst/>
              <a:cxnLst/>
              <a:rect l="l" t="t" r="r" b="b"/>
              <a:pathLst>
                <a:path w="38100" h="1638300">
                  <a:moveTo>
                    <a:pt x="38100" y="0"/>
                  </a:moveTo>
                  <a:lnTo>
                    <a:pt x="0" y="0"/>
                  </a:lnTo>
                  <a:lnTo>
                    <a:pt x="0" y="1638300"/>
                  </a:lnTo>
                  <a:lnTo>
                    <a:pt x="38100" y="16383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D69D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6324600" y="1333754"/>
            <a:ext cx="5486400" cy="1317625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marL="227965">
              <a:lnSpc>
                <a:spcPct val="100000"/>
              </a:lnSpc>
              <a:spcBef>
                <a:spcPts val="1195"/>
              </a:spcBef>
            </a:pPr>
            <a:r>
              <a:rPr dirty="0" sz="1800" spc="-10" b="1">
                <a:solidFill>
                  <a:srgbClr val="2D3748"/>
                </a:solidFill>
                <a:latin typeface="Calibri"/>
                <a:cs typeface="Calibri"/>
              </a:rPr>
              <a:t>Mathematical</a:t>
            </a:r>
            <a:r>
              <a:rPr dirty="0" sz="1800" spc="-90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D3748"/>
                </a:solidFill>
                <a:latin typeface="Calibri"/>
                <a:cs typeface="Calibri"/>
              </a:rPr>
              <a:t>Consistency</a:t>
            </a:r>
            <a:endParaRPr sz="1800">
              <a:latin typeface="Calibri"/>
              <a:cs typeface="Calibri"/>
            </a:endParaRPr>
          </a:p>
          <a:p>
            <a:pPr algn="just" marL="227965" marR="298450">
              <a:lnSpc>
                <a:spcPct val="116700"/>
              </a:lnSpc>
              <a:spcBef>
                <a:spcPts val="615"/>
              </a:spcBef>
            </a:pPr>
            <a:r>
              <a:rPr dirty="0" sz="1500" spc="35">
                <a:solidFill>
                  <a:srgbClr val="4A5467"/>
                </a:solidFill>
                <a:latin typeface="Calibri"/>
                <a:cs typeface="Calibri"/>
              </a:rPr>
              <a:t>In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4A5467"/>
                </a:solidFill>
                <a:latin typeface="Calibri"/>
                <a:cs typeface="Calibri"/>
              </a:rPr>
              <a:t>the</a:t>
            </a:r>
            <a:r>
              <a:rPr dirty="0" sz="1500" spc="-70">
                <a:solidFill>
                  <a:srgbClr val="4A5467"/>
                </a:solidFill>
                <a:latin typeface="Calibri"/>
                <a:cs typeface="Calibri"/>
              </a:rPr>
              <a:t> average </a:t>
            </a:r>
            <a:r>
              <a:rPr dirty="0" sz="1500" spc="-85">
                <a:solidFill>
                  <a:srgbClr val="4A5467"/>
                </a:solidFill>
                <a:latin typeface="Calibri"/>
                <a:cs typeface="Calibri"/>
              </a:rPr>
              <a:t>case,</a:t>
            </a:r>
            <a:r>
              <a:rPr dirty="0" sz="150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4A5467"/>
                </a:solidFill>
                <a:latin typeface="Calibri"/>
                <a:cs typeface="Calibri"/>
              </a:rPr>
              <a:t>where</a:t>
            </a:r>
            <a:r>
              <a:rPr dirty="0" sz="1500" spc="-7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4A5467"/>
                </a:solidFill>
                <a:latin typeface="Calibri"/>
                <a:cs typeface="Calibri"/>
              </a:rPr>
              <a:t>data</a:t>
            </a:r>
            <a:r>
              <a:rPr dirty="0" sz="1500" spc="-6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15">
                <a:solidFill>
                  <a:srgbClr val="4A5467"/>
                </a:solidFill>
                <a:latin typeface="Calibri"/>
                <a:cs typeface="Calibri"/>
              </a:rPr>
              <a:t>is</a:t>
            </a:r>
            <a:r>
              <a:rPr dirty="0" sz="1500" spc="-4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4A5467"/>
                </a:solidFill>
                <a:latin typeface="Calibri"/>
                <a:cs typeface="Calibri"/>
              </a:rPr>
              <a:t>randomly</a:t>
            </a:r>
            <a:r>
              <a:rPr dirty="0" sz="1500" spc="-30">
                <a:solidFill>
                  <a:srgbClr val="4A5467"/>
                </a:solidFill>
                <a:latin typeface="Calibri"/>
                <a:cs typeface="Calibri"/>
              </a:rPr>
              <a:t> distributed,</a:t>
            </a:r>
            <a:r>
              <a:rPr dirty="0" sz="150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4A5467"/>
                </a:solidFill>
                <a:latin typeface="Calibri"/>
                <a:cs typeface="Calibri"/>
              </a:rPr>
              <a:t>Merge</a:t>
            </a:r>
            <a:r>
              <a:rPr dirty="0" sz="1500" spc="-7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Sort</a:t>
            </a:r>
            <a:r>
              <a:rPr dirty="0" sz="1500" spc="-3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5">
                <a:solidFill>
                  <a:srgbClr val="4A5467"/>
                </a:solidFill>
                <a:latin typeface="Calibri"/>
                <a:cs typeface="Calibri"/>
              </a:rPr>
              <a:t>maintains</a:t>
            </a:r>
            <a:r>
              <a:rPr dirty="0" sz="1500" spc="-4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4A5467"/>
                </a:solidFill>
                <a:latin typeface="Calibri"/>
                <a:cs typeface="Calibri"/>
              </a:rPr>
              <a:t>a</a:t>
            </a:r>
            <a:r>
              <a:rPr dirty="0" sz="1500" spc="-6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5">
                <a:solidFill>
                  <a:srgbClr val="4A5467"/>
                </a:solidFill>
                <a:latin typeface="Calibri"/>
                <a:cs typeface="Calibri"/>
              </a:rPr>
              <a:t>tight</a:t>
            </a:r>
            <a:r>
              <a:rPr dirty="0" sz="1500" spc="-5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35">
                <a:solidFill>
                  <a:srgbClr val="4A5467"/>
                </a:solidFill>
                <a:latin typeface="Calibri"/>
                <a:cs typeface="Calibri"/>
              </a:rPr>
              <a:t>bound</a:t>
            </a:r>
            <a:r>
              <a:rPr dirty="0" sz="1500" spc="-2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4A5467"/>
                </a:solidFill>
                <a:latin typeface="Calibri"/>
                <a:cs typeface="Calibri"/>
              </a:rPr>
              <a:t>of</a:t>
            </a:r>
            <a:r>
              <a:rPr dirty="0" sz="1500" spc="-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4A5467"/>
                </a:solidFill>
                <a:latin typeface="Calibri"/>
                <a:cs typeface="Calibri"/>
              </a:rPr>
              <a:t>**</a:t>
            </a:r>
            <a:r>
              <a:rPr dirty="0" sz="1500" spc="-40">
                <a:solidFill>
                  <a:srgbClr val="4A5467"/>
                </a:solidFill>
                <a:latin typeface="Times New Roman"/>
                <a:cs typeface="Times New Roman"/>
              </a:rPr>
              <a:t>Θ</a:t>
            </a:r>
            <a:r>
              <a:rPr dirty="0" sz="1500" spc="-40">
                <a:solidFill>
                  <a:srgbClr val="4A5467"/>
                </a:solidFill>
                <a:latin typeface="Calibri"/>
                <a:cs typeface="Calibri"/>
              </a:rPr>
              <a:t>(n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5">
                <a:solidFill>
                  <a:srgbClr val="4A5467"/>
                </a:solidFill>
                <a:latin typeface="Calibri"/>
                <a:cs typeface="Calibri"/>
              </a:rPr>
              <a:t>log</a:t>
            </a:r>
            <a:r>
              <a:rPr dirty="0" sz="1500" spc="-6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4A5467"/>
                </a:solidFill>
                <a:latin typeface="Calibri"/>
                <a:cs typeface="Calibri"/>
              </a:rPr>
              <a:t>n)**</a:t>
            </a:r>
            <a:r>
              <a:rPr dirty="0" sz="150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4A5467"/>
                </a:solidFill>
                <a:latin typeface="Calibri"/>
                <a:cs typeface="Calibri"/>
              </a:rPr>
              <a:t>due</a:t>
            </a:r>
            <a:r>
              <a:rPr dirty="0" sz="1500" spc="-7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4A5467"/>
                </a:solidFill>
                <a:latin typeface="Calibri"/>
                <a:cs typeface="Calibri"/>
              </a:rPr>
              <a:t>to</a:t>
            </a:r>
            <a:r>
              <a:rPr dirty="0" sz="1500" spc="-4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its</a:t>
            </a:r>
            <a:r>
              <a:rPr dirty="0" sz="1500" spc="-40">
                <a:solidFill>
                  <a:srgbClr val="4A5467"/>
                </a:solidFill>
                <a:latin typeface="Calibri"/>
                <a:cs typeface="Calibri"/>
              </a:rPr>
              <a:t> fixed</a:t>
            </a:r>
            <a:r>
              <a:rPr dirty="0" sz="1500" spc="-2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35">
                <a:solidFill>
                  <a:srgbClr val="4A5467"/>
                </a:solidFill>
                <a:latin typeface="Calibri"/>
                <a:cs typeface="Calibri"/>
              </a:rPr>
              <a:t>recursive</a:t>
            </a:r>
            <a:r>
              <a:rPr dirty="0" sz="1500" spc="-6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4A5467"/>
                </a:solidFill>
                <a:latin typeface="Calibri"/>
                <a:cs typeface="Calibri"/>
              </a:rPr>
              <a:t>structure.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286500" y="4162425"/>
            <a:ext cx="2686050" cy="19050"/>
          </a:xfrm>
          <a:custGeom>
            <a:avLst/>
            <a:gdLst/>
            <a:ahLst/>
            <a:cxnLst/>
            <a:rect l="l" t="t" r="r" b="b"/>
            <a:pathLst>
              <a:path w="2686050" h="19050">
                <a:moveTo>
                  <a:pt x="2686050" y="0"/>
                </a:moveTo>
                <a:lnTo>
                  <a:pt x="0" y="0"/>
                </a:lnTo>
                <a:lnTo>
                  <a:pt x="0" y="19050"/>
                </a:lnTo>
                <a:lnTo>
                  <a:pt x="2686050" y="19050"/>
                </a:lnTo>
                <a:lnTo>
                  <a:pt x="2686050" y="0"/>
                </a:lnTo>
                <a:close/>
              </a:path>
            </a:pathLst>
          </a:custGeom>
          <a:solidFill>
            <a:srgbClr val="D69D2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38900" y="3311525"/>
            <a:ext cx="231775" cy="21590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426200" y="3282950"/>
            <a:ext cx="2056764" cy="709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2D3748"/>
                </a:solidFill>
                <a:latin typeface="Calibri"/>
                <a:cs typeface="Calibri"/>
              </a:rPr>
              <a:t>Random</a:t>
            </a:r>
            <a:r>
              <a:rPr dirty="0" sz="1350" spc="-15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350" spc="-20" b="1">
                <a:solidFill>
                  <a:srgbClr val="2D3748"/>
                </a:solidFill>
                <a:latin typeface="Calibri"/>
                <a:cs typeface="Calibri"/>
              </a:rPr>
              <a:t>Data</a:t>
            </a:r>
            <a:endParaRPr sz="1350">
              <a:latin typeface="Calibri"/>
              <a:cs typeface="Calibri"/>
            </a:endParaRPr>
          </a:p>
          <a:p>
            <a:pPr marL="12700" marR="5080">
              <a:lnSpc>
                <a:spcPct val="119000"/>
              </a:lnSpc>
              <a:spcBef>
                <a:spcPts val="765"/>
              </a:spcBef>
            </a:pPr>
            <a:r>
              <a:rPr dirty="0" sz="1050" spc="-25">
                <a:solidFill>
                  <a:srgbClr val="4A5467"/>
                </a:solidFill>
                <a:latin typeface="Calibri"/>
                <a:cs typeface="Calibri"/>
              </a:rPr>
              <a:t>Handles</a:t>
            </a:r>
            <a:r>
              <a:rPr dirty="0" sz="1050" spc="1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4A5467"/>
                </a:solidFill>
                <a:latin typeface="Calibri"/>
                <a:cs typeface="Calibri"/>
              </a:rPr>
              <a:t>arbitrary</a:t>
            </a:r>
            <a:r>
              <a:rPr dirty="0" sz="1050" spc="-10">
                <a:solidFill>
                  <a:srgbClr val="4A5467"/>
                </a:solidFill>
                <a:latin typeface="Calibri"/>
                <a:cs typeface="Calibri"/>
              </a:rPr>
              <a:t> input</a:t>
            </a:r>
            <a:r>
              <a:rPr dirty="0" sz="105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50">
                <a:solidFill>
                  <a:srgbClr val="4A5467"/>
                </a:solidFill>
                <a:latin typeface="Calibri"/>
                <a:cs typeface="Calibri"/>
              </a:rPr>
              <a:t>sequences</a:t>
            </a:r>
            <a:r>
              <a:rPr dirty="0" sz="1050" spc="1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4A5467"/>
                </a:solidFill>
                <a:latin typeface="Calibri"/>
                <a:cs typeface="Calibri"/>
              </a:rPr>
              <a:t>with </a:t>
            </a:r>
            <a:r>
              <a:rPr dirty="0" sz="1050" spc="-10">
                <a:solidFill>
                  <a:srgbClr val="4A5467"/>
                </a:solidFill>
                <a:latin typeface="Calibri"/>
                <a:cs typeface="Calibri"/>
              </a:rPr>
              <a:t>uniform</a:t>
            </a:r>
            <a:r>
              <a:rPr dirty="0" sz="105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4A5467"/>
                </a:solidFill>
                <a:latin typeface="Calibri"/>
                <a:cs typeface="Calibri"/>
              </a:rPr>
              <a:t>efficiency.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124950" y="4162425"/>
            <a:ext cx="2686050" cy="19050"/>
          </a:xfrm>
          <a:custGeom>
            <a:avLst/>
            <a:gdLst/>
            <a:ahLst/>
            <a:cxnLst/>
            <a:rect l="l" t="t" r="r" b="b"/>
            <a:pathLst>
              <a:path w="2686050" h="19050">
                <a:moveTo>
                  <a:pt x="2686050" y="0"/>
                </a:moveTo>
                <a:lnTo>
                  <a:pt x="0" y="0"/>
                </a:lnTo>
                <a:lnTo>
                  <a:pt x="0" y="19050"/>
                </a:lnTo>
                <a:lnTo>
                  <a:pt x="2686050" y="19050"/>
                </a:lnTo>
                <a:lnTo>
                  <a:pt x="2686050" y="0"/>
                </a:lnTo>
                <a:close/>
              </a:path>
            </a:pathLst>
          </a:custGeom>
          <a:solidFill>
            <a:srgbClr val="D69D2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77350" y="3302000"/>
            <a:ext cx="228600" cy="23495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9264650" y="3282950"/>
            <a:ext cx="2331720" cy="709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2D3748"/>
                </a:solidFill>
                <a:latin typeface="Calibri"/>
                <a:cs typeface="Calibri"/>
              </a:rPr>
              <a:t>Fixed</a:t>
            </a:r>
            <a:r>
              <a:rPr dirty="0" sz="1350" spc="55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2D3748"/>
                </a:solidFill>
                <a:latin typeface="Calibri"/>
                <a:cs typeface="Calibri"/>
              </a:rPr>
              <a:t>Depth</a:t>
            </a:r>
            <a:endParaRPr sz="1350">
              <a:latin typeface="Calibri"/>
              <a:cs typeface="Calibri"/>
            </a:endParaRPr>
          </a:p>
          <a:p>
            <a:pPr marL="12700" marR="5080">
              <a:lnSpc>
                <a:spcPct val="119000"/>
              </a:lnSpc>
              <a:spcBef>
                <a:spcPts val="765"/>
              </a:spcBef>
            </a:pPr>
            <a:r>
              <a:rPr dirty="0" sz="1050" spc="-10">
                <a:solidFill>
                  <a:srgbClr val="4A5467"/>
                </a:solidFill>
                <a:latin typeface="Calibri"/>
                <a:cs typeface="Calibri"/>
              </a:rPr>
              <a:t>Recursion</a:t>
            </a:r>
            <a:r>
              <a:rPr dirty="0" sz="1050" spc="-2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45">
                <a:solidFill>
                  <a:srgbClr val="4A5467"/>
                </a:solidFill>
                <a:latin typeface="Calibri"/>
                <a:cs typeface="Calibri"/>
              </a:rPr>
              <a:t>depth</a:t>
            </a:r>
            <a:r>
              <a:rPr dirty="0" sz="1050" spc="-1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4A5467"/>
                </a:solidFill>
                <a:latin typeface="Calibri"/>
                <a:cs typeface="Calibri"/>
              </a:rPr>
              <a:t>remains</a:t>
            </a:r>
            <a:r>
              <a:rPr dirty="0" sz="1050" spc="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4A5467"/>
                </a:solidFill>
                <a:latin typeface="Calibri"/>
                <a:cs typeface="Calibri"/>
              </a:rPr>
              <a:t>log(n) </a:t>
            </a:r>
            <a:r>
              <a:rPr dirty="0" sz="1050" spc="-40">
                <a:solidFill>
                  <a:srgbClr val="4A5467"/>
                </a:solidFill>
                <a:latin typeface="Calibri"/>
                <a:cs typeface="Calibri"/>
              </a:rPr>
              <a:t>regardless</a:t>
            </a:r>
            <a:r>
              <a:rPr dirty="0" sz="1050" spc="2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4A5467"/>
                </a:solidFill>
                <a:latin typeface="Calibri"/>
                <a:cs typeface="Calibri"/>
              </a:rPr>
              <a:t>of </a:t>
            </a:r>
            <a:r>
              <a:rPr dirty="0" sz="1050" spc="-55">
                <a:solidFill>
                  <a:srgbClr val="4A5467"/>
                </a:solidFill>
                <a:latin typeface="Calibri"/>
                <a:cs typeface="Calibri"/>
              </a:rPr>
              <a:t>data</a:t>
            </a:r>
            <a:r>
              <a:rPr dirty="0" sz="1050" spc="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4A5467"/>
                </a:solidFill>
                <a:latin typeface="Calibri"/>
                <a:cs typeface="Calibri"/>
              </a:rPr>
              <a:t>order.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286500" y="5362575"/>
            <a:ext cx="2686050" cy="19050"/>
          </a:xfrm>
          <a:custGeom>
            <a:avLst/>
            <a:gdLst/>
            <a:ahLst/>
            <a:cxnLst/>
            <a:rect l="l" t="t" r="r" b="b"/>
            <a:pathLst>
              <a:path w="2686050" h="19050">
                <a:moveTo>
                  <a:pt x="2686050" y="0"/>
                </a:moveTo>
                <a:lnTo>
                  <a:pt x="0" y="0"/>
                </a:lnTo>
                <a:lnTo>
                  <a:pt x="0" y="19050"/>
                </a:lnTo>
                <a:lnTo>
                  <a:pt x="2686050" y="19050"/>
                </a:lnTo>
                <a:lnTo>
                  <a:pt x="2686050" y="0"/>
                </a:lnTo>
                <a:close/>
              </a:path>
            </a:pathLst>
          </a:custGeom>
          <a:solidFill>
            <a:srgbClr val="D69D2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38900" y="4518025"/>
            <a:ext cx="228600" cy="203200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6426200" y="4483100"/>
            <a:ext cx="2211070" cy="709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>
              <a:lnSpc>
                <a:spcPct val="100000"/>
              </a:lnSpc>
              <a:spcBef>
                <a:spcPts val="100"/>
              </a:spcBef>
            </a:pPr>
            <a:r>
              <a:rPr dirty="0" sz="1350" spc="-10" b="1">
                <a:solidFill>
                  <a:srgbClr val="2D3748"/>
                </a:solidFill>
                <a:latin typeface="Calibri"/>
                <a:cs typeface="Calibri"/>
              </a:rPr>
              <a:t>Scalability</a:t>
            </a:r>
            <a:endParaRPr sz="1350">
              <a:latin typeface="Calibri"/>
              <a:cs typeface="Calibri"/>
            </a:endParaRPr>
          </a:p>
          <a:p>
            <a:pPr marL="12700" marR="5080">
              <a:lnSpc>
                <a:spcPct val="119000"/>
              </a:lnSpc>
              <a:spcBef>
                <a:spcPts val="765"/>
              </a:spcBef>
            </a:pPr>
            <a:r>
              <a:rPr dirty="0" sz="1050" spc="-30">
                <a:solidFill>
                  <a:srgbClr val="4A5467"/>
                </a:solidFill>
                <a:latin typeface="Calibri"/>
                <a:cs typeface="Calibri"/>
              </a:rPr>
              <a:t>Ideal</a:t>
            </a:r>
            <a:r>
              <a:rPr dirty="0" sz="105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4A5467"/>
                </a:solidFill>
                <a:latin typeface="Calibri"/>
                <a:cs typeface="Calibri"/>
              </a:rPr>
              <a:t>for</a:t>
            </a:r>
            <a:r>
              <a:rPr dirty="0" sz="105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35">
                <a:solidFill>
                  <a:srgbClr val="4A5467"/>
                </a:solidFill>
                <a:latin typeface="Calibri"/>
                <a:cs typeface="Calibri"/>
              </a:rPr>
              <a:t>large-</a:t>
            </a:r>
            <a:r>
              <a:rPr dirty="0" sz="1050" spc="-40">
                <a:solidFill>
                  <a:srgbClr val="4A5467"/>
                </a:solidFill>
                <a:latin typeface="Calibri"/>
                <a:cs typeface="Calibri"/>
              </a:rPr>
              <a:t>scale</a:t>
            </a:r>
            <a:r>
              <a:rPr dirty="0" sz="1050" spc="3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55">
                <a:solidFill>
                  <a:srgbClr val="4A5467"/>
                </a:solidFill>
                <a:latin typeface="Calibri"/>
                <a:cs typeface="Calibri"/>
              </a:rPr>
              <a:t>datasets</a:t>
            </a:r>
            <a:r>
              <a:rPr dirty="0" sz="1050" spc="2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4A5467"/>
                </a:solidFill>
                <a:latin typeface="Calibri"/>
                <a:cs typeface="Calibri"/>
              </a:rPr>
              <a:t>in</a:t>
            </a:r>
            <a:r>
              <a:rPr dirty="0" sz="105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4A5467"/>
                </a:solidFill>
                <a:latin typeface="Calibri"/>
                <a:cs typeface="Calibri"/>
              </a:rPr>
              <a:t>production environments.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124950" y="5362575"/>
            <a:ext cx="2686050" cy="19050"/>
          </a:xfrm>
          <a:custGeom>
            <a:avLst/>
            <a:gdLst/>
            <a:ahLst/>
            <a:cxnLst/>
            <a:rect l="l" t="t" r="r" b="b"/>
            <a:pathLst>
              <a:path w="2686050" h="19050">
                <a:moveTo>
                  <a:pt x="2686050" y="0"/>
                </a:moveTo>
                <a:lnTo>
                  <a:pt x="0" y="0"/>
                </a:lnTo>
                <a:lnTo>
                  <a:pt x="0" y="19050"/>
                </a:lnTo>
                <a:lnTo>
                  <a:pt x="2686050" y="19050"/>
                </a:lnTo>
                <a:lnTo>
                  <a:pt x="2686050" y="0"/>
                </a:lnTo>
                <a:close/>
              </a:path>
            </a:pathLst>
          </a:custGeom>
          <a:solidFill>
            <a:srgbClr val="D69D2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283700" y="4502150"/>
            <a:ext cx="215900" cy="231775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9264650" y="4483100"/>
            <a:ext cx="2395220" cy="709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>
              <a:lnSpc>
                <a:spcPct val="100000"/>
              </a:lnSpc>
              <a:spcBef>
                <a:spcPts val="100"/>
              </a:spcBef>
            </a:pPr>
            <a:r>
              <a:rPr dirty="0" sz="1350" spc="-10" b="1">
                <a:solidFill>
                  <a:srgbClr val="2D3748"/>
                </a:solidFill>
                <a:latin typeface="Calibri"/>
                <a:cs typeface="Calibri"/>
              </a:rPr>
              <a:t>Reliability</a:t>
            </a:r>
            <a:endParaRPr sz="1350">
              <a:latin typeface="Calibri"/>
              <a:cs typeface="Calibri"/>
            </a:endParaRPr>
          </a:p>
          <a:p>
            <a:pPr marL="12700" marR="5080">
              <a:lnSpc>
                <a:spcPct val="119000"/>
              </a:lnSpc>
              <a:spcBef>
                <a:spcPts val="765"/>
              </a:spcBef>
            </a:pPr>
            <a:r>
              <a:rPr dirty="0" sz="1050" spc="-35">
                <a:solidFill>
                  <a:srgbClr val="4A5467"/>
                </a:solidFill>
                <a:latin typeface="Calibri"/>
                <a:cs typeface="Calibri"/>
              </a:rPr>
              <a:t>Performance</a:t>
            </a:r>
            <a:r>
              <a:rPr dirty="0" sz="1050" spc="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50">
                <a:solidFill>
                  <a:srgbClr val="4A5467"/>
                </a:solidFill>
                <a:latin typeface="Calibri"/>
                <a:cs typeface="Calibri"/>
              </a:rPr>
              <a:t>does</a:t>
            </a:r>
            <a:r>
              <a:rPr dirty="0" sz="1050" spc="1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30">
                <a:solidFill>
                  <a:srgbClr val="4A5467"/>
                </a:solidFill>
                <a:latin typeface="Calibri"/>
                <a:cs typeface="Calibri"/>
              </a:rPr>
              <a:t>not</a:t>
            </a:r>
            <a:r>
              <a:rPr dirty="0" sz="1050" spc="-2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55">
                <a:solidFill>
                  <a:srgbClr val="4A5467"/>
                </a:solidFill>
                <a:latin typeface="Calibri"/>
                <a:cs typeface="Calibri"/>
              </a:rPr>
              <a:t>degrade</a:t>
            </a:r>
            <a:r>
              <a:rPr dirty="0" sz="1050" spc="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4A5467"/>
                </a:solidFill>
                <a:latin typeface="Calibri"/>
                <a:cs typeface="Calibri"/>
              </a:rPr>
              <a:t>with</a:t>
            </a:r>
            <a:r>
              <a:rPr dirty="0" sz="105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4A5467"/>
                </a:solidFill>
                <a:latin typeface="Calibri"/>
                <a:cs typeface="Calibri"/>
              </a:rPr>
              <a:t>"unlucky" pivots.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286500" y="5610223"/>
            <a:ext cx="5524500" cy="1295400"/>
            <a:chOff x="6286500" y="5610223"/>
            <a:chExt cx="5524500" cy="1295400"/>
          </a:xfrm>
        </p:grpSpPr>
        <p:sp>
          <p:nvSpPr>
            <p:cNvPr id="25" name="object 25"/>
            <p:cNvSpPr/>
            <p:nvPr/>
          </p:nvSpPr>
          <p:spPr>
            <a:xfrm>
              <a:off x="6324600" y="5610223"/>
              <a:ext cx="5486400" cy="1295400"/>
            </a:xfrm>
            <a:custGeom>
              <a:avLst/>
              <a:gdLst/>
              <a:ahLst/>
              <a:cxnLst/>
              <a:rect l="l" t="t" r="r" b="b"/>
              <a:pathLst>
                <a:path w="5486400" h="1295400">
                  <a:moveTo>
                    <a:pt x="0" y="1295400"/>
                  </a:moveTo>
                  <a:lnTo>
                    <a:pt x="5486400" y="1295400"/>
                  </a:lnTo>
                  <a:lnTo>
                    <a:pt x="5486400" y="0"/>
                  </a:lnTo>
                  <a:lnTo>
                    <a:pt x="0" y="0"/>
                  </a:lnTo>
                  <a:lnTo>
                    <a:pt x="0" y="1295400"/>
                  </a:lnTo>
                  <a:close/>
                </a:path>
              </a:pathLst>
            </a:custGeom>
            <a:solidFill>
              <a:srgbClr val="D69D2E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286500" y="5610223"/>
              <a:ext cx="38100" cy="1295400"/>
            </a:xfrm>
            <a:custGeom>
              <a:avLst/>
              <a:gdLst/>
              <a:ahLst/>
              <a:cxnLst/>
              <a:rect l="l" t="t" r="r" b="b"/>
              <a:pathLst>
                <a:path w="38100" h="1295400">
                  <a:moveTo>
                    <a:pt x="381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38100" y="12954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D69D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6324600" y="5730873"/>
            <a:ext cx="5486400" cy="907415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227965">
              <a:lnSpc>
                <a:spcPct val="100000"/>
              </a:lnSpc>
              <a:spcBef>
                <a:spcPts val="850"/>
              </a:spcBef>
            </a:pPr>
            <a:r>
              <a:rPr dirty="0" sz="1500" b="1">
                <a:solidFill>
                  <a:srgbClr val="2D3748"/>
                </a:solidFill>
                <a:latin typeface="Calibri"/>
                <a:cs typeface="Calibri"/>
              </a:rPr>
              <a:t>Strategic</a:t>
            </a:r>
            <a:r>
              <a:rPr dirty="0" sz="1500" spc="-20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2D3748"/>
                </a:solidFill>
                <a:latin typeface="Calibri"/>
                <a:cs typeface="Calibri"/>
              </a:rPr>
              <a:t>Implication</a:t>
            </a:r>
            <a:endParaRPr sz="1500">
              <a:latin typeface="Calibri"/>
              <a:cs typeface="Calibri"/>
            </a:endParaRPr>
          </a:p>
          <a:p>
            <a:pPr marL="227965" marR="219710">
              <a:lnSpc>
                <a:spcPct val="129600"/>
              </a:lnSpc>
              <a:spcBef>
                <a:spcPts val="195"/>
              </a:spcBef>
            </a:pPr>
            <a:r>
              <a:rPr dirty="0" sz="1350" spc="-20">
                <a:solidFill>
                  <a:srgbClr val="4A5467"/>
                </a:solidFill>
                <a:latin typeface="Calibri"/>
                <a:cs typeface="Calibri"/>
              </a:rPr>
              <a:t>Merge</a:t>
            </a:r>
            <a:r>
              <a:rPr dirty="0" sz="1350" spc="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4A5467"/>
                </a:solidFill>
                <a:latin typeface="Calibri"/>
                <a:cs typeface="Calibri"/>
              </a:rPr>
              <a:t>Sort's</a:t>
            </a:r>
            <a:r>
              <a:rPr dirty="0" sz="1350" spc="-2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40">
                <a:solidFill>
                  <a:srgbClr val="4A5467"/>
                </a:solidFill>
                <a:latin typeface="Calibri"/>
                <a:cs typeface="Calibri"/>
              </a:rPr>
              <a:t>average-</a:t>
            </a:r>
            <a:r>
              <a:rPr dirty="0" sz="1350" spc="-95">
                <a:solidFill>
                  <a:srgbClr val="4A5467"/>
                </a:solidFill>
                <a:latin typeface="Calibri"/>
                <a:cs typeface="Calibri"/>
              </a:rPr>
              <a:t>case</a:t>
            </a:r>
            <a:r>
              <a:rPr dirty="0" sz="1350" spc="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35">
                <a:solidFill>
                  <a:srgbClr val="4A5467"/>
                </a:solidFill>
                <a:latin typeface="Calibri"/>
                <a:cs typeface="Calibri"/>
              </a:rPr>
              <a:t>performance</a:t>
            </a:r>
            <a:r>
              <a:rPr dirty="0" sz="1350" spc="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is</a:t>
            </a:r>
            <a:r>
              <a:rPr dirty="0" sz="1350" spc="-25">
                <a:solidFill>
                  <a:srgbClr val="4A5467"/>
                </a:solidFill>
                <a:latin typeface="Calibri"/>
                <a:cs typeface="Calibri"/>
              </a:rPr>
              <a:t> identical</a:t>
            </a:r>
            <a:r>
              <a:rPr dirty="0" sz="1350" spc="-3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to</a:t>
            </a:r>
            <a:r>
              <a:rPr dirty="0" sz="1350" spc="-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its</a:t>
            </a:r>
            <a:r>
              <a:rPr dirty="0" sz="1350" spc="-2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worst-</a:t>
            </a:r>
            <a:r>
              <a:rPr dirty="0" sz="1350" spc="-10">
                <a:solidFill>
                  <a:srgbClr val="4A5467"/>
                </a:solidFill>
                <a:latin typeface="Calibri"/>
                <a:cs typeface="Calibri"/>
              </a:rPr>
              <a:t>case, 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providing</a:t>
            </a:r>
            <a:r>
              <a:rPr dirty="0" sz="1350" spc="-4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105">
                <a:solidFill>
                  <a:srgbClr val="4A5467"/>
                </a:solidFill>
                <a:latin typeface="Calibri"/>
                <a:cs typeface="Calibri"/>
              </a:rPr>
              <a:t>a</a:t>
            </a:r>
            <a:r>
              <a:rPr dirty="0" sz="1350" spc="-4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25">
                <a:solidFill>
                  <a:srgbClr val="4A5467"/>
                </a:solidFill>
                <a:latin typeface="Calibri"/>
                <a:cs typeface="Calibri"/>
              </a:rPr>
              <a:t>level</a:t>
            </a:r>
            <a:r>
              <a:rPr dirty="0" sz="1350" spc="-4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4A5467"/>
                </a:solidFill>
                <a:latin typeface="Calibri"/>
                <a:cs typeface="Calibri"/>
              </a:rPr>
              <a:t>of</a:t>
            </a:r>
            <a:r>
              <a:rPr dirty="0" sz="1350" spc="-4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A5467"/>
                </a:solidFill>
                <a:latin typeface="Calibri"/>
                <a:cs typeface="Calibri"/>
              </a:rPr>
              <a:t>determinism</a:t>
            </a:r>
            <a:r>
              <a:rPr dirty="0" sz="135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45">
                <a:solidFill>
                  <a:srgbClr val="4A5467"/>
                </a:solidFill>
                <a:latin typeface="Calibri"/>
                <a:cs typeface="Calibri"/>
              </a:rPr>
              <a:t>that</a:t>
            </a:r>
            <a:r>
              <a:rPr dirty="0" sz="1350" spc="2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is</a:t>
            </a:r>
            <a:r>
              <a:rPr dirty="0" sz="1350" spc="-3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A5467"/>
                </a:solidFill>
                <a:latin typeface="Calibri"/>
                <a:cs typeface="Calibri"/>
              </a:rPr>
              <a:t>highly </a:t>
            </a:r>
            <a:r>
              <a:rPr dirty="0" sz="1350" spc="-40">
                <a:solidFill>
                  <a:srgbClr val="4A5467"/>
                </a:solidFill>
                <a:latin typeface="Calibri"/>
                <a:cs typeface="Calibri"/>
              </a:rPr>
              <a:t>valued</a:t>
            </a:r>
            <a:r>
              <a:rPr dirty="0" sz="1350" spc="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in</a:t>
            </a:r>
            <a:r>
              <a:rPr dirty="0" sz="1350" spc="2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25">
                <a:solidFill>
                  <a:srgbClr val="4A5467"/>
                </a:solidFill>
                <a:latin typeface="Calibri"/>
                <a:cs typeface="Calibri"/>
              </a:rPr>
              <a:t>real-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time</a:t>
            </a:r>
            <a:r>
              <a:rPr dirty="0" sz="1350" spc="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A5467"/>
                </a:solidFill>
                <a:latin typeface="Calibri"/>
                <a:cs typeface="Calibri"/>
              </a:rPr>
              <a:t>systems.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12192000" cy="6991350"/>
          </a:xfrm>
          <a:custGeom>
            <a:avLst/>
            <a:gdLst/>
            <a:ahLst/>
            <a:cxnLst/>
            <a:rect l="l" t="t" r="r" b="b"/>
            <a:pathLst>
              <a:path w="12192000" h="6991350">
                <a:moveTo>
                  <a:pt x="12192000" y="0"/>
                </a:moveTo>
                <a:lnTo>
                  <a:pt x="0" y="0"/>
                </a:lnTo>
                <a:lnTo>
                  <a:pt x="0" y="6991350"/>
                </a:lnTo>
                <a:lnTo>
                  <a:pt x="12192000" y="699135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81000" y="1504949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914400" y="0"/>
                </a:moveTo>
                <a:lnTo>
                  <a:pt x="0" y="0"/>
                </a:lnTo>
                <a:lnTo>
                  <a:pt x="0" y="38100"/>
                </a:lnTo>
                <a:lnTo>
                  <a:pt x="914400" y="38100"/>
                </a:lnTo>
                <a:lnTo>
                  <a:pt x="914400" y="0"/>
                </a:lnTo>
                <a:close/>
              </a:path>
            </a:pathLst>
          </a:custGeom>
          <a:solidFill>
            <a:srgbClr val="D69D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68300" y="298465"/>
            <a:ext cx="9985375" cy="1139825"/>
          </a:xfrm>
          <a:prstGeom prst="rect"/>
        </p:spPr>
        <p:txBody>
          <a:bodyPr wrap="square" lIns="0" tIns="116205" rIns="0" bIns="0" rtlCol="0" vert="horz">
            <a:spAutoFit/>
          </a:bodyPr>
          <a:lstStyle/>
          <a:p>
            <a:pPr marL="12700" marR="5080">
              <a:lnSpc>
                <a:spcPts val="3979"/>
              </a:lnSpc>
              <a:spcBef>
                <a:spcPts val="915"/>
              </a:spcBef>
            </a:pPr>
            <a:r>
              <a:rPr dirty="0" spc="-640">
                <a:latin typeface="Georgia"/>
                <a:cs typeface="Georgia"/>
              </a:rPr>
              <a:t>W</a:t>
            </a:r>
            <a:r>
              <a:rPr dirty="0" spc="-50">
                <a:latin typeface="Georgia"/>
                <a:cs typeface="Georgia"/>
              </a:rPr>
              <a:t>o</a:t>
            </a:r>
            <a:r>
              <a:rPr dirty="0" spc="-140">
                <a:latin typeface="Georgia"/>
                <a:cs typeface="Georgia"/>
              </a:rPr>
              <a:t>r</a:t>
            </a:r>
            <a:r>
              <a:rPr dirty="0" spc="-15">
                <a:latin typeface="Georgia"/>
                <a:cs typeface="Georgia"/>
              </a:rPr>
              <a:t>s</a:t>
            </a:r>
            <a:r>
              <a:rPr dirty="0" spc="-130">
                <a:latin typeface="Georgia"/>
                <a:cs typeface="Georgia"/>
              </a:rPr>
              <a:t>t</a:t>
            </a:r>
            <a:r>
              <a:rPr dirty="0" spc="85">
                <a:latin typeface="Georgia"/>
                <a:cs typeface="Georgia"/>
              </a:rPr>
              <a:t>-</a:t>
            </a:r>
            <a:r>
              <a:rPr dirty="0" spc="-100">
                <a:latin typeface="Georgia"/>
                <a:cs typeface="Georgia"/>
              </a:rPr>
              <a:t>Case</a:t>
            </a:r>
            <a:r>
              <a:rPr dirty="0" spc="-165">
                <a:latin typeface="Georgia"/>
                <a:cs typeface="Georgia"/>
              </a:rPr>
              <a:t> </a:t>
            </a:r>
            <a:r>
              <a:rPr dirty="0" spc="-130">
                <a:latin typeface="Georgia"/>
                <a:cs typeface="Georgia"/>
              </a:rPr>
              <a:t>Scenario:</a:t>
            </a:r>
            <a:r>
              <a:rPr dirty="0" spc="60">
                <a:latin typeface="Georgia"/>
                <a:cs typeface="Georgia"/>
              </a:rPr>
              <a:t> </a:t>
            </a:r>
            <a:r>
              <a:rPr dirty="0" spc="-145">
                <a:latin typeface="Georgia"/>
                <a:cs typeface="Georgia"/>
              </a:rPr>
              <a:t>Guaranteed</a:t>
            </a:r>
            <a:r>
              <a:rPr dirty="0" spc="-225">
                <a:latin typeface="Georgia"/>
                <a:cs typeface="Georgia"/>
              </a:rPr>
              <a:t> </a:t>
            </a:r>
            <a:r>
              <a:rPr dirty="0" spc="-95">
                <a:latin typeface="Georgia"/>
                <a:cs typeface="Georgia"/>
              </a:rPr>
              <a:t>Performance </a:t>
            </a:r>
            <a:r>
              <a:rPr dirty="0" spc="-10">
                <a:latin typeface="Georgia"/>
                <a:cs typeface="Georgia"/>
              </a:rPr>
              <a:t>Bounds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54162" y="1901824"/>
            <a:ext cx="31807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45" b="1">
                <a:solidFill>
                  <a:srgbClr val="2D3748"/>
                </a:solidFill>
                <a:latin typeface="Calibri"/>
                <a:cs typeface="Calibri"/>
              </a:rPr>
              <a:t>Algorithmic</a:t>
            </a:r>
            <a:r>
              <a:rPr dirty="0" sz="1800" spc="-40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D3748"/>
                </a:solidFill>
                <a:latin typeface="Calibri"/>
                <a:cs typeface="Calibri"/>
              </a:rPr>
              <a:t>Performance</a:t>
            </a:r>
            <a:r>
              <a:rPr dirty="0" sz="1800" spc="-35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D3748"/>
                </a:solidFill>
                <a:latin typeface="Calibri"/>
                <a:cs typeface="Calibri"/>
              </a:rPr>
              <a:t>Matrix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947737" y="2757487"/>
          <a:ext cx="4371975" cy="3046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43125"/>
                <a:gridCol w="2143125"/>
              </a:tblGrid>
              <a:tr h="1523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200" spc="-10" b="1">
                          <a:solidFill>
                            <a:srgbClr val="4A5467"/>
                          </a:solidFill>
                          <a:latin typeface="Calibri"/>
                          <a:cs typeface="Calibri"/>
                        </a:rPr>
                        <a:t>Merge</a:t>
                      </a:r>
                      <a:r>
                        <a:rPr dirty="0" sz="1200" spc="-45" b="1">
                          <a:solidFill>
                            <a:srgbClr val="4A546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 b="1">
                          <a:solidFill>
                            <a:srgbClr val="4A5467"/>
                          </a:solidFill>
                          <a:latin typeface="Calibri"/>
                          <a:cs typeface="Calibri"/>
                        </a:rPr>
                        <a:t>Sort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900" spc="-20">
                          <a:solidFill>
                            <a:srgbClr val="2D3748"/>
                          </a:solidFill>
                          <a:latin typeface="Calibri"/>
                          <a:cs typeface="Calibri"/>
                        </a:rPr>
                        <a:t>Stable</a:t>
                      </a:r>
                      <a:r>
                        <a:rPr dirty="0" sz="900" spc="20">
                          <a:solidFill>
                            <a:srgbClr val="2D374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D3748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900" spc="40">
                          <a:solidFill>
                            <a:srgbClr val="2D374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D3748"/>
                          </a:solidFill>
                          <a:latin typeface="Calibri"/>
                          <a:cs typeface="Calibri"/>
                        </a:rPr>
                        <a:t>O(n</a:t>
                      </a:r>
                      <a:r>
                        <a:rPr dirty="0" sz="900" spc="-5">
                          <a:solidFill>
                            <a:srgbClr val="2D374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D3748"/>
                          </a:solidFill>
                          <a:latin typeface="Calibri"/>
                          <a:cs typeface="Calibri"/>
                        </a:rPr>
                        <a:t>log</a:t>
                      </a:r>
                      <a:r>
                        <a:rPr dirty="0" sz="900" spc="60">
                          <a:solidFill>
                            <a:srgbClr val="2D374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solidFill>
                            <a:srgbClr val="2D3748"/>
                          </a:solidFill>
                          <a:latin typeface="Calibri"/>
                          <a:cs typeface="Calibri"/>
                        </a:rPr>
                        <a:t>n)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33350">
                    <a:lnL w="9525">
                      <a:solidFill>
                        <a:srgbClr val="4A5467"/>
                      </a:solidFill>
                      <a:prstDash val="solid"/>
                    </a:lnL>
                    <a:lnR w="9525">
                      <a:solidFill>
                        <a:srgbClr val="4A5467"/>
                      </a:solidFill>
                      <a:prstDash val="solid"/>
                    </a:lnR>
                    <a:lnT w="9525">
                      <a:solidFill>
                        <a:srgbClr val="4A5467"/>
                      </a:solidFill>
                      <a:prstDash val="solid"/>
                    </a:lnT>
                    <a:lnB w="9525">
                      <a:solidFill>
                        <a:srgbClr val="4A546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200" b="1">
                          <a:solidFill>
                            <a:srgbClr val="4A5467"/>
                          </a:solidFill>
                          <a:latin typeface="Calibri"/>
                          <a:cs typeface="Calibri"/>
                        </a:rPr>
                        <a:t>Heap</a:t>
                      </a:r>
                      <a:r>
                        <a:rPr dirty="0" sz="1200" spc="-50" b="1">
                          <a:solidFill>
                            <a:srgbClr val="4A546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 b="1">
                          <a:solidFill>
                            <a:srgbClr val="4A5467"/>
                          </a:solidFill>
                          <a:latin typeface="Calibri"/>
                          <a:cs typeface="Calibri"/>
                        </a:rPr>
                        <a:t>Sort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900" spc="-30">
                          <a:solidFill>
                            <a:srgbClr val="2D3748"/>
                          </a:solidFill>
                          <a:latin typeface="Calibri"/>
                          <a:cs typeface="Calibri"/>
                        </a:rPr>
                        <a:t>Unstable</a:t>
                      </a:r>
                      <a:r>
                        <a:rPr dirty="0" sz="900" spc="25">
                          <a:solidFill>
                            <a:srgbClr val="2D374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D3748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900" spc="45">
                          <a:solidFill>
                            <a:srgbClr val="2D374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D3748"/>
                          </a:solidFill>
                          <a:latin typeface="Calibri"/>
                          <a:cs typeface="Calibri"/>
                        </a:rPr>
                        <a:t>O(n log</a:t>
                      </a:r>
                      <a:r>
                        <a:rPr dirty="0" sz="900" spc="65">
                          <a:solidFill>
                            <a:srgbClr val="2D374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solidFill>
                            <a:srgbClr val="2D3748"/>
                          </a:solidFill>
                          <a:latin typeface="Calibri"/>
                          <a:cs typeface="Calibri"/>
                        </a:rPr>
                        <a:t>n)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33350">
                    <a:lnL w="9525">
                      <a:solidFill>
                        <a:srgbClr val="4A5467"/>
                      </a:solidFill>
                      <a:prstDash val="solid"/>
                    </a:lnL>
                    <a:lnR w="9525">
                      <a:solidFill>
                        <a:srgbClr val="4A5467"/>
                      </a:solidFill>
                      <a:prstDash val="solid"/>
                    </a:lnR>
                    <a:lnT w="9525">
                      <a:solidFill>
                        <a:srgbClr val="4A5467"/>
                      </a:solidFill>
                      <a:prstDash val="solid"/>
                    </a:lnT>
                    <a:lnB w="9525">
                      <a:solidFill>
                        <a:srgbClr val="4A546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3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200" b="1">
                          <a:solidFill>
                            <a:srgbClr val="4A5467"/>
                          </a:solidFill>
                          <a:latin typeface="Calibri"/>
                          <a:cs typeface="Calibri"/>
                        </a:rPr>
                        <a:t>Insertion</a:t>
                      </a:r>
                      <a:r>
                        <a:rPr dirty="0" sz="1200" spc="75" b="1">
                          <a:solidFill>
                            <a:srgbClr val="4A546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 b="1">
                          <a:solidFill>
                            <a:srgbClr val="4A5467"/>
                          </a:solidFill>
                          <a:latin typeface="Calibri"/>
                          <a:cs typeface="Calibri"/>
                        </a:rPr>
                        <a:t>Sort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900" spc="-20">
                          <a:solidFill>
                            <a:srgbClr val="2D3748"/>
                          </a:solidFill>
                          <a:latin typeface="Calibri"/>
                          <a:cs typeface="Calibri"/>
                        </a:rPr>
                        <a:t>Stable</a:t>
                      </a:r>
                      <a:r>
                        <a:rPr dirty="0" sz="900" spc="-5">
                          <a:solidFill>
                            <a:srgbClr val="2D374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D3748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900" spc="15">
                          <a:solidFill>
                            <a:srgbClr val="2D374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D3748"/>
                          </a:solidFill>
                          <a:latin typeface="Calibri"/>
                          <a:cs typeface="Calibri"/>
                        </a:rPr>
                        <a:t>O(n²)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33350">
                    <a:lnL w="9525">
                      <a:solidFill>
                        <a:srgbClr val="4A5467"/>
                      </a:solidFill>
                      <a:prstDash val="solid"/>
                    </a:lnL>
                    <a:lnR w="9525">
                      <a:solidFill>
                        <a:srgbClr val="4A5467"/>
                      </a:solidFill>
                      <a:prstDash val="solid"/>
                    </a:lnR>
                    <a:lnT w="9525">
                      <a:solidFill>
                        <a:srgbClr val="4A5467"/>
                      </a:solidFill>
                      <a:prstDash val="solid"/>
                    </a:lnT>
                    <a:lnB w="9525">
                      <a:solidFill>
                        <a:srgbClr val="4A546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200" b="1">
                          <a:solidFill>
                            <a:srgbClr val="4A5467"/>
                          </a:solidFill>
                          <a:latin typeface="Calibri"/>
                          <a:cs typeface="Calibri"/>
                        </a:rPr>
                        <a:t>Quick</a:t>
                      </a:r>
                      <a:r>
                        <a:rPr dirty="0" sz="1200" spc="220" b="1">
                          <a:solidFill>
                            <a:srgbClr val="4A546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 b="1">
                          <a:solidFill>
                            <a:srgbClr val="4A5467"/>
                          </a:solidFill>
                          <a:latin typeface="Calibri"/>
                          <a:cs typeface="Calibri"/>
                        </a:rPr>
                        <a:t>Sort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900" spc="-30">
                          <a:solidFill>
                            <a:srgbClr val="2D3748"/>
                          </a:solidFill>
                          <a:latin typeface="Calibri"/>
                          <a:cs typeface="Calibri"/>
                        </a:rPr>
                        <a:t>Unstable</a:t>
                      </a:r>
                      <a:r>
                        <a:rPr dirty="0" sz="900" spc="5">
                          <a:solidFill>
                            <a:srgbClr val="2D374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D3748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900" spc="25">
                          <a:solidFill>
                            <a:srgbClr val="2D374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D3748"/>
                          </a:solidFill>
                          <a:latin typeface="Calibri"/>
                          <a:cs typeface="Calibri"/>
                        </a:rPr>
                        <a:t>O(n²)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33350">
                    <a:lnL w="9525">
                      <a:solidFill>
                        <a:srgbClr val="4A5467"/>
                      </a:solidFill>
                      <a:prstDash val="solid"/>
                    </a:lnL>
                    <a:lnR w="9525">
                      <a:solidFill>
                        <a:srgbClr val="4A5467"/>
                      </a:solidFill>
                      <a:prstDash val="solid"/>
                    </a:lnR>
                    <a:lnT w="9525">
                      <a:solidFill>
                        <a:srgbClr val="4A5467"/>
                      </a:solidFill>
                      <a:prstDash val="solid"/>
                    </a:lnT>
                    <a:lnB w="9525">
                      <a:solidFill>
                        <a:srgbClr val="4A546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2612" y="3467099"/>
            <a:ext cx="342900" cy="2667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95737" y="3467099"/>
            <a:ext cx="342900" cy="2667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71662" y="4991099"/>
            <a:ext cx="304800" cy="2667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49712" y="4965699"/>
            <a:ext cx="234950" cy="31115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32221" y="3380821"/>
            <a:ext cx="198755" cy="1809114"/>
          </a:xfrm>
          <a:prstGeom prst="rect">
            <a:avLst/>
          </a:prstGeom>
        </p:spPr>
        <p:txBody>
          <a:bodyPr wrap="square" lIns="0" tIns="571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050" b="1">
                <a:latin typeface="Calibri"/>
                <a:cs typeface="Calibri"/>
              </a:rPr>
              <a:t>Worst-Case</a:t>
            </a:r>
            <a:r>
              <a:rPr dirty="0" sz="1050" spc="-10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(O(n log</a:t>
            </a:r>
            <a:r>
              <a:rPr dirty="0" sz="1050" spc="55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n)</a:t>
            </a:r>
            <a:r>
              <a:rPr dirty="0" sz="1050" spc="5" b="1">
                <a:latin typeface="Calibri"/>
                <a:cs typeface="Calibri"/>
              </a:rPr>
              <a:t> </a:t>
            </a:r>
            <a:r>
              <a:rPr dirty="0" sz="1050" spc="-555" b="1">
                <a:latin typeface="Calibri"/>
                <a:cs typeface="Calibri"/>
              </a:rPr>
              <a:t>↑</a:t>
            </a:r>
            <a:r>
              <a:rPr dirty="0" sz="1050" spc="-10" b="1">
                <a:latin typeface="Calibri"/>
                <a:cs typeface="Calibri"/>
              </a:rPr>
              <a:t> O(n²)</a:t>
            </a:r>
            <a:r>
              <a:rPr dirty="0" sz="1050" spc="5" b="1">
                <a:latin typeface="Calibri"/>
                <a:cs typeface="Calibri"/>
              </a:rPr>
              <a:t> </a:t>
            </a:r>
            <a:r>
              <a:rPr dirty="0" sz="1050" spc="-325" b="1">
                <a:latin typeface="Calibri"/>
                <a:cs typeface="Calibri"/>
              </a:rPr>
              <a:t>↓)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82775" y="5907305"/>
            <a:ext cx="2523490" cy="534035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298450">
              <a:lnSpc>
                <a:spcPct val="100000"/>
              </a:lnSpc>
              <a:spcBef>
                <a:spcPts val="810"/>
              </a:spcBef>
            </a:pPr>
            <a:r>
              <a:rPr dirty="0" sz="1050" spc="20" b="1">
                <a:latin typeface="Calibri"/>
                <a:cs typeface="Calibri"/>
              </a:rPr>
              <a:t>Stability</a:t>
            </a:r>
            <a:r>
              <a:rPr dirty="0" sz="1050" spc="-25" b="1">
                <a:latin typeface="Calibri"/>
                <a:cs typeface="Calibri"/>
              </a:rPr>
              <a:t> </a:t>
            </a:r>
            <a:r>
              <a:rPr dirty="0" sz="1050" spc="10" b="1">
                <a:latin typeface="Calibri"/>
                <a:cs typeface="Calibri"/>
              </a:rPr>
              <a:t>(Stable</a:t>
            </a:r>
            <a:r>
              <a:rPr dirty="0" sz="1050" spc="-15" b="1">
                <a:latin typeface="Calibri"/>
                <a:cs typeface="Calibri"/>
              </a:rPr>
              <a:t> </a:t>
            </a:r>
            <a:r>
              <a:rPr dirty="0" sz="1050" spc="20" b="1">
                <a:latin typeface="Times New Roman"/>
                <a:cs typeface="Times New Roman"/>
              </a:rPr>
              <a:t>←</a:t>
            </a:r>
            <a:r>
              <a:rPr dirty="0" sz="1050" spc="-5" b="1">
                <a:latin typeface="Times New Roman"/>
                <a:cs typeface="Times New Roman"/>
              </a:rPr>
              <a:t> </a:t>
            </a:r>
            <a:r>
              <a:rPr dirty="0" sz="1050" spc="20" b="1">
                <a:latin typeface="Times New Roman"/>
                <a:cs typeface="Times New Roman"/>
              </a:rPr>
              <a:t>→</a:t>
            </a:r>
            <a:r>
              <a:rPr dirty="0" sz="1050" spc="-10" b="1">
                <a:latin typeface="Times New Roman"/>
                <a:cs typeface="Times New Roman"/>
              </a:rPr>
              <a:t> </a:t>
            </a:r>
            <a:r>
              <a:rPr dirty="0" sz="1050" spc="-10" b="1">
                <a:latin typeface="Calibri"/>
                <a:cs typeface="Calibri"/>
              </a:rPr>
              <a:t>Unstable)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1050" spc="-10" i="1">
                <a:solidFill>
                  <a:srgbClr val="4A5467"/>
                </a:solidFill>
                <a:latin typeface="Calibri"/>
                <a:cs typeface="Calibri"/>
              </a:rPr>
              <a:t>Comparing</a:t>
            </a:r>
            <a:r>
              <a:rPr dirty="0" sz="1050" spc="-35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4A5467"/>
                </a:solidFill>
                <a:latin typeface="Calibri"/>
                <a:cs typeface="Calibri"/>
              </a:rPr>
              <a:t>Worst-Case</a:t>
            </a:r>
            <a:r>
              <a:rPr dirty="0" sz="1050" spc="15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4A5467"/>
                </a:solidFill>
                <a:latin typeface="Calibri"/>
                <a:cs typeface="Calibri"/>
              </a:rPr>
              <a:t>Complexity</a:t>
            </a:r>
            <a:r>
              <a:rPr dirty="0" sz="1050" spc="-15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4A5467"/>
                </a:solidFill>
                <a:latin typeface="Calibri"/>
                <a:cs typeface="Calibri"/>
              </a:rPr>
              <a:t>vs.</a:t>
            </a:r>
            <a:r>
              <a:rPr dirty="0" sz="1050" spc="-10" i="1">
                <a:solidFill>
                  <a:srgbClr val="4A5467"/>
                </a:solidFill>
                <a:latin typeface="Calibri"/>
                <a:cs typeface="Calibri"/>
              </a:rPr>
              <a:t> Stability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286500" y="1771649"/>
            <a:ext cx="5524500" cy="1638300"/>
            <a:chOff x="6286500" y="1771649"/>
            <a:chExt cx="5524500" cy="1638300"/>
          </a:xfrm>
        </p:grpSpPr>
        <p:sp>
          <p:nvSpPr>
            <p:cNvPr id="14" name="object 14"/>
            <p:cNvSpPr/>
            <p:nvPr/>
          </p:nvSpPr>
          <p:spPr>
            <a:xfrm>
              <a:off x="6324600" y="1771649"/>
              <a:ext cx="5486400" cy="1638300"/>
            </a:xfrm>
            <a:custGeom>
              <a:avLst/>
              <a:gdLst/>
              <a:ahLst/>
              <a:cxnLst/>
              <a:rect l="l" t="t" r="r" b="b"/>
              <a:pathLst>
                <a:path w="5486400" h="1638300">
                  <a:moveTo>
                    <a:pt x="0" y="1638300"/>
                  </a:moveTo>
                  <a:lnTo>
                    <a:pt x="5486400" y="1638300"/>
                  </a:lnTo>
                  <a:lnTo>
                    <a:pt x="5486400" y="0"/>
                  </a:lnTo>
                  <a:lnTo>
                    <a:pt x="0" y="0"/>
                  </a:lnTo>
                  <a:lnTo>
                    <a:pt x="0" y="1638300"/>
                  </a:lnTo>
                  <a:close/>
                </a:path>
              </a:pathLst>
            </a:custGeom>
            <a:solidFill>
              <a:srgbClr val="D69D2E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286500" y="1771649"/>
              <a:ext cx="38100" cy="1638300"/>
            </a:xfrm>
            <a:custGeom>
              <a:avLst/>
              <a:gdLst/>
              <a:ahLst/>
              <a:cxnLst/>
              <a:rect l="l" t="t" r="r" b="b"/>
              <a:pathLst>
                <a:path w="38100" h="1638300">
                  <a:moveTo>
                    <a:pt x="38100" y="0"/>
                  </a:moveTo>
                  <a:lnTo>
                    <a:pt x="0" y="0"/>
                  </a:lnTo>
                  <a:lnTo>
                    <a:pt x="0" y="1638300"/>
                  </a:lnTo>
                  <a:lnTo>
                    <a:pt x="38100" y="16383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D69D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6324600" y="1838578"/>
            <a:ext cx="5486400" cy="1317625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marL="227965">
              <a:lnSpc>
                <a:spcPct val="100000"/>
              </a:lnSpc>
              <a:spcBef>
                <a:spcPts val="1195"/>
              </a:spcBef>
            </a:pPr>
            <a:r>
              <a:rPr dirty="0" sz="1800" spc="80" b="1">
                <a:solidFill>
                  <a:srgbClr val="2D3748"/>
                </a:solidFill>
                <a:latin typeface="Calibri"/>
                <a:cs typeface="Calibri"/>
              </a:rPr>
              <a:t>The</a:t>
            </a:r>
            <a:r>
              <a:rPr dirty="0" sz="1800" spc="-50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D3748"/>
                </a:solidFill>
                <a:latin typeface="Calibri"/>
                <a:cs typeface="Calibri"/>
              </a:rPr>
              <a:t>O(n</a:t>
            </a:r>
            <a:r>
              <a:rPr dirty="0" sz="1800" spc="-10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D3748"/>
                </a:solidFill>
                <a:latin typeface="Calibri"/>
                <a:cs typeface="Calibri"/>
              </a:rPr>
              <a:t>log</a:t>
            </a:r>
            <a:r>
              <a:rPr dirty="0" sz="1800" spc="-45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D3748"/>
                </a:solidFill>
                <a:latin typeface="Calibri"/>
                <a:cs typeface="Calibri"/>
              </a:rPr>
              <a:t>n)</a:t>
            </a:r>
            <a:r>
              <a:rPr dirty="0" sz="1800" spc="-5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D3748"/>
                </a:solidFill>
                <a:latin typeface="Calibri"/>
                <a:cs typeface="Calibri"/>
              </a:rPr>
              <a:t>Guarantee</a:t>
            </a:r>
            <a:endParaRPr sz="1800">
              <a:latin typeface="Calibri"/>
              <a:cs typeface="Calibri"/>
            </a:endParaRPr>
          </a:p>
          <a:p>
            <a:pPr marL="227965" marR="404495">
              <a:lnSpc>
                <a:spcPct val="116700"/>
              </a:lnSpc>
              <a:spcBef>
                <a:spcPts val="615"/>
              </a:spcBef>
            </a:pP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Unlike</a:t>
            </a:r>
            <a:r>
              <a:rPr dirty="0" sz="1500" spc="-5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Quick 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Sort,</a:t>
            </a:r>
            <a:r>
              <a:rPr dirty="0" sz="1500" spc="1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which</a:t>
            </a:r>
            <a:r>
              <a:rPr dirty="0" sz="1500" spc="-5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4A5467"/>
                </a:solidFill>
                <a:latin typeface="Calibri"/>
                <a:cs typeface="Calibri"/>
              </a:rPr>
              <a:t>can</a:t>
            </a:r>
            <a:r>
              <a:rPr dirty="0" sz="1500" spc="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4A5467"/>
                </a:solidFill>
                <a:latin typeface="Calibri"/>
                <a:cs typeface="Calibri"/>
              </a:rPr>
              <a:t>degrade</a:t>
            </a:r>
            <a:r>
              <a:rPr dirty="0" sz="1500" spc="-5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60">
                <a:solidFill>
                  <a:srgbClr val="4A5467"/>
                </a:solidFill>
                <a:latin typeface="Calibri"/>
                <a:cs typeface="Calibri"/>
              </a:rPr>
              <a:t>to</a:t>
            </a:r>
            <a:r>
              <a:rPr dirty="0" sz="1500" spc="-2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O(n²)</a:t>
            </a:r>
            <a:r>
              <a:rPr dirty="0" sz="1500" spc="-4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on</a:t>
            </a:r>
            <a:r>
              <a:rPr dirty="0" sz="1500" spc="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adversarial inputs,</a:t>
            </a:r>
            <a:r>
              <a:rPr dirty="0" sz="1500" spc="-2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4A5467"/>
                </a:solidFill>
                <a:latin typeface="Calibri"/>
                <a:cs typeface="Calibri"/>
              </a:rPr>
              <a:t>Merge</a:t>
            </a:r>
            <a:r>
              <a:rPr dirty="0" sz="1500" spc="-7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Sort</a:t>
            </a:r>
            <a:r>
              <a:rPr dirty="0" sz="1500" spc="-5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maintains</a:t>
            </a:r>
            <a:r>
              <a:rPr dirty="0" sz="1500" spc="-4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4A5467"/>
                </a:solidFill>
                <a:latin typeface="Calibri"/>
                <a:cs typeface="Calibri"/>
              </a:rPr>
              <a:t>a</a:t>
            </a:r>
            <a:r>
              <a:rPr dirty="0" sz="1500" spc="-6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4A5467"/>
                </a:solidFill>
                <a:latin typeface="Calibri"/>
                <a:cs typeface="Calibri"/>
              </a:rPr>
              <a:t>strict</a:t>
            </a:r>
            <a:r>
              <a:rPr dirty="0" sz="1500" spc="-5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4A5467"/>
                </a:solidFill>
                <a:latin typeface="Calibri"/>
                <a:cs typeface="Calibri"/>
              </a:rPr>
              <a:t>**O(n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 log</a:t>
            </a:r>
            <a:r>
              <a:rPr dirty="0" sz="1500" spc="-6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4A5467"/>
                </a:solidFill>
                <a:latin typeface="Calibri"/>
                <a:cs typeface="Calibri"/>
              </a:rPr>
              <a:t>n)**</a:t>
            </a:r>
            <a:r>
              <a:rPr dirty="0" sz="1500" spc="-2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4A5467"/>
                </a:solidFill>
                <a:latin typeface="Calibri"/>
                <a:cs typeface="Calibri"/>
              </a:rPr>
              <a:t>upper</a:t>
            </a:r>
            <a:r>
              <a:rPr dirty="0" sz="1500" spc="-7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bound </a:t>
            </a:r>
            <a:r>
              <a:rPr dirty="0" sz="1500" spc="-65">
                <a:solidFill>
                  <a:srgbClr val="4A5467"/>
                </a:solidFill>
                <a:latin typeface="Calibri"/>
                <a:cs typeface="Calibri"/>
              </a:rPr>
              <a:t>regardless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4A5467"/>
                </a:solidFill>
                <a:latin typeface="Calibri"/>
                <a:cs typeface="Calibri"/>
              </a:rPr>
              <a:t>of</a:t>
            </a:r>
            <a:r>
              <a:rPr dirty="0" sz="1500" spc="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initial</a:t>
            </a:r>
            <a:r>
              <a:rPr dirty="0" sz="1500" spc="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4A5467"/>
                </a:solidFill>
                <a:latin typeface="Calibri"/>
                <a:cs typeface="Calibri"/>
              </a:rPr>
              <a:t>data</a:t>
            </a:r>
            <a:r>
              <a:rPr dirty="0" sz="1500" spc="-2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distribution.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88100" y="3673475"/>
            <a:ext cx="2289175" cy="770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dirty="0" sz="1350" spc="-10" b="1">
                <a:solidFill>
                  <a:srgbClr val="2D3748"/>
                </a:solidFill>
                <a:latin typeface="Calibri"/>
                <a:cs typeface="Calibri"/>
              </a:rPr>
              <a:t>Predictability</a:t>
            </a:r>
            <a:endParaRPr sz="1350">
              <a:latin typeface="Calibri"/>
              <a:cs typeface="Calibri"/>
            </a:endParaRPr>
          </a:p>
          <a:p>
            <a:pPr marL="12700" marR="5080">
              <a:lnSpc>
                <a:spcPct val="125000"/>
              </a:lnSpc>
              <a:spcBef>
                <a:spcPts val="645"/>
              </a:spcBef>
            </a:pPr>
            <a:r>
              <a:rPr dirty="0" sz="1200" spc="-20">
                <a:solidFill>
                  <a:srgbClr val="4A5467"/>
                </a:solidFill>
                <a:latin typeface="Calibri"/>
                <a:cs typeface="Calibri"/>
              </a:rPr>
              <a:t>Execution</a:t>
            </a:r>
            <a:r>
              <a:rPr dirty="0" sz="1200" spc="-5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time</a:t>
            </a:r>
            <a:r>
              <a:rPr dirty="0" sz="120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is</a:t>
            </a:r>
            <a:r>
              <a:rPr dirty="0" sz="1200" spc="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highly</a:t>
            </a:r>
            <a:r>
              <a:rPr dirty="0" sz="1200" spc="-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consistent,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making</a:t>
            </a:r>
            <a:r>
              <a:rPr dirty="0" sz="1200" spc="-4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it</a:t>
            </a:r>
            <a:r>
              <a:rPr dirty="0" sz="1200" spc="-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ideal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for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 real-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time</a:t>
            </a:r>
            <a:r>
              <a:rPr dirty="0" sz="1200" spc="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4A5467"/>
                </a:solidFill>
                <a:latin typeface="Calibri"/>
                <a:cs typeface="Calibri"/>
              </a:rPr>
              <a:t>systems.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226550" y="3673475"/>
            <a:ext cx="2350135" cy="998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dirty="0" sz="1350" spc="-10" b="1">
                <a:solidFill>
                  <a:srgbClr val="2D3748"/>
                </a:solidFill>
                <a:latin typeface="Calibri"/>
                <a:cs typeface="Calibri"/>
              </a:rPr>
              <a:t>Security</a:t>
            </a:r>
            <a:endParaRPr sz="1350">
              <a:latin typeface="Calibri"/>
              <a:cs typeface="Calibri"/>
            </a:endParaRPr>
          </a:p>
          <a:p>
            <a:pPr marL="12700" marR="5080">
              <a:lnSpc>
                <a:spcPct val="125000"/>
              </a:lnSpc>
              <a:spcBef>
                <a:spcPts val="645"/>
              </a:spcBef>
            </a:pPr>
            <a:r>
              <a:rPr dirty="0" sz="1200" spc="-25">
                <a:solidFill>
                  <a:srgbClr val="4A5467"/>
                </a:solidFill>
                <a:latin typeface="Calibri"/>
                <a:cs typeface="Calibri"/>
              </a:rPr>
              <a:t>Protects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4A5467"/>
                </a:solidFill>
                <a:latin typeface="Calibri"/>
                <a:cs typeface="Calibri"/>
              </a:rPr>
              <a:t>against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 "Algorithmic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Complexity</a:t>
            </a:r>
            <a:r>
              <a:rPr dirty="0" sz="1200" spc="-5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Attacks"</a:t>
            </a:r>
            <a:r>
              <a:rPr dirty="0" sz="1200" spc="-6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4A5467"/>
                </a:solidFill>
                <a:latin typeface="Calibri"/>
                <a:cs typeface="Calibri"/>
              </a:rPr>
              <a:t>that</a:t>
            </a:r>
            <a:r>
              <a:rPr dirty="0" sz="1200" spc="-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exploit</a:t>
            </a:r>
            <a:r>
              <a:rPr dirty="0" sz="1200" spc="-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4A5467"/>
                </a:solidFill>
                <a:latin typeface="Calibri"/>
                <a:cs typeface="Calibri"/>
              </a:rPr>
              <a:t>O(n²) 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weaknesses.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286500" y="4972052"/>
            <a:ext cx="5524500" cy="1638300"/>
            <a:chOff x="6286500" y="4972052"/>
            <a:chExt cx="5524500" cy="1638300"/>
          </a:xfrm>
        </p:grpSpPr>
        <p:sp>
          <p:nvSpPr>
            <p:cNvPr id="20" name="object 20"/>
            <p:cNvSpPr/>
            <p:nvPr/>
          </p:nvSpPr>
          <p:spPr>
            <a:xfrm>
              <a:off x="6324600" y="4972052"/>
              <a:ext cx="5486400" cy="1638300"/>
            </a:xfrm>
            <a:custGeom>
              <a:avLst/>
              <a:gdLst/>
              <a:ahLst/>
              <a:cxnLst/>
              <a:rect l="l" t="t" r="r" b="b"/>
              <a:pathLst>
                <a:path w="5486400" h="1638300">
                  <a:moveTo>
                    <a:pt x="0" y="1638300"/>
                  </a:moveTo>
                  <a:lnTo>
                    <a:pt x="5486400" y="1638300"/>
                  </a:lnTo>
                  <a:lnTo>
                    <a:pt x="5486400" y="0"/>
                  </a:lnTo>
                  <a:lnTo>
                    <a:pt x="0" y="0"/>
                  </a:lnTo>
                  <a:lnTo>
                    <a:pt x="0" y="1638300"/>
                  </a:lnTo>
                  <a:close/>
                </a:path>
              </a:pathLst>
            </a:custGeom>
            <a:solidFill>
              <a:srgbClr val="D69D2E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286500" y="4972052"/>
              <a:ext cx="38100" cy="1638300"/>
            </a:xfrm>
            <a:custGeom>
              <a:avLst/>
              <a:gdLst/>
              <a:ahLst/>
              <a:cxnLst/>
              <a:rect l="l" t="t" r="r" b="b"/>
              <a:pathLst>
                <a:path w="38100" h="1638300">
                  <a:moveTo>
                    <a:pt x="38100" y="0"/>
                  </a:moveTo>
                  <a:lnTo>
                    <a:pt x="0" y="0"/>
                  </a:lnTo>
                  <a:lnTo>
                    <a:pt x="0" y="1638300"/>
                  </a:lnTo>
                  <a:lnTo>
                    <a:pt x="38100" y="16383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D69D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610350" y="5610224"/>
              <a:ext cx="57150" cy="666750"/>
            </a:xfrm>
            <a:custGeom>
              <a:avLst/>
              <a:gdLst/>
              <a:ahLst/>
              <a:cxnLst/>
              <a:rect l="l" t="t" r="r" b="b"/>
              <a:pathLst>
                <a:path w="57150" h="666750">
                  <a:moveTo>
                    <a:pt x="57150" y="634390"/>
                  </a:moveTo>
                  <a:lnTo>
                    <a:pt x="32346" y="609600"/>
                  </a:lnTo>
                  <a:lnTo>
                    <a:pt x="24790" y="609600"/>
                  </a:lnTo>
                  <a:lnTo>
                    <a:pt x="0" y="634390"/>
                  </a:lnTo>
                  <a:lnTo>
                    <a:pt x="0" y="641972"/>
                  </a:lnTo>
                  <a:lnTo>
                    <a:pt x="24790" y="666750"/>
                  </a:lnTo>
                  <a:lnTo>
                    <a:pt x="32346" y="666750"/>
                  </a:lnTo>
                  <a:lnTo>
                    <a:pt x="57150" y="641972"/>
                  </a:lnTo>
                  <a:lnTo>
                    <a:pt x="57150" y="638175"/>
                  </a:lnTo>
                  <a:lnTo>
                    <a:pt x="57150" y="634390"/>
                  </a:lnTo>
                  <a:close/>
                </a:path>
                <a:path w="57150" h="666750">
                  <a:moveTo>
                    <a:pt x="57150" y="329590"/>
                  </a:moveTo>
                  <a:lnTo>
                    <a:pt x="32346" y="304800"/>
                  </a:lnTo>
                  <a:lnTo>
                    <a:pt x="24790" y="304800"/>
                  </a:lnTo>
                  <a:lnTo>
                    <a:pt x="0" y="329590"/>
                  </a:lnTo>
                  <a:lnTo>
                    <a:pt x="0" y="337172"/>
                  </a:lnTo>
                  <a:lnTo>
                    <a:pt x="24790" y="361950"/>
                  </a:lnTo>
                  <a:lnTo>
                    <a:pt x="32346" y="361950"/>
                  </a:lnTo>
                  <a:lnTo>
                    <a:pt x="57150" y="337172"/>
                  </a:lnTo>
                  <a:lnTo>
                    <a:pt x="57150" y="333375"/>
                  </a:lnTo>
                  <a:lnTo>
                    <a:pt x="57150" y="329590"/>
                  </a:lnTo>
                  <a:close/>
                </a:path>
                <a:path w="57150" h="666750">
                  <a:moveTo>
                    <a:pt x="57150" y="24790"/>
                  </a:moveTo>
                  <a:lnTo>
                    <a:pt x="32346" y="0"/>
                  </a:lnTo>
                  <a:lnTo>
                    <a:pt x="24790" y="0"/>
                  </a:lnTo>
                  <a:lnTo>
                    <a:pt x="0" y="24790"/>
                  </a:lnTo>
                  <a:lnTo>
                    <a:pt x="0" y="32359"/>
                  </a:lnTo>
                  <a:lnTo>
                    <a:pt x="24790" y="57150"/>
                  </a:lnTo>
                  <a:lnTo>
                    <a:pt x="32346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90"/>
                  </a:lnTo>
                  <a:close/>
                </a:path>
              </a:pathLst>
            </a:custGeom>
            <a:solidFill>
              <a:srgbClr val="4A546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6324600" y="5092699"/>
            <a:ext cx="5486400" cy="1250315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227965">
              <a:lnSpc>
                <a:spcPct val="100000"/>
              </a:lnSpc>
              <a:spcBef>
                <a:spcPts val="850"/>
              </a:spcBef>
            </a:pPr>
            <a:r>
              <a:rPr dirty="0" sz="1500" b="1">
                <a:solidFill>
                  <a:srgbClr val="2D3748"/>
                </a:solidFill>
                <a:latin typeface="Calibri"/>
                <a:cs typeface="Calibri"/>
              </a:rPr>
              <a:t>Strategic</a:t>
            </a:r>
            <a:r>
              <a:rPr dirty="0" sz="1500" spc="-20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2D3748"/>
                </a:solidFill>
                <a:latin typeface="Calibri"/>
                <a:cs typeface="Calibri"/>
              </a:rPr>
              <a:t>Implications</a:t>
            </a:r>
            <a:endParaRPr sz="1500">
              <a:latin typeface="Calibri"/>
              <a:cs typeface="Calibri"/>
            </a:endParaRPr>
          </a:p>
          <a:p>
            <a:pPr marL="456565" marR="486409">
              <a:lnSpc>
                <a:spcPts val="2400"/>
              </a:lnSpc>
              <a:spcBef>
                <a:spcPts val="105"/>
              </a:spcBef>
            </a:pPr>
            <a:r>
              <a:rPr dirty="0" sz="1350" spc="-25">
                <a:solidFill>
                  <a:srgbClr val="4A5467"/>
                </a:solidFill>
                <a:latin typeface="Calibri"/>
                <a:cs typeface="Calibri"/>
              </a:rPr>
              <a:t>Essential</a:t>
            </a:r>
            <a:r>
              <a:rPr dirty="0" sz="1350" spc="-1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for</a:t>
            </a:r>
            <a:r>
              <a:rPr dirty="0" sz="1350" spc="6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Service</a:t>
            </a:r>
            <a:r>
              <a:rPr dirty="0" sz="1350" spc="7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Level</a:t>
            </a:r>
            <a:r>
              <a:rPr dirty="0" sz="1350" spc="-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4A5467"/>
                </a:solidFill>
                <a:latin typeface="Calibri"/>
                <a:cs typeface="Calibri"/>
              </a:rPr>
              <a:t>Agreements</a:t>
            </a:r>
            <a:r>
              <a:rPr dirty="0" sz="1350" spc="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(SLAs)</a:t>
            </a:r>
            <a:r>
              <a:rPr dirty="0" sz="1350" spc="6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in</a:t>
            </a:r>
            <a:r>
              <a:rPr dirty="0" sz="1350" spc="7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45">
                <a:solidFill>
                  <a:srgbClr val="4A5467"/>
                </a:solidFill>
                <a:latin typeface="Calibri"/>
                <a:cs typeface="Calibri"/>
              </a:rPr>
              <a:t>cloud</a:t>
            </a:r>
            <a:r>
              <a:rPr dirty="0" sz="1350" spc="5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A5467"/>
                </a:solidFill>
                <a:latin typeface="Calibri"/>
                <a:cs typeface="Calibri"/>
              </a:rPr>
              <a:t>computing. </a:t>
            </a:r>
            <a:r>
              <a:rPr dirty="0" sz="1350" spc="-20">
                <a:solidFill>
                  <a:srgbClr val="4A5467"/>
                </a:solidFill>
                <a:latin typeface="Calibri"/>
                <a:cs typeface="Calibri"/>
              </a:rPr>
              <a:t>Preferred</a:t>
            </a:r>
            <a:r>
              <a:rPr dirty="0" sz="1350" spc="2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in</a:t>
            </a:r>
            <a:r>
              <a:rPr dirty="0" sz="1350" spc="4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45">
                <a:solidFill>
                  <a:srgbClr val="4A5467"/>
                </a:solidFill>
                <a:latin typeface="Calibri"/>
                <a:cs typeface="Calibri"/>
              </a:rPr>
              <a:t>standard</a:t>
            </a:r>
            <a:r>
              <a:rPr dirty="0" sz="1350" spc="2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4A5467"/>
                </a:solidFill>
                <a:latin typeface="Calibri"/>
                <a:cs typeface="Calibri"/>
              </a:rPr>
              <a:t>libraries</a:t>
            </a:r>
            <a:r>
              <a:rPr dirty="0" sz="135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30">
                <a:solidFill>
                  <a:srgbClr val="4A5467"/>
                </a:solidFill>
                <a:latin typeface="Calibri"/>
                <a:cs typeface="Calibri"/>
              </a:rPr>
              <a:t>(e.g.,</a:t>
            </a:r>
            <a:r>
              <a:rPr dirty="0" sz="135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40">
                <a:solidFill>
                  <a:srgbClr val="4A5467"/>
                </a:solidFill>
                <a:latin typeface="Calibri"/>
                <a:cs typeface="Calibri"/>
              </a:rPr>
              <a:t>Java,</a:t>
            </a:r>
            <a:r>
              <a:rPr dirty="0" sz="135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25">
                <a:solidFill>
                  <a:srgbClr val="4A5467"/>
                </a:solidFill>
                <a:latin typeface="Calibri"/>
                <a:cs typeface="Calibri"/>
              </a:rPr>
              <a:t>Python's</a:t>
            </a:r>
            <a:r>
              <a:rPr dirty="0" sz="135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A5467"/>
                </a:solidFill>
                <a:latin typeface="Calibri"/>
                <a:cs typeface="Calibri"/>
              </a:rPr>
              <a:t>Timsort).</a:t>
            </a:r>
            <a:endParaRPr sz="1350">
              <a:latin typeface="Calibri"/>
              <a:cs typeface="Calibri"/>
            </a:endParaRPr>
          </a:p>
          <a:p>
            <a:pPr marL="456565">
              <a:lnSpc>
                <a:spcPct val="100000"/>
              </a:lnSpc>
              <a:spcBef>
                <a:spcPts val="570"/>
              </a:spcBef>
            </a:pP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Trade-</a:t>
            </a:r>
            <a:r>
              <a:rPr dirty="0" sz="1350" spc="-20">
                <a:solidFill>
                  <a:srgbClr val="4A5467"/>
                </a:solidFill>
                <a:latin typeface="Calibri"/>
                <a:cs typeface="Calibri"/>
              </a:rPr>
              <a:t>off:</a:t>
            </a:r>
            <a:r>
              <a:rPr dirty="0" sz="1350" spc="1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35">
                <a:solidFill>
                  <a:srgbClr val="4A5467"/>
                </a:solidFill>
                <a:latin typeface="Calibri"/>
                <a:cs typeface="Calibri"/>
              </a:rPr>
              <a:t>Guaranteed</a:t>
            </a:r>
            <a:r>
              <a:rPr dirty="0" sz="1350" spc="4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70">
                <a:solidFill>
                  <a:srgbClr val="4A5467"/>
                </a:solidFill>
                <a:latin typeface="Calibri"/>
                <a:cs typeface="Calibri"/>
              </a:rPr>
              <a:t>speed</a:t>
            </a:r>
            <a:r>
              <a:rPr dirty="0" sz="1350" spc="3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25">
                <a:solidFill>
                  <a:srgbClr val="4A5467"/>
                </a:solidFill>
                <a:latin typeface="Calibri"/>
                <a:cs typeface="Calibri"/>
              </a:rPr>
              <a:t>requires</a:t>
            </a:r>
            <a:r>
              <a:rPr dirty="0" sz="1350" spc="-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O(n)</a:t>
            </a:r>
            <a:r>
              <a:rPr dirty="0" sz="1350" spc="5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4A5467"/>
                </a:solidFill>
                <a:latin typeface="Calibri"/>
                <a:cs typeface="Calibri"/>
              </a:rPr>
              <a:t>auxiliary</a:t>
            </a:r>
            <a:r>
              <a:rPr dirty="0" sz="1350" spc="2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A5467"/>
                </a:solidFill>
                <a:latin typeface="Calibri"/>
                <a:cs typeface="Calibri"/>
              </a:rPr>
              <a:t>space.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81000" y="1000124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914400" y="0"/>
                </a:moveTo>
                <a:lnTo>
                  <a:pt x="0" y="0"/>
                </a:lnTo>
                <a:lnTo>
                  <a:pt x="0" y="38100"/>
                </a:lnTo>
                <a:lnTo>
                  <a:pt x="914400" y="38100"/>
                </a:lnTo>
                <a:lnTo>
                  <a:pt x="914400" y="0"/>
                </a:lnTo>
                <a:close/>
              </a:path>
            </a:pathLst>
          </a:custGeom>
          <a:solidFill>
            <a:srgbClr val="D69D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950" spc="-110">
                <a:latin typeface="Georgia"/>
                <a:cs typeface="Georgia"/>
              </a:rPr>
              <a:t>Comparative</a:t>
            </a:r>
            <a:r>
              <a:rPr dirty="0" sz="3950" spc="-130">
                <a:latin typeface="Georgia"/>
                <a:cs typeface="Georgia"/>
              </a:rPr>
              <a:t> </a:t>
            </a:r>
            <a:r>
              <a:rPr dirty="0" sz="3950">
                <a:latin typeface="Georgia"/>
                <a:cs typeface="Georgia"/>
              </a:rPr>
              <a:t>Eficiency</a:t>
            </a:r>
            <a:r>
              <a:rPr dirty="0" sz="3950" spc="-330">
                <a:latin typeface="Georgia"/>
                <a:cs typeface="Georgia"/>
              </a:rPr>
              <a:t> </a:t>
            </a:r>
            <a:r>
              <a:rPr dirty="0" sz="3950" spc="-114">
                <a:latin typeface="Georgia"/>
                <a:cs typeface="Georgia"/>
              </a:rPr>
              <a:t>Matrix:</a:t>
            </a:r>
            <a:r>
              <a:rPr dirty="0" sz="3950" spc="95">
                <a:latin typeface="Georgia"/>
                <a:cs typeface="Georgia"/>
              </a:rPr>
              <a:t> </a:t>
            </a:r>
            <a:r>
              <a:rPr dirty="0" sz="3950" spc="-140">
                <a:latin typeface="Georgia"/>
                <a:cs typeface="Georgia"/>
              </a:rPr>
              <a:t>Merge</a:t>
            </a:r>
            <a:r>
              <a:rPr dirty="0" sz="3950" spc="-130">
                <a:latin typeface="Georgia"/>
                <a:cs typeface="Georgia"/>
              </a:rPr>
              <a:t> </a:t>
            </a:r>
            <a:r>
              <a:rPr dirty="0" sz="3950" spc="-20">
                <a:latin typeface="Georgia"/>
                <a:cs typeface="Georgia"/>
              </a:rPr>
              <a:t>Sort</a:t>
            </a:r>
            <a:endParaRPr sz="395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49375" y="1730375"/>
            <a:ext cx="35877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D3748"/>
                </a:solidFill>
                <a:latin typeface="Calibri"/>
                <a:cs typeface="Calibri"/>
              </a:rPr>
              <a:t>Asymptotic</a:t>
            </a:r>
            <a:r>
              <a:rPr dirty="0" sz="1800" spc="40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D3748"/>
                </a:solidFill>
                <a:latin typeface="Calibri"/>
                <a:cs typeface="Calibri"/>
              </a:rPr>
              <a:t>Performance</a:t>
            </a:r>
            <a:r>
              <a:rPr dirty="0" sz="1800" spc="45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D3748"/>
                </a:solidFill>
                <a:latin typeface="Calibri"/>
                <a:cs typeface="Calibri"/>
              </a:rPr>
              <a:t>Consistency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2500" y="5067300"/>
            <a:ext cx="4572000" cy="57150"/>
          </a:xfrm>
          <a:custGeom>
            <a:avLst/>
            <a:gdLst/>
            <a:ahLst/>
            <a:cxnLst/>
            <a:rect l="l" t="t" r="r" b="b"/>
            <a:pathLst>
              <a:path w="4572000" h="57150">
                <a:moveTo>
                  <a:pt x="0" y="57150"/>
                </a:moveTo>
                <a:lnTo>
                  <a:pt x="0" y="0"/>
                </a:lnTo>
                <a:lnTo>
                  <a:pt x="4572000" y="0"/>
                </a:lnTo>
                <a:lnTo>
                  <a:pt x="4572000" y="57150"/>
                </a:lnTo>
              </a:path>
              <a:path w="457200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13309" y="5112639"/>
            <a:ext cx="7874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50">
                <a:latin typeface="Arial MT"/>
                <a:cs typeface="Arial MT"/>
              </a:rPr>
              <a:t>0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866900" y="5067300"/>
            <a:ext cx="0" cy="57150"/>
          </a:xfrm>
          <a:custGeom>
            <a:avLst/>
            <a:gdLst/>
            <a:ahLst/>
            <a:cxnLst/>
            <a:rect l="l" t="t" r="r" b="b"/>
            <a:pathLst>
              <a:path w="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801215" y="5112639"/>
            <a:ext cx="13144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Arial MT"/>
                <a:cs typeface="Arial MT"/>
              </a:rPr>
              <a:t>20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781300" y="5067300"/>
            <a:ext cx="0" cy="57150"/>
          </a:xfrm>
          <a:custGeom>
            <a:avLst/>
            <a:gdLst/>
            <a:ahLst/>
            <a:cxnLst/>
            <a:rect l="l" t="t" r="r" b="b"/>
            <a:pathLst>
              <a:path w="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715615" y="5112639"/>
            <a:ext cx="13144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Arial MT"/>
                <a:cs typeface="Arial MT"/>
              </a:rPr>
              <a:t>40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695700" y="5067300"/>
            <a:ext cx="0" cy="57150"/>
          </a:xfrm>
          <a:custGeom>
            <a:avLst/>
            <a:gdLst/>
            <a:ahLst/>
            <a:cxnLst/>
            <a:rect l="l" t="t" r="r" b="b"/>
            <a:pathLst>
              <a:path w="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630015" y="5112639"/>
            <a:ext cx="13144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Arial MT"/>
                <a:cs typeface="Arial MT"/>
              </a:rPr>
              <a:t>60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610100" y="5067300"/>
            <a:ext cx="0" cy="57150"/>
          </a:xfrm>
          <a:custGeom>
            <a:avLst/>
            <a:gdLst/>
            <a:ahLst/>
            <a:cxnLst/>
            <a:rect l="l" t="t" r="r" b="b"/>
            <a:pathLst>
              <a:path w="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544415" y="5112639"/>
            <a:ext cx="13144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Arial MT"/>
                <a:cs typeface="Arial MT"/>
              </a:rPr>
              <a:t>80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524500" y="5067300"/>
            <a:ext cx="0" cy="57150"/>
          </a:xfrm>
          <a:custGeom>
            <a:avLst/>
            <a:gdLst/>
            <a:ahLst/>
            <a:cxnLst/>
            <a:rect l="l" t="t" r="r" b="b"/>
            <a:pathLst>
              <a:path w="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432323" y="5112639"/>
            <a:ext cx="18478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Arial MT"/>
                <a:cs typeface="Arial MT"/>
              </a:rPr>
              <a:t>100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42437" y="5340350"/>
            <a:ext cx="59245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4A5467"/>
                </a:solidFill>
                <a:latin typeface="Arial MT"/>
                <a:cs typeface="Arial MT"/>
              </a:rPr>
              <a:t>Input</a:t>
            </a:r>
            <a:r>
              <a:rPr dirty="0" sz="750" spc="-1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4A5467"/>
                </a:solidFill>
                <a:latin typeface="Arial MT"/>
                <a:cs typeface="Arial MT"/>
              </a:rPr>
              <a:t>Size</a:t>
            </a:r>
            <a:r>
              <a:rPr dirty="0" sz="750" spc="-5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dirty="0" sz="750" spc="-25">
                <a:solidFill>
                  <a:srgbClr val="4A5467"/>
                </a:solidFill>
                <a:latin typeface="Arial MT"/>
                <a:cs typeface="Arial MT"/>
              </a:rPr>
              <a:t>(n)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95350" y="2590800"/>
            <a:ext cx="57150" cy="2476500"/>
          </a:xfrm>
          <a:custGeom>
            <a:avLst/>
            <a:gdLst/>
            <a:ahLst/>
            <a:cxnLst/>
            <a:rect l="l" t="t" r="r" b="b"/>
            <a:pathLst>
              <a:path w="57150" h="2476500">
                <a:moveTo>
                  <a:pt x="0" y="2476500"/>
                </a:moveTo>
                <a:lnTo>
                  <a:pt x="57150" y="2476500"/>
                </a:lnTo>
                <a:lnTo>
                  <a:pt x="57150" y="0"/>
                </a:lnTo>
                <a:lnTo>
                  <a:pt x="0" y="0"/>
                </a:lnTo>
              </a:path>
              <a:path w="57150" h="2476500">
                <a:moveTo>
                  <a:pt x="57150" y="2476500"/>
                </a:moveTo>
                <a:lnTo>
                  <a:pt x="0" y="24765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801091" y="4989855"/>
            <a:ext cx="7874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50">
                <a:latin typeface="Arial MT"/>
                <a:cs typeface="Arial MT"/>
              </a:rPr>
              <a:t>0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95350" y="4572000"/>
            <a:ext cx="57150" cy="0"/>
          </a:xfrm>
          <a:custGeom>
            <a:avLst/>
            <a:gdLst/>
            <a:ahLst/>
            <a:cxnLst/>
            <a:rect l="l" t="t" r="r" b="b"/>
            <a:pathLst>
              <a:path w="57150" h="0">
                <a:moveTo>
                  <a:pt x="5715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695126" y="4494555"/>
            <a:ext cx="18478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Arial MT"/>
                <a:cs typeface="Arial MT"/>
              </a:rPr>
              <a:t>200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95350" y="4076700"/>
            <a:ext cx="57150" cy="0"/>
          </a:xfrm>
          <a:custGeom>
            <a:avLst/>
            <a:gdLst/>
            <a:ahLst/>
            <a:cxnLst/>
            <a:rect l="l" t="t" r="r" b="b"/>
            <a:pathLst>
              <a:path w="57150" h="0">
                <a:moveTo>
                  <a:pt x="5715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695126" y="3999255"/>
            <a:ext cx="18478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Arial MT"/>
                <a:cs typeface="Arial MT"/>
              </a:rPr>
              <a:t>400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95350" y="3581400"/>
            <a:ext cx="57150" cy="0"/>
          </a:xfrm>
          <a:custGeom>
            <a:avLst/>
            <a:gdLst/>
            <a:ahLst/>
            <a:cxnLst/>
            <a:rect l="l" t="t" r="r" b="b"/>
            <a:pathLst>
              <a:path w="57150" h="0">
                <a:moveTo>
                  <a:pt x="5715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95126" y="3503955"/>
            <a:ext cx="18478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Arial MT"/>
                <a:cs typeface="Arial MT"/>
              </a:rPr>
              <a:t>600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95350" y="3086100"/>
            <a:ext cx="57150" cy="0"/>
          </a:xfrm>
          <a:custGeom>
            <a:avLst/>
            <a:gdLst/>
            <a:ahLst/>
            <a:cxnLst/>
            <a:rect l="l" t="t" r="r" b="b"/>
            <a:pathLst>
              <a:path w="57150" h="0">
                <a:moveTo>
                  <a:pt x="5715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695126" y="3008655"/>
            <a:ext cx="18478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latin typeface="Arial MT"/>
                <a:cs typeface="Arial MT"/>
              </a:rPr>
              <a:t>800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95350" y="2590800"/>
            <a:ext cx="57150" cy="0"/>
          </a:xfrm>
          <a:custGeom>
            <a:avLst/>
            <a:gdLst/>
            <a:ahLst/>
            <a:cxnLst/>
            <a:rect l="l" t="t" r="r" b="b"/>
            <a:pathLst>
              <a:path w="57150" h="0">
                <a:moveTo>
                  <a:pt x="5715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615652" y="2513355"/>
            <a:ext cx="26416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latin typeface="Arial MT"/>
                <a:cs typeface="Arial MT"/>
              </a:rPr>
              <a:t>1,000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24947" y="3583342"/>
            <a:ext cx="132080" cy="491490"/>
          </a:xfrm>
          <a:prstGeom prst="rect">
            <a:avLst/>
          </a:prstGeom>
        </p:spPr>
        <p:txBody>
          <a:bodyPr wrap="square" lIns="0" tIns="317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750" spc="-10">
                <a:solidFill>
                  <a:srgbClr val="4A5467"/>
                </a:solidFill>
                <a:latin typeface="Arial MT"/>
                <a:cs typeface="Arial MT"/>
              </a:rPr>
              <a:t>Operations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979169" y="2231770"/>
            <a:ext cx="4564380" cy="2854960"/>
            <a:chOff x="979169" y="2231770"/>
            <a:chExt cx="4564380" cy="2854960"/>
          </a:xfrm>
        </p:grpSpPr>
        <p:sp>
          <p:nvSpPr>
            <p:cNvPr id="33" name="object 33"/>
            <p:cNvSpPr/>
            <p:nvPr/>
          </p:nvSpPr>
          <p:spPr>
            <a:xfrm>
              <a:off x="998219" y="2599283"/>
              <a:ext cx="4526280" cy="2468245"/>
            </a:xfrm>
            <a:custGeom>
              <a:avLst/>
              <a:gdLst/>
              <a:ahLst/>
              <a:cxnLst/>
              <a:rect l="l" t="t" r="r" b="b"/>
              <a:pathLst>
                <a:path w="4526280" h="2468245">
                  <a:moveTo>
                    <a:pt x="0" y="2468016"/>
                  </a:moveTo>
                  <a:lnTo>
                    <a:pt x="45720" y="2460586"/>
                  </a:lnTo>
                  <a:lnTo>
                    <a:pt x="91440" y="2450350"/>
                  </a:lnTo>
                  <a:lnTo>
                    <a:pt x="137160" y="2438298"/>
                  </a:lnTo>
                  <a:lnTo>
                    <a:pt x="182880" y="2424887"/>
                  </a:lnTo>
                  <a:lnTo>
                    <a:pt x="228600" y="2410396"/>
                  </a:lnTo>
                  <a:lnTo>
                    <a:pt x="274320" y="2395016"/>
                  </a:lnTo>
                  <a:lnTo>
                    <a:pt x="320040" y="2378862"/>
                  </a:lnTo>
                  <a:lnTo>
                    <a:pt x="365760" y="2362034"/>
                  </a:lnTo>
                  <a:lnTo>
                    <a:pt x="411480" y="2344610"/>
                  </a:lnTo>
                  <a:lnTo>
                    <a:pt x="457200" y="2326652"/>
                  </a:lnTo>
                  <a:lnTo>
                    <a:pt x="502920" y="2308199"/>
                  </a:lnTo>
                  <a:lnTo>
                    <a:pt x="548640" y="2289314"/>
                  </a:lnTo>
                  <a:lnTo>
                    <a:pt x="594360" y="2270010"/>
                  </a:lnTo>
                  <a:lnTo>
                    <a:pt x="640080" y="2250325"/>
                  </a:lnTo>
                  <a:lnTo>
                    <a:pt x="685800" y="2230272"/>
                  </a:lnTo>
                  <a:lnTo>
                    <a:pt x="731520" y="2209888"/>
                  </a:lnTo>
                  <a:lnTo>
                    <a:pt x="777240" y="2189187"/>
                  </a:lnTo>
                  <a:lnTo>
                    <a:pt x="822960" y="2168194"/>
                  </a:lnTo>
                  <a:lnTo>
                    <a:pt x="868680" y="2146922"/>
                  </a:lnTo>
                  <a:lnTo>
                    <a:pt x="914400" y="2125370"/>
                  </a:lnTo>
                  <a:lnTo>
                    <a:pt x="960120" y="2103577"/>
                  </a:lnTo>
                  <a:lnTo>
                    <a:pt x="1005840" y="2081530"/>
                  </a:lnTo>
                  <a:lnTo>
                    <a:pt x="1051560" y="2059254"/>
                  </a:lnTo>
                  <a:lnTo>
                    <a:pt x="1097280" y="2036737"/>
                  </a:lnTo>
                  <a:lnTo>
                    <a:pt x="1143000" y="2014042"/>
                  </a:lnTo>
                  <a:lnTo>
                    <a:pt x="1188720" y="1991106"/>
                  </a:lnTo>
                  <a:lnTo>
                    <a:pt x="1234440" y="1967992"/>
                  </a:lnTo>
                  <a:lnTo>
                    <a:pt x="1280160" y="1944674"/>
                  </a:lnTo>
                  <a:lnTo>
                    <a:pt x="1325880" y="1921179"/>
                  </a:lnTo>
                  <a:lnTo>
                    <a:pt x="1371600" y="1897507"/>
                  </a:lnTo>
                  <a:lnTo>
                    <a:pt x="1417320" y="1873656"/>
                  </a:lnTo>
                  <a:lnTo>
                    <a:pt x="1463040" y="1849640"/>
                  </a:lnTo>
                  <a:lnTo>
                    <a:pt x="1508760" y="1825459"/>
                  </a:lnTo>
                  <a:lnTo>
                    <a:pt x="1554480" y="1801126"/>
                  </a:lnTo>
                  <a:lnTo>
                    <a:pt x="1600200" y="1776641"/>
                  </a:lnTo>
                  <a:lnTo>
                    <a:pt x="1645920" y="1752003"/>
                  </a:lnTo>
                  <a:lnTo>
                    <a:pt x="1691640" y="1727225"/>
                  </a:lnTo>
                  <a:lnTo>
                    <a:pt x="1737360" y="1702295"/>
                  </a:lnTo>
                  <a:lnTo>
                    <a:pt x="1783080" y="1677238"/>
                  </a:lnTo>
                  <a:lnTo>
                    <a:pt x="1828800" y="1652041"/>
                  </a:lnTo>
                  <a:lnTo>
                    <a:pt x="1874520" y="1626704"/>
                  </a:lnTo>
                  <a:lnTo>
                    <a:pt x="1920240" y="1601266"/>
                  </a:lnTo>
                  <a:lnTo>
                    <a:pt x="1965960" y="1575676"/>
                  </a:lnTo>
                  <a:lnTo>
                    <a:pt x="2011680" y="1549971"/>
                  </a:lnTo>
                  <a:lnTo>
                    <a:pt x="2057400" y="1524152"/>
                  </a:lnTo>
                  <a:lnTo>
                    <a:pt x="2103120" y="1498219"/>
                  </a:lnTo>
                  <a:lnTo>
                    <a:pt x="2148840" y="1472171"/>
                  </a:lnTo>
                  <a:lnTo>
                    <a:pt x="2194560" y="1446009"/>
                  </a:lnTo>
                  <a:lnTo>
                    <a:pt x="2240280" y="1419745"/>
                  </a:lnTo>
                  <a:lnTo>
                    <a:pt x="2286000" y="1393355"/>
                  </a:lnTo>
                  <a:lnTo>
                    <a:pt x="2331720" y="1366875"/>
                  </a:lnTo>
                  <a:lnTo>
                    <a:pt x="2377440" y="1340294"/>
                  </a:lnTo>
                  <a:lnTo>
                    <a:pt x="2423160" y="1313611"/>
                  </a:lnTo>
                  <a:lnTo>
                    <a:pt x="2468880" y="1286827"/>
                  </a:lnTo>
                  <a:lnTo>
                    <a:pt x="2514600" y="1259928"/>
                  </a:lnTo>
                  <a:lnTo>
                    <a:pt x="2560320" y="1232954"/>
                  </a:lnTo>
                  <a:lnTo>
                    <a:pt x="2606040" y="1205877"/>
                  </a:lnTo>
                  <a:lnTo>
                    <a:pt x="2651760" y="1178712"/>
                  </a:lnTo>
                  <a:lnTo>
                    <a:pt x="2697480" y="1151458"/>
                  </a:lnTo>
                  <a:lnTo>
                    <a:pt x="2743200" y="1124115"/>
                  </a:lnTo>
                  <a:lnTo>
                    <a:pt x="2788920" y="1096683"/>
                  </a:lnTo>
                  <a:lnTo>
                    <a:pt x="2834640" y="1069162"/>
                  </a:lnTo>
                  <a:lnTo>
                    <a:pt x="2880360" y="1041552"/>
                  </a:lnTo>
                  <a:lnTo>
                    <a:pt x="2926080" y="1013866"/>
                  </a:lnTo>
                  <a:lnTo>
                    <a:pt x="2971800" y="986091"/>
                  </a:lnTo>
                  <a:lnTo>
                    <a:pt x="3017520" y="958240"/>
                  </a:lnTo>
                  <a:lnTo>
                    <a:pt x="3063240" y="930300"/>
                  </a:lnTo>
                  <a:lnTo>
                    <a:pt x="3108960" y="902296"/>
                  </a:lnTo>
                  <a:lnTo>
                    <a:pt x="3154680" y="874204"/>
                  </a:lnTo>
                  <a:lnTo>
                    <a:pt x="3200400" y="846048"/>
                  </a:lnTo>
                  <a:lnTo>
                    <a:pt x="3246120" y="817803"/>
                  </a:lnTo>
                  <a:lnTo>
                    <a:pt x="3291840" y="789482"/>
                  </a:lnTo>
                  <a:lnTo>
                    <a:pt x="3337560" y="761085"/>
                  </a:lnTo>
                  <a:lnTo>
                    <a:pt x="3383280" y="732624"/>
                  </a:lnTo>
                  <a:lnTo>
                    <a:pt x="3429000" y="704088"/>
                  </a:lnTo>
                  <a:lnTo>
                    <a:pt x="3474720" y="675487"/>
                  </a:lnTo>
                  <a:lnTo>
                    <a:pt x="3520440" y="646811"/>
                  </a:lnTo>
                  <a:lnTo>
                    <a:pt x="3566160" y="618083"/>
                  </a:lnTo>
                  <a:lnTo>
                    <a:pt x="3611880" y="589267"/>
                  </a:lnTo>
                  <a:lnTo>
                    <a:pt x="3657600" y="560387"/>
                  </a:lnTo>
                  <a:lnTo>
                    <a:pt x="3703320" y="531444"/>
                  </a:lnTo>
                  <a:lnTo>
                    <a:pt x="3749040" y="502437"/>
                  </a:lnTo>
                  <a:lnTo>
                    <a:pt x="3794760" y="473367"/>
                  </a:lnTo>
                  <a:lnTo>
                    <a:pt x="3840480" y="444233"/>
                  </a:lnTo>
                  <a:lnTo>
                    <a:pt x="3886200" y="415023"/>
                  </a:lnTo>
                  <a:lnTo>
                    <a:pt x="3931920" y="385762"/>
                  </a:lnTo>
                  <a:lnTo>
                    <a:pt x="3977640" y="356438"/>
                  </a:lnTo>
                  <a:lnTo>
                    <a:pt x="4023360" y="327050"/>
                  </a:lnTo>
                  <a:lnTo>
                    <a:pt x="4069080" y="297611"/>
                  </a:lnTo>
                  <a:lnTo>
                    <a:pt x="4114800" y="268109"/>
                  </a:lnTo>
                  <a:lnTo>
                    <a:pt x="4160520" y="238544"/>
                  </a:lnTo>
                  <a:lnTo>
                    <a:pt x="4206240" y="208927"/>
                  </a:lnTo>
                  <a:lnTo>
                    <a:pt x="4251960" y="179247"/>
                  </a:lnTo>
                  <a:lnTo>
                    <a:pt x="4297680" y="149504"/>
                  </a:lnTo>
                  <a:lnTo>
                    <a:pt x="4343400" y="119710"/>
                  </a:lnTo>
                  <a:lnTo>
                    <a:pt x="4389120" y="89865"/>
                  </a:lnTo>
                  <a:lnTo>
                    <a:pt x="4434840" y="59956"/>
                  </a:lnTo>
                  <a:lnTo>
                    <a:pt x="4480560" y="30010"/>
                  </a:lnTo>
                  <a:lnTo>
                    <a:pt x="4526280" y="0"/>
                  </a:lnTo>
                </a:path>
              </a:pathLst>
            </a:custGeom>
            <a:ln w="38100">
              <a:solidFill>
                <a:srgbClr val="D69D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996692" y="2231770"/>
              <a:ext cx="1511300" cy="2842895"/>
            </a:xfrm>
            <a:custGeom>
              <a:avLst/>
              <a:gdLst/>
              <a:ahLst/>
              <a:cxnLst/>
              <a:rect l="l" t="t" r="r" b="b"/>
              <a:pathLst>
                <a:path w="1511300" h="2842895">
                  <a:moveTo>
                    <a:pt x="37608" y="2817545"/>
                  </a:moveTo>
                  <a:lnTo>
                    <a:pt x="0" y="2823654"/>
                  </a:lnTo>
                  <a:lnTo>
                    <a:pt x="3055" y="2842450"/>
                  </a:lnTo>
                  <a:lnTo>
                    <a:pt x="40664" y="2836341"/>
                  </a:lnTo>
                  <a:lnTo>
                    <a:pt x="37608" y="2817545"/>
                  </a:lnTo>
                  <a:close/>
                </a:path>
                <a:path w="1511300" h="2842895">
                  <a:moveTo>
                    <a:pt x="90064" y="2804157"/>
                  </a:moveTo>
                  <a:lnTo>
                    <a:pt x="73600" y="2808617"/>
                  </a:lnTo>
                  <a:lnTo>
                    <a:pt x="78581" y="2827007"/>
                  </a:lnTo>
                  <a:lnTo>
                    <a:pt x="95909" y="2822308"/>
                  </a:lnTo>
                  <a:lnTo>
                    <a:pt x="115619" y="2814840"/>
                  </a:lnTo>
                  <a:lnTo>
                    <a:pt x="115012" y="2813240"/>
                  </a:lnTo>
                  <a:lnTo>
                    <a:pt x="92967" y="2813240"/>
                  </a:lnTo>
                  <a:lnTo>
                    <a:pt x="89589" y="2804337"/>
                  </a:lnTo>
                  <a:lnTo>
                    <a:pt x="90064" y="2804157"/>
                  </a:lnTo>
                  <a:close/>
                </a:path>
                <a:path w="1511300" h="2842895">
                  <a:moveTo>
                    <a:pt x="108863" y="2797022"/>
                  </a:moveTo>
                  <a:lnTo>
                    <a:pt x="89589" y="2804337"/>
                  </a:lnTo>
                  <a:lnTo>
                    <a:pt x="92967" y="2813240"/>
                  </a:lnTo>
                  <a:lnTo>
                    <a:pt x="90556" y="2804337"/>
                  </a:lnTo>
                  <a:lnTo>
                    <a:pt x="90507" y="2804157"/>
                  </a:lnTo>
                  <a:lnTo>
                    <a:pt x="111568" y="2804157"/>
                  </a:lnTo>
                  <a:lnTo>
                    <a:pt x="108863" y="2797022"/>
                  </a:lnTo>
                  <a:close/>
                </a:path>
                <a:path w="1511300" h="2842895">
                  <a:moveTo>
                    <a:pt x="111568" y="2804157"/>
                  </a:moveTo>
                  <a:lnTo>
                    <a:pt x="90507" y="2804157"/>
                  </a:lnTo>
                  <a:lnTo>
                    <a:pt x="92967" y="2813240"/>
                  </a:lnTo>
                  <a:lnTo>
                    <a:pt x="115012" y="2813240"/>
                  </a:lnTo>
                  <a:lnTo>
                    <a:pt x="111636" y="2804337"/>
                  </a:lnTo>
                  <a:lnTo>
                    <a:pt x="111568" y="2804157"/>
                  </a:lnTo>
                  <a:close/>
                </a:path>
                <a:path w="1511300" h="2842895">
                  <a:moveTo>
                    <a:pt x="177586" y="2766339"/>
                  </a:moveTo>
                  <a:lnTo>
                    <a:pt x="143336" y="2783039"/>
                  </a:lnTo>
                  <a:lnTo>
                    <a:pt x="151684" y="2800159"/>
                  </a:lnTo>
                  <a:lnTo>
                    <a:pt x="185930" y="2783471"/>
                  </a:lnTo>
                  <a:lnTo>
                    <a:pt x="177586" y="2766339"/>
                  </a:lnTo>
                  <a:close/>
                </a:path>
                <a:path w="1511300" h="2842895">
                  <a:moveTo>
                    <a:pt x="224646" y="2738589"/>
                  </a:moveTo>
                  <a:lnTo>
                    <a:pt x="209732" y="2747441"/>
                  </a:lnTo>
                  <a:lnTo>
                    <a:pt x="219481" y="2763799"/>
                  </a:lnTo>
                  <a:lnTo>
                    <a:pt x="235317" y="2754376"/>
                  </a:lnTo>
                  <a:lnTo>
                    <a:pt x="246673" y="2746375"/>
                  </a:lnTo>
                  <a:lnTo>
                    <a:pt x="230127" y="2746375"/>
                  </a:lnTo>
                  <a:lnTo>
                    <a:pt x="224646" y="2738589"/>
                  </a:lnTo>
                  <a:close/>
                </a:path>
                <a:path w="1511300" h="2842895">
                  <a:moveTo>
                    <a:pt x="225251" y="2738196"/>
                  </a:moveTo>
                  <a:lnTo>
                    <a:pt x="224955" y="2738372"/>
                  </a:lnTo>
                  <a:lnTo>
                    <a:pt x="224646" y="2738589"/>
                  </a:lnTo>
                  <a:lnTo>
                    <a:pt x="230127" y="2746375"/>
                  </a:lnTo>
                  <a:lnTo>
                    <a:pt x="225355" y="2738372"/>
                  </a:lnTo>
                  <a:lnTo>
                    <a:pt x="225251" y="2738196"/>
                  </a:lnTo>
                  <a:close/>
                </a:path>
                <a:path w="1511300" h="2842895">
                  <a:moveTo>
                    <a:pt x="241021" y="2727058"/>
                  </a:moveTo>
                  <a:lnTo>
                    <a:pt x="225251" y="2738196"/>
                  </a:lnTo>
                  <a:lnTo>
                    <a:pt x="230127" y="2746375"/>
                  </a:lnTo>
                  <a:lnTo>
                    <a:pt x="246673" y="2746375"/>
                  </a:lnTo>
                  <a:lnTo>
                    <a:pt x="251990" y="2742628"/>
                  </a:lnTo>
                  <a:lnTo>
                    <a:pt x="241021" y="2727058"/>
                  </a:lnTo>
                  <a:close/>
                </a:path>
                <a:path w="1511300" h="2842895">
                  <a:moveTo>
                    <a:pt x="301133" y="2681363"/>
                  </a:moveTo>
                  <a:lnTo>
                    <a:pt x="271561" y="2705392"/>
                  </a:lnTo>
                  <a:lnTo>
                    <a:pt x="283569" y="2720174"/>
                  </a:lnTo>
                  <a:lnTo>
                    <a:pt x="313147" y="2696146"/>
                  </a:lnTo>
                  <a:lnTo>
                    <a:pt x="301133" y="2681363"/>
                  </a:lnTo>
                  <a:close/>
                </a:path>
                <a:path w="1511300" h="2842895">
                  <a:moveTo>
                    <a:pt x="357496" y="2631008"/>
                  </a:moveTo>
                  <a:lnTo>
                    <a:pt x="329467" y="2656814"/>
                  </a:lnTo>
                  <a:lnTo>
                    <a:pt x="342370" y="2670822"/>
                  </a:lnTo>
                  <a:lnTo>
                    <a:pt x="370399" y="2645016"/>
                  </a:lnTo>
                  <a:lnTo>
                    <a:pt x="357496" y="2631008"/>
                  </a:lnTo>
                  <a:close/>
                </a:path>
                <a:path w="1511300" h="2842895">
                  <a:moveTo>
                    <a:pt x="405857" y="2581592"/>
                  </a:moveTo>
                  <a:lnTo>
                    <a:pt x="383848" y="2604223"/>
                  </a:lnTo>
                  <a:lnTo>
                    <a:pt x="397501" y="2617508"/>
                  </a:lnTo>
                  <a:lnTo>
                    <a:pt x="420005" y="2594343"/>
                  </a:lnTo>
                  <a:lnTo>
                    <a:pt x="424158" y="2589618"/>
                  </a:lnTo>
                  <a:lnTo>
                    <a:pt x="422177" y="2587879"/>
                  </a:lnTo>
                  <a:lnTo>
                    <a:pt x="413007" y="2587879"/>
                  </a:lnTo>
                  <a:lnTo>
                    <a:pt x="405857" y="2581592"/>
                  </a:lnTo>
                  <a:close/>
                </a:path>
                <a:path w="1511300" h="2842895">
                  <a:moveTo>
                    <a:pt x="406175" y="2581236"/>
                  </a:moveTo>
                  <a:lnTo>
                    <a:pt x="405857" y="2581592"/>
                  </a:lnTo>
                  <a:lnTo>
                    <a:pt x="413007" y="2587879"/>
                  </a:lnTo>
                  <a:lnTo>
                    <a:pt x="406175" y="2581236"/>
                  </a:lnTo>
                  <a:close/>
                </a:path>
                <a:path w="1511300" h="2842895">
                  <a:moveTo>
                    <a:pt x="409845" y="2577045"/>
                  </a:moveTo>
                  <a:lnTo>
                    <a:pt x="406175" y="2581236"/>
                  </a:lnTo>
                  <a:lnTo>
                    <a:pt x="413007" y="2587879"/>
                  </a:lnTo>
                  <a:lnTo>
                    <a:pt x="422177" y="2587879"/>
                  </a:lnTo>
                  <a:lnTo>
                    <a:pt x="409845" y="2577045"/>
                  </a:lnTo>
                  <a:close/>
                </a:path>
                <a:path w="1511300" h="2842895">
                  <a:moveTo>
                    <a:pt x="451298" y="2529916"/>
                  </a:moveTo>
                  <a:lnTo>
                    <a:pt x="435004" y="2548432"/>
                  </a:lnTo>
                  <a:lnTo>
                    <a:pt x="449317" y="2561005"/>
                  </a:lnTo>
                  <a:lnTo>
                    <a:pt x="466017" y="2541993"/>
                  </a:lnTo>
                  <a:lnTo>
                    <a:pt x="470938" y="2535872"/>
                  </a:lnTo>
                  <a:lnTo>
                    <a:pt x="458727" y="2535872"/>
                  </a:lnTo>
                  <a:lnTo>
                    <a:pt x="451298" y="2529916"/>
                  </a:lnTo>
                  <a:close/>
                </a:path>
                <a:path w="1511300" h="2842895">
                  <a:moveTo>
                    <a:pt x="451577" y="2529586"/>
                  </a:moveTo>
                  <a:lnTo>
                    <a:pt x="451412" y="2529774"/>
                  </a:lnTo>
                  <a:lnTo>
                    <a:pt x="451298" y="2529916"/>
                  </a:lnTo>
                  <a:lnTo>
                    <a:pt x="458727" y="2535872"/>
                  </a:lnTo>
                  <a:lnTo>
                    <a:pt x="451577" y="2529586"/>
                  </a:lnTo>
                  <a:close/>
                </a:path>
                <a:path w="1511300" h="2842895">
                  <a:moveTo>
                    <a:pt x="459439" y="2519768"/>
                  </a:moveTo>
                  <a:lnTo>
                    <a:pt x="451577" y="2529586"/>
                  </a:lnTo>
                  <a:lnTo>
                    <a:pt x="458727" y="2535872"/>
                  </a:lnTo>
                  <a:lnTo>
                    <a:pt x="470938" y="2535872"/>
                  </a:lnTo>
                  <a:lnTo>
                    <a:pt x="474298" y="2531694"/>
                  </a:lnTo>
                  <a:lnTo>
                    <a:pt x="459439" y="2519768"/>
                  </a:lnTo>
                  <a:close/>
                </a:path>
                <a:path w="1511300" h="2842895">
                  <a:moveTo>
                    <a:pt x="496777" y="2473261"/>
                  </a:moveTo>
                  <a:lnTo>
                    <a:pt x="483289" y="2490063"/>
                  </a:lnTo>
                  <a:lnTo>
                    <a:pt x="498148" y="2501988"/>
                  </a:lnTo>
                  <a:lnTo>
                    <a:pt x="512004" y="2484729"/>
                  </a:lnTo>
                  <a:lnTo>
                    <a:pt x="516293" y="2478913"/>
                  </a:lnTo>
                  <a:lnTo>
                    <a:pt x="504447" y="2478913"/>
                  </a:lnTo>
                  <a:lnTo>
                    <a:pt x="496777" y="2473261"/>
                  </a:lnTo>
                  <a:close/>
                </a:path>
                <a:path w="1511300" h="2842895">
                  <a:moveTo>
                    <a:pt x="497018" y="2472944"/>
                  </a:moveTo>
                  <a:lnTo>
                    <a:pt x="496777" y="2473261"/>
                  </a:lnTo>
                  <a:lnTo>
                    <a:pt x="504447" y="2478913"/>
                  </a:lnTo>
                  <a:lnTo>
                    <a:pt x="497018" y="2472944"/>
                  </a:lnTo>
                  <a:close/>
                </a:path>
                <a:path w="1511300" h="2842895">
                  <a:moveTo>
                    <a:pt x="506390" y="2460256"/>
                  </a:moveTo>
                  <a:lnTo>
                    <a:pt x="497018" y="2472944"/>
                  </a:lnTo>
                  <a:lnTo>
                    <a:pt x="504447" y="2478913"/>
                  </a:lnTo>
                  <a:lnTo>
                    <a:pt x="516293" y="2478913"/>
                  </a:lnTo>
                  <a:lnTo>
                    <a:pt x="521707" y="2471572"/>
                  </a:lnTo>
                  <a:lnTo>
                    <a:pt x="506390" y="2460256"/>
                  </a:lnTo>
                  <a:close/>
                </a:path>
                <a:path w="1511300" h="2842895">
                  <a:moveTo>
                    <a:pt x="542306" y="2411615"/>
                  </a:moveTo>
                  <a:lnTo>
                    <a:pt x="529022" y="2429598"/>
                  </a:lnTo>
                  <a:lnTo>
                    <a:pt x="544338" y="2440927"/>
                  </a:lnTo>
                  <a:lnTo>
                    <a:pt x="557927" y="2422525"/>
                  </a:lnTo>
                  <a:lnTo>
                    <a:pt x="561710" y="2417000"/>
                  </a:lnTo>
                  <a:lnTo>
                    <a:pt x="550167" y="2417000"/>
                  </a:lnTo>
                  <a:lnTo>
                    <a:pt x="542306" y="2411615"/>
                  </a:lnTo>
                  <a:close/>
                </a:path>
                <a:path w="1511300" h="2842895">
                  <a:moveTo>
                    <a:pt x="542497" y="2411349"/>
                  </a:moveTo>
                  <a:lnTo>
                    <a:pt x="542306" y="2411615"/>
                  </a:lnTo>
                  <a:lnTo>
                    <a:pt x="550167" y="2417000"/>
                  </a:lnTo>
                  <a:lnTo>
                    <a:pt x="542497" y="2411349"/>
                  </a:lnTo>
                  <a:close/>
                </a:path>
                <a:path w="1511300" h="2842895">
                  <a:moveTo>
                    <a:pt x="550993" y="2398915"/>
                  </a:moveTo>
                  <a:lnTo>
                    <a:pt x="542497" y="2411349"/>
                  </a:lnTo>
                  <a:lnTo>
                    <a:pt x="550167" y="2417000"/>
                  </a:lnTo>
                  <a:lnTo>
                    <a:pt x="561710" y="2417000"/>
                  </a:lnTo>
                  <a:lnTo>
                    <a:pt x="566728" y="2409672"/>
                  </a:lnTo>
                  <a:lnTo>
                    <a:pt x="550993" y="2398915"/>
                  </a:lnTo>
                  <a:close/>
                </a:path>
                <a:path w="1511300" h="2842895">
                  <a:moveTo>
                    <a:pt x="587851" y="2345018"/>
                  </a:moveTo>
                  <a:lnTo>
                    <a:pt x="572507" y="2367470"/>
                  </a:lnTo>
                  <a:lnTo>
                    <a:pt x="588229" y="2378214"/>
                  </a:lnTo>
                  <a:lnTo>
                    <a:pt x="603838" y="2355380"/>
                  </a:lnTo>
                  <a:lnTo>
                    <a:pt x="607180" y="2350135"/>
                  </a:lnTo>
                  <a:lnTo>
                    <a:pt x="595887" y="2350135"/>
                  </a:lnTo>
                  <a:lnTo>
                    <a:pt x="587851" y="2345018"/>
                  </a:lnTo>
                  <a:close/>
                </a:path>
                <a:path w="1511300" h="2842895">
                  <a:moveTo>
                    <a:pt x="588026" y="2344762"/>
                  </a:moveTo>
                  <a:lnTo>
                    <a:pt x="587851" y="2345018"/>
                  </a:lnTo>
                  <a:lnTo>
                    <a:pt x="595887" y="2350135"/>
                  </a:lnTo>
                  <a:lnTo>
                    <a:pt x="588026" y="2344762"/>
                  </a:lnTo>
                  <a:close/>
                </a:path>
                <a:path w="1511300" h="2842895">
                  <a:moveTo>
                    <a:pt x="593538" y="2336076"/>
                  </a:moveTo>
                  <a:lnTo>
                    <a:pt x="588026" y="2344762"/>
                  </a:lnTo>
                  <a:lnTo>
                    <a:pt x="595887" y="2350135"/>
                  </a:lnTo>
                  <a:lnTo>
                    <a:pt x="607180" y="2350135"/>
                  </a:lnTo>
                  <a:lnTo>
                    <a:pt x="609616" y="2346312"/>
                  </a:lnTo>
                  <a:lnTo>
                    <a:pt x="593538" y="2336076"/>
                  </a:lnTo>
                  <a:close/>
                </a:path>
                <a:path w="1511300" h="2842895">
                  <a:moveTo>
                    <a:pt x="633416" y="2273439"/>
                  </a:moveTo>
                  <a:lnTo>
                    <a:pt x="614010" y="2303945"/>
                  </a:lnTo>
                  <a:lnTo>
                    <a:pt x="630076" y="2314168"/>
                  </a:lnTo>
                  <a:lnTo>
                    <a:pt x="649723" y="2283307"/>
                  </a:lnTo>
                  <a:lnTo>
                    <a:pt x="650637" y="2281758"/>
                  </a:lnTo>
                  <a:lnTo>
                    <a:pt x="644857" y="2278316"/>
                  </a:lnTo>
                  <a:lnTo>
                    <a:pt x="641607" y="2278316"/>
                  </a:lnTo>
                  <a:lnTo>
                    <a:pt x="633416" y="2273439"/>
                  </a:lnTo>
                  <a:close/>
                </a:path>
                <a:path w="1511300" h="2842895">
                  <a:moveTo>
                    <a:pt x="633568" y="2273198"/>
                  </a:moveTo>
                  <a:lnTo>
                    <a:pt x="633416" y="2273439"/>
                  </a:lnTo>
                  <a:lnTo>
                    <a:pt x="641607" y="2278316"/>
                  </a:lnTo>
                  <a:lnTo>
                    <a:pt x="633568" y="2273198"/>
                  </a:lnTo>
                  <a:close/>
                </a:path>
                <a:path w="1511300" h="2842895">
                  <a:moveTo>
                    <a:pt x="634279" y="2272017"/>
                  </a:moveTo>
                  <a:lnTo>
                    <a:pt x="633568" y="2273198"/>
                  </a:lnTo>
                  <a:lnTo>
                    <a:pt x="641607" y="2278316"/>
                  </a:lnTo>
                  <a:lnTo>
                    <a:pt x="644857" y="2278316"/>
                  </a:lnTo>
                  <a:lnTo>
                    <a:pt x="634279" y="2272017"/>
                  </a:lnTo>
                  <a:close/>
                </a:path>
                <a:path w="1511300" h="2842895">
                  <a:moveTo>
                    <a:pt x="673268" y="2206548"/>
                  </a:moveTo>
                  <a:lnTo>
                    <a:pt x="653761" y="2239289"/>
                  </a:lnTo>
                  <a:lnTo>
                    <a:pt x="670132" y="2249030"/>
                  </a:lnTo>
                  <a:lnTo>
                    <a:pt x="689626" y="2216289"/>
                  </a:lnTo>
                  <a:lnTo>
                    <a:pt x="673268" y="2206548"/>
                  </a:lnTo>
                  <a:close/>
                </a:path>
                <a:path w="1511300" h="2842895">
                  <a:moveTo>
                    <a:pt x="710606" y="2140419"/>
                  </a:moveTo>
                  <a:lnTo>
                    <a:pt x="692001" y="2173681"/>
                  </a:lnTo>
                  <a:lnTo>
                    <a:pt x="708625" y="2182977"/>
                  </a:lnTo>
                  <a:lnTo>
                    <a:pt x="727231" y="2149729"/>
                  </a:lnTo>
                  <a:lnTo>
                    <a:pt x="710606" y="2140419"/>
                  </a:lnTo>
                  <a:close/>
                </a:path>
                <a:path w="1511300" h="2842895">
                  <a:moveTo>
                    <a:pt x="746674" y="2073579"/>
                  </a:moveTo>
                  <a:lnTo>
                    <a:pt x="728894" y="2107272"/>
                  </a:lnTo>
                  <a:lnTo>
                    <a:pt x="745747" y="2116162"/>
                  </a:lnTo>
                  <a:lnTo>
                    <a:pt x="763527" y="2082469"/>
                  </a:lnTo>
                  <a:lnTo>
                    <a:pt x="746674" y="2073579"/>
                  </a:lnTo>
                  <a:close/>
                </a:path>
                <a:path w="1511300" h="2842895">
                  <a:moveTo>
                    <a:pt x="770247" y="2028889"/>
                  </a:moveTo>
                  <a:lnTo>
                    <a:pt x="764454" y="2039874"/>
                  </a:lnTo>
                  <a:lnTo>
                    <a:pt x="781295" y="2048764"/>
                  </a:lnTo>
                  <a:lnTo>
                    <a:pt x="787238" y="2037486"/>
                  </a:lnTo>
                  <a:lnTo>
                    <a:pt x="789406" y="2033143"/>
                  </a:lnTo>
                  <a:lnTo>
                    <a:pt x="778767" y="2033143"/>
                  </a:lnTo>
                  <a:lnTo>
                    <a:pt x="770247" y="2028889"/>
                  </a:lnTo>
                  <a:close/>
                </a:path>
                <a:path w="1511300" h="2842895">
                  <a:moveTo>
                    <a:pt x="770347" y="2028698"/>
                  </a:moveTo>
                  <a:lnTo>
                    <a:pt x="770247" y="2028889"/>
                  </a:lnTo>
                  <a:lnTo>
                    <a:pt x="778767" y="2033143"/>
                  </a:lnTo>
                  <a:lnTo>
                    <a:pt x="770347" y="2028698"/>
                  </a:lnTo>
                  <a:close/>
                </a:path>
                <a:path w="1511300" h="2842895">
                  <a:moveTo>
                    <a:pt x="781612" y="2006104"/>
                  </a:moveTo>
                  <a:lnTo>
                    <a:pt x="770347" y="2028698"/>
                  </a:lnTo>
                  <a:lnTo>
                    <a:pt x="778767" y="2033143"/>
                  </a:lnTo>
                  <a:lnTo>
                    <a:pt x="789406" y="2033143"/>
                  </a:lnTo>
                  <a:lnTo>
                    <a:pt x="798656" y="2014613"/>
                  </a:lnTo>
                  <a:lnTo>
                    <a:pt x="781612" y="2006104"/>
                  </a:lnTo>
                  <a:close/>
                </a:path>
                <a:path w="1511300" h="2842895">
                  <a:moveTo>
                    <a:pt x="815635" y="1937918"/>
                  </a:moveTo>
                  <a:lnTo>
                    <a:pt x="798630" y="1972017"/>
                  </a:lnTo>
                  <a:lnTo>
                    <a:pt x="815674" y="1980514"/>
                  </a:lnTo>
                  <a:lnTo>
                    <a:pt x="832679" y="1946427"/>
                  </a:lnTo>
                  <a:lnTo>
                    <a:pt x="815635" y="1937918"/>
                  </a:lnTo>
                  <a:close/>
                </a:path>
                <a:path w="1511300" h="2842895">
                  <a:moveTo>
                    <a:pt x="848160" y="1869236"/>
                  </a:moveTo>
                  <a:lnTo>
                    <a:pt x="831866" y="1903666"/>
                  </a:lnTo>
                  <a:lnTo>
                    <a:pt x="849087" y="1911819"/>
                  </a:lnTo>
                  <a:lnTo>
                    <a:pt x="865381" y="1877377"/>
                  </a:lnTo>
                  <a:lnTo>
                    <a:pt x="848160" y="1869236"/>
                  </a:lnTo>
                  <a:close/>
                </a:path>
                <a:path w="1511300" h="2842895">
                  <a:moveTo>
                    <a:pt x="879910" y="1800161"/>
                  </a:moveTo>
                  <a:lnTo>
                    <a:pt x="864276" y="1834908"/>
                  </a:lnTo>
                  <a:lnTo>
                    <a:pt x="881637" y="1842731"/>
                  </a:lnTo>
                  <a:lnTo>
                    <a:pt x="897284" y="1807984"/>
                  </a:lnTo>
                  <a:lnTo>
                    <a:pt x="879910" y="1800161"/>
                  </a:lnTo>
                  <a:close/>
                </a:path>
                <a:path w="1511300" h="2842895">
                  <a:moveTo>
                    <a:pt x="910987" y="1730768"/>
                  </a:moveTo>
                  <a:lnTo>
                    <a:pt x="907241" y="1739480"/>
                  </a:lnTo>
                  <a:lnTo>
                    <a:pt x="895557" y="1765427"/>
                  </a:lnTo>
                  <a:lnTo>
                    <a:pt x="912930" y="1773250"/>
                  </a:lnTo>
                  <a:lnTo>
                    <a:pt x="924614" y="1747304"/>
                  </a:lnTo>
                  <a:lnTo>
                    <a:pt x="928488" y="1738287"/>
                  </a:lnTo>
                  <a:lnTo>
                    <a:pt x="910987" y="1730768"/>
                  </a:lnTo>
                  <a:close/>
                </a:path>
                <a:path w="1511300" h="2842895">
                  <a:moveTo>
                    <a:pt x="941048" y="1660753"/>
                  </a:moveTo>
                  <a:lnTo>
                    <a:pt x="926011" y="1695754"/>
                  </a:lnTo>
                  <a:lnTo>
                    <a:pt x="943512" y="1703273"/>
                  </a:lnTo>
                  <a:lnTo>
                    <a:pt x="958549" y="1668259"/>
                  </a:lnTo>
                  <a:lnTo>
                    <a:pt x="941048" y="1660753"/>
                  </a:lnTo>
                  <a:close/>
                </a:path>
                <a:path w="1511300" h="2842895">
                  <a:moveTo>
                    <a:pt x="970360" y="1590586"/>
                  </a:moveTo>
                  <a:lnTo>
                    <a:pt x="955894" y="1625828"/>
                  </a:lnTo>
                  <a:lnTo>
                    <a:pt x="973522" y="1633067"/>
                  </a:lnTo>
                  <a:lnTo>
                    <a:pt x="987974" y="1597812"/>
                  </a:lnTo>
                  <a:lnTo>
                    <a:pt x="970360" y="1590586"/>
                  </a:lnTo>
                  <a:close/>
                </a:path>
                <a:path w="1511300" h="2842895">
                  <a:moveTo>
                    <a:pt x="999201" y="1520202"/>
                  </a:moveTo>
                  <a:lnTo>
                    <a:pt x="998554" y="1521841"/>
                  </a:lnTo>
                  <a:lnTo>
                    <a:pt x="984812" y="1555330"/>
                  </a:lnTo>
                  <a:lnTo>
                    <a:pt x="1002440" y="1562557"/>
                  </a:lnTo>
                  <a:lnTo>
                    <a:pt x="1016181" y="1529080"/>
                  </a:lnTo>
                  <a:lnTo>
                    <a:pt x="1016930" y="1527175"/>
                  </a:lnTo>
                  <a:lnTo>
                    <a:pt x="999201" y="1520202"/>
                  </a:lnTo>
                  <a:close/>
                </a:path>
                <a:path w="1511300" h="2842895">
                  <a:moveTo>
                    <a:pt x="1027052" y="1449285"/>
                  </a:moveTo>
                  <a:lnTo>
                    <a:pt x="1013133" y="1484744"/>
                  </a:lnTo>
                  <a:lnTo>
                    <a:pt x="1030862" y="1491703"/>
                  </a:lnTo>
                  <a:lnTo>
                    <a:pt x="1044782" y="1456245"/>
                  </a:lnTo>
                  <a:lnTo>
                    <a:pt x="1027052" y="1449285"/>
                  </a:lnTo>
                  <a:close/>
                </a:path>
                <a:path w="1511300" h="2842895">
                  <a:moveTo>
                    <a:pt x="1054484" y="1378331"/>
                  </a:moveTo>
                  <a:lnTo>
                    <a:pt x="1044223" y="1405585"/>
                  </a:lnTo>
                  <a:lnTo>
                    <a:pt x="1040984" y="1413814"/>
                  </a:lnTo>
                  <a:lnTo>
                    <a:pt x="1058713" y="1420787"/>
                  </a:lnTo>
                  <a:lnTo>
                    <a:pt x="1061952" y="1412544"/>
                  </a:lnTo>
                  <a:lnTo>
                    <a:pt x="1072315" y="1385049"/>
                  </a:lnTo>
                  <a:lnTo>
                    <a:pt x="1054484" y="1378331"/>
                  </a:lnTo>
                  <a:close/>
                </a:path>
                <a:path w="1511300" h="2842895">
                  <a:moveTo>
                    <a:pt x="1081358" y="1307033"/>
                  </a:moveTo>
                  <a:lnTo>
                    <a:pt x="1067921" y="1342682"/>
                  </a:lnTo>
                  <a:lnTo>
                    <a:pt x="1085739" y="1349400"/>
                  </a:lnTo>
                  <a:lnTo>
                    <a:pt x="1099176" y="1313751"/>
                  </a:lnTo>
                  <a:lnTo>
                    <a:pt x="1081358" y="1307033"/>
                  </a:lnTo>
                  <a:close/>
                </a:path>
                <a:path w="1511300" h="2842895">
                  <a:moveTo>
                    <a:pt x="1107545" y="1235595"/>
                  </a:moveTo>
                  <a:lnTo>
                    <a:pt x="1094578" y="1271435"/>
                  </a:lnTo>
                  <a:lnTo>
                    <a:pt x="1112485" y="1277912"/>
                  </a:lnTo>
                  <a:lnTo>
                    <a:pt x="1125452" y="1242085"/>
                  </a:lnTo>
                  <a:lnTo>
                    <a:pt x="1107545" y="1235595"/>
                  </a:lnTo>
                  <a:close/>
                </a:path>
                <a:path w="1511300" h="2842895">
                  <a:moveTo>
                    <a:pt x="1133478" y="1163955"/>
                  </a:moveTo>
                  <a:lnTo>
                    <a:pt x="1120512" y="1199781"/>
                  </a:lnTo>
                  <a:lnTo>
                    <a:pt x="1138419" y="1206258"/>
                  </a:lnTo>
                  <a:lnTo>
                    <a:pt x="1151398" y="1170444"/>
                  </a:lnTo>
                  <a:lnTo>
                    <a:pt x="1133478" y="1163955"/>
                  </a:lnTo>
                  <a:close/>
                </a:path>
                <a:path w="1511300" h="2842895">
                  <a:moveTo>
                    <a:pt x="1158574" y="1092123"/>
                  </a:moveTo>
                  <a:lnTo>
                    <a:pt x="1146039" y="1128102"/>
                  </a:lnTo>
                  <a:lnTo>
                    <a:pt x="1164035" y="1134376"/>
                  </a:lnTo>
                  <a:lnTo>
                    <a:pt x="1176569" y="1098397"/>
                  </a:lnTo>
                  <a:lnTo>
                    <a:pt x="1158574" y="1092123"/>
                  </a:lnTo>
                  <a:close/>
                </a:path>
                <a:path w="1511300" h="2842895">
                  <a:moveTo>
                    <a:pt x="1183529" y="1020241"/>
                  </a:moveTo>
                  <a:lnTo>
                    <a:pt x="1181256" y="1027023"/>
                  </a:lnTo>
                  <a:lnTo>
                    <a:pt x="1171108" y="1056144"/>
                  </a:lnTo>
                  <a:lnTo>
                    <a:pt x="1189092" y="1062418"/>
                  </a:lnTo>
                  <a:lnTo>
                    <a:pt x="1199239" y="1033297"/>
                  </a:lnTo>
                  <a:lnTo>
                    <a:pt x="1201588" y="1026299"/>
                  </a:lnTo>
                  <a:lnTo>
                    <a:pt x="1183529" y="1020241"/>
                  </a:lnTo>
                  <a:close/>
                </a:path>
                <a:path w="1511300" h="2842895">
                  <a:moveTo>
                    <a:pt x="1207773" y="948004"/>
                  </a:moveTo>
                  <a:lnTo>
                    <a:pt x="1195658" y="984123"/>
                  </a:lnTo>
                  <a:lnTo>
                    <a:pt x="1213717" y="990193"/>
                  </a:lnTo>
                  <a:lnTo>
                    <a:pt x="1225833" y="954074"/>
                  </a:lnTo>
                  <a:lnTo>
                    <a:pt x="1207773" y="948004"/>
                  </a:lnTo>
                  <a:close/>
                </a:path>
                <a:path w="1511300" h="2842895">
                  <a:moveTo>
                    <a:pt x="1231827" y="875804"/>
                  </a:moveTo>
                  <a:lnTo>
                    <a:pt x="1226938" y="890917"/>
                  </a:lnTo>
                  <a:lnTo>
                    <a:pt x="1219902" y="911885"/>
                  </a:lnTo>
                  <a:lnTo>
                    <a:pt x="1237961" y="917943"/>
                  </a:lnTo>
                  <a:lnTo>
                    <a:pt x="1244997" y="896988"/>
                  </a:lnTo>
                  <a:lnTo>
                    <a:pt x="1249950" y="881684"/>
                  </a:lnTo>
                  <a:lnTo>
                    <a:pt x="1231827" y="875804"/>
                  </a:lnTo>
                  <a:close/>
                </a:path>
                <a:path w="1511300" h="2842895">
                  <a:moveTo>
                    <a:pt x="1255309" y="803313"/>
                  </a:moveTo>
                  <a:lnTo>
                    <a:pt x="1243575" y="839558"/>
                  </a:lnTo>
                  <a:lnTo>
                    <a:pt x="1261698" y="845439"/>
                  </a:lnTo>
                  <a:lnTo>
                    <a:pt x="1273432" y="809180"/>
                  </a:lnTo>
                  <a:lnTo>
                    <a:pt x="1255309" y="803313"/>
                  </a:lnTo>
                  <a:close/>
                </a:path>
                <a:path w="1511300" h="2842895">
                  <a:moveTo>
                    <a:pt x="1278576" y="730859"/>
                  </a:moveTo>
                  <a:lnTo>
                    <a:pt x="1272620" y="749858"/>
                  </a:lnTo>
                  <a:lnTo>
                    <a:pt x="1267057" y="767067"/>
                  </a:lnTo>
                  <a:lnTo>
                    <a:pt x="1285180" y="772934"/>
                  </a:lnTo>
                  <a:lnTo>
                    <a:pt x="1290755" y="755726"/>
                  </a:lnTo>
                  <a:lnTo>
                    <a:pt x="1296750" y="736536"/>
                  </a:lnTo>
                  <a:lnTo>
                    <a:pt x="1278576" y="730859"/>
                  </a:lnTo>
                  <a:close/>
                </a:path>
                <a:path w="1511300" h="2842895">
                  <a:moveTo>
                    <a:pt x="1301322" y="658126"/>
                  </a:moveTo>
                  <a:lnTo>
                    <a:pt x="1289942" y="694486"/>
                  </a:lnTo>
                  <a:lnTo>
                    <a:pt x="1308129" y="700176"/>
                  </a:lnTo>
                  <a:lnTo>
                    <a:pt x="1319508" y="663816"/>
                  </a:lnTo>
                  <a:lnTo>
                    <a:pt x="1301322" y="658126"/>
                  </a:lnTo>
                  <a:close/>
                </a:path>
                <a:path w="1511300" h="2842895">
                  <a:moveTo>
                    <a:pt x="1323889" y="585444"/>
                  </a:moveTo>
                  <a:lnTo>
                    <a:pt x="1318314" y="603834"/>
                  </a:lnTo>
                  <a:lnTo>
                    <a:pt x="1312701" y="621766"/>
                  </a:lnTo>
                  <a:lnTo>
                    <a:pt x="1330887" y="627456"/>
                  </a:lnTo>
                  <a:lnTo>
                    <a:pt x="1336501" y="609523"/>
                  </a:lnTo>
                  <a:lnTo>
                    <a:pt x="1342114" y="590956"/>
                  </a:lnTo>
                  <a:lnTo>
                    <a:pt x="1323889" y="585444"/>
                  </a:lnTo>
                  <a:close/>
                </a:path>
                <a:path w="1511300" h="2842895">
                  <a:moveTo>
                    <a:pt x="1345962" y="512508"/>
                  </a:moveTo>
                  <a:lnTo>
                    <a:pt x="1334913" y="548970"/>
                  </a:lnTo>
                  <a:lnTo>
                    <a:pt x="1353150" y="554494"/>
                  </a:lnTo>
                  <a:lnTo>
                    <a:pt x="1364187" y="518033"/>
                  </a:lnTo>
                  <a:lnTo>
                    <a:pt x="1345962" y="512508"/>
                  </a:lnTo>
                  <a:close/>
                </a:path>
                <a:path w="1511300" h="2842895">
                  <a:moveTo>
                    <a:pt x="1367895" y="439623"/>
                  </a:moveTo>
                  <a:lnTo>
                    <a:pt x="1364009" y="452856"/>
                  </a:lnTo>
                  <a:lnTo>
                    <a:pt x="1356998" y="476046"/>
                  </a:lnTo>
                  <a:lnTo>
                    <a:pt x="1375223" y="481558"/>
                  </a:lnTo>
                  <a:lnTo>
                    <a:pt x="1382246" y="458368"/>
                  </a:lnTo>
                  <a:lnTo>
                    <a:pt x="1386170" y="444982"/>
                  </a:lnTo>
                  <a:lnTo>
                    <a:pt x="1367895" y="439623"/>
                  </a:lnTo>
                  <a:close/>
                </a:path>
                <a:path w="1511300" h="2842895">
                  <a:moveTo>
                    <a:pt x="1389320" y="366496"/>
                  </a:moveTo>
                  <a:lnTo>
                    <a:pt x="1378601" y="403059"/>
                  </a:lnTo>
                  <a:lnTo>
                    <a:pt x="1396889" y="408419"/>
                  </a:lnTo>
                  <a:lnTo>
                    <a:pt x="1407595" y="371856"/>
                  </a:lnTo>
                  <a:lnTo>
                    <a:pt x="1389320" y="366496"/>
                  </a:lnTo>
                  <a:close/>
                </a:path>
                <a:path w="1511300" h="2842895">
                  <a:moveTo>
                    <a:pt x="1410694" y="293446"/>
                  </a:moveTo>
                  <a:lnTo>
                    <a:pt x="1409703" y="296913"/>
                  </a:lnTo>
                  <a:lnTo>
                    <a:pt x="1400026" y="329933"/>
                  </a:lnTo>
                  <a:lnTo>
                    <a:pt x="1418314" y="335292"/>
                  </a:lnTo>
                  <a:lnTo>
                    <a:pt x="1427991" y="302272"/>
                  </a:lnTo>
                  <a:lnTo>
                    <a:pt x="1429020" y="298640"/>
                  </a:lnTo>
                  <a:lnTo>
                    <a:pt x="1410694" y="293446"/>
                  </a:lnTo>
                  <a:close/>
                </a:path>
                <a:path w="1511300" h="2842895">
                  <a:moveTo>
                    <a:pt x="1431509" y="220141"/>
                  </a:moveTo>
                  <a:lnTo>
                    <a:pt x="1421108" y="256794"/>
                  </a:lnTo>
                  <a:lnTo>
                    <a:pt x="1439434" y="261988"/>
                  </a:lnTo>
                  <a:lnTo>
                    <a:pt x="1449835" y="225336"/>
                  </a:lnTo>
                  <a:lnTo>
                    <a:pt x="1431509" y="220141"/>
                  </a:lnTo>
                  <a:close/>
                </a:path>
                <a:path w="1511300" h="2842895">
                  <a:moveTo>
                    <a:pt x="1452337" y="146837"/>
                  </a:moveTo>
                  <a:lnTo>
                    <a:pt x="1441923" y="183489"/>
                  </a:lnTo>
                  <a:lnTo>
                    <a:pt x="1460249" y="188683"/>
                  </a:lnTo>
                  <a:lnTo>
                    <a:pt x="1470663" y="152044"/>
                  </a:lnTo>
                  <a:lnTo>
                    <a:pt x="1452337" y="146837"/>
                  </a:lnTo>
                  <a:close/>
                </a:path>
                <a:path w="1511300" h="2842895">
                  <a:moveTo>
                    <a:pt x="1472645" y="73469"/>
                  </a:moveTo>
                  <a:lnTo>
                    <a:pt x="1462523" y="110197"/>
                  </a:lnTo>
                  <a:lnTo>
                    <a:pt x="1480887" y="115265"/>
                  </a:lnTo>
                  <a:lnTo>
                    <a:pt x="1491009" y="78536"/>
                  </a:lnTo>
                  <a:lnTo>
                    <a:pt x="1472645" y="73469"/>
                  </a:lnTo>
                  <a:close/>
                </a:path>
                <a:path w="1511300" h="2842895">
                  <a:moveTo>
                    <a:pt x="1492876" y="0"/>
                  </a:moveTo>
                  <a:lnTo>
                    <a:pt x="1482754" y="36741"/>
                  </a:lnTo>
                  <a:lnTo>
                    <a:pt x="1501131" y="41795"/>
                  </a:lnTo>
                  <a:lnTo>
                    <a:pt x="1511240" y="5067"/>
                  </a:lnTo>
                  <a:lnTo>
                    <a:pt x="1492876" y="0"/>
                  </a:lnTo>
                  <a:close/>
                </a:path>
              </a:pathLst>
            </a:custGeom>
            <a:solidFill>
              <a:srgbClr val="4A546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4597400" y="2928137"/>
            <a:ext cx="13423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D69D2E"/>
                </a:solidFill>
                <a:latin typeface="Calibri"/>
                <a:cs typeface="Calibri"/>
              </a:rPr>
              <a:t>Merge</a:t>
            </a:r>
            <a:r>
              <a:rPr dirty="0" sz="1200" spc="-30" b="1">
                <a:solidFill>
                  <a:srgbClr val="D69D2E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D69D2E"/>
                </a:solidFill>
                <a:latin typeface="Calibri"/>
                <a:cs typeface="Calibri"/>
              </a:rPr>
              <a:t>Sort</a:t>
            </a:r>
            <a:r>
              <a:rPr dirty="0" sz="1200" spc="20" b="1">
                <a:solidFill>
                  <a:srgbClr val="D69D2E"/>
                </a:solidFill>
                <a:latin typeface="Calibri"/>
                <a:cs typeface="Calibri"/>
              </a:rPr>
              <a:t> </a:t>
            </a:r>
            <a:r>
              <a:rPr dirty="0" sz="1200" spc="60" b="1">
                <a:solidFill>
                  <a:srgbClr val="D69D2E"/>
                </a:solidFill>
                <a:latin typeface="Calibri"/>
                <a:cs typeface="Calibri"/>
              </a:rPr>
              <a:t>(All</a:t>
            </a:r>
            <a:r>
              <a:rPr dirty="0" sz="1200" spc="-25" b="1">
                <a:solidFill>
                  <a:srgbClr val="D69D2E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D69D2E"/>
                </a:solidFill>
                <a:latin typeface="Calibri"/>
                <a:cs typeface="Calibri"/>
              </a:rPr>
              <a:t>Case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082800" y="3259137"/>
            <a:ext cx="15119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Quick</a:t>
            </a:r>
            <a:r>
              <a:rPr dirty="0" sz="1200" spc="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Sort</a:t>
            </a:r>
            <a:r>
              <a:rPr dirty="0" sz="1200" spc="1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(Worst</a:t>
            </a:r>
            <a:r>
              <a:rPr dirty="0" sz="1200" spc="1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4A5467"/>
                </a:solidFill>
                <a:latin typeface="Calibri"/>
                <a:cs typeface="Calibri"/>
              </a:rPr>
              <a:t>Case)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535112" y="5774395"/>
            <a:ext cx="321818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40" i="1">
                <a:solidFill>
                  <a:srgbClr val="4A5467"/>
                </a:solidFill>
                <a:latin typeface="Calibri"/>
                <a:cs typeface="Calibri"/>
              </a:rPr>
              <a:t>Merge</a:t>
            </a:r>
            <a:r>
              <a:rPr dirty="0" sz="1050" spc="5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4A5467"/>
                </a:solidFill>
                <a:latin typeface="Calibri"/>
                <a:cs typeface="Calibri"/>
              </a:rPr>
              <a:t>Sort</a:t>
            </a:r>
            <a:r>
              <a:rPr dirty="0" sz="1050" spc="-20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25" i="1">
                <a:solidFill>
                  <a:srgbClr val="4A5467"/>
                </a:solidFill>
                <a:latin typeface="Calibri"/>
                <a:cs typeface="Calibri"/>
              </a:rPr>
              <a:t>maintains</a:t>
            </a:r>
            <a:r>
              <a:rPr dirty="0" sz="1050" spc="5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4A5467"/>
                </a:solidFill>
                <a:latin typeface="Calibri"/>
                <a:cs typeface="Calibri"/>
              </a:rPr>
              <a:t>O(n</a:t>
            </a:r>
            <a:r>
              <a:rPr dirty="0" sz="1050" spc="-35" i="1">
                <a:solidFill>
                  <a:srgbClr val="4A5467"/>
                </a:solidFill>
                <a:latin typeface="Calibri"/>
                <a:cs typeface="Calibri"/>
              </a:rPr>
              <a:t> log </a:t>
            </a:r>
            <a:r>
              <a:rPr dirty="0" sz="1050" i="1">
                <a:solidFill>
                  <a:srgbClr val="4A5467"/>
                </a:solidFill>
                <a:latin typeface="Calibri"/>
                <a:cs typeface="Calibri"/>
              </a:rPr>
              <a:t>n)</a:t>
            </a:r>
            <a:r>
              <a:rPr dirty="0" sz="1050" spc="-35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30" i="1">
                <a:solidFill>
                  <a:srgbClr val="4A5467"/>
                </a:solidFill>
                <a:latin typeface="Calibri"/>
                <a:cs typeface="Calibri"/>
              </a:rPr>
              <a:t>across</a:t>
            </a:r>
            <a:r>
              <a:rPr dirty="0" sz="1050" spc="5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35" i="1">
                <a:solidFill>
                  <a:srgbClr val="4A5467"/>
                </a:solidFill>
                <a:latin typeface="Calibri"/>
                <a:cs typeface="Calibri"/>
              </a:rPr>
              <a:t>all </a:t>
            </a:r>
            <a:r>
              <a:rPr dirty="0" sz="1050" spc="-10" i="1">
                <a:solidFill>
                  <a:srgbClr val="4A5467"/>
                </a:solidFill>
                <a:latin typeface="Calibri"/>
                <a:cs typeface="Calibri"/>
              </a:rPr>
              <a:t>input</a:t>
            </a:r>
            <a:r>
              <a:rPr dirty="0" sz="1050" spc="-20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4A5467"/>
                </a:solidFill>
                <a:latin typeface="Calibri"/>
                <a:cs typeface="Calibri"/>
              </a:rPr>
              <a:t>distributions.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286500" y="1295399"/>
            <a:ext cx="5524500" cy="1485900"/>
            <a:chOff x="6286500" y="1295399"/>
            <a:chExt cx="5524500" cy="1485900"/>
          </a:xfrm>
        </p:grpSpPr>
        <p:sp>
          <p:nvSpPr>
            <p:cNvPr id="39" name="object 39"/>
            <p:cNvSpPr/>
            <p:nvPr/>
          </p:nvSpPr>
          <p:spPr>
            <a:xfrm>
              <a:off x="6324600" y="1295399"/>
              <a:ext cx="5486400" cy="1485900"/>
            </a:xfrm>
            <a:custGeom>
              <a:avLst/>
              <a:gdLst/>
              <a:ahLst/>
              <a:cxnLst/>
              <a:rect l="l" t="t" r="r" b="b"/>
              <a:pathLst>
                <a:path w="5486400" h="1485900">
                  <a:moveTo>
                    <a:pt x="0" y="1485900"/>
                  </a:moveTo>
                  <a:lnTo>
                    <a:pt x="5486400" y="1485900"/>
                  </a:lnTo>
                  <a:lnTo>
                    <a:pt x="5486400" y="0"/>
                  </a:lnTo>
                  <a:lnTo>
                    <a:pt x="0" y="0"/>
                  </a:lnTo>
                  <a:lnTo>
                    <a:pt x="0" y="1485900"/>
                  </a:lnTo>
                  <a:close/>
                </a:path>
              </a:pathLst>
            </a:custGeom>
            <a:solidFill>
              <a:srgbClr val="D69D2E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286500" y="1295399"/>
              <a:ext cx="38100" cy="1485900"/>
            </a:xfrm>
            <a:custGeom>
              <a:avLst/>
              <a:gdLst/>
              <a:ahLst/>
              <a:cxnLst/>
              <a:rect l="l" t="t" r="r" b="b"/>
              <a:pathLst>
                <a:path w="38100" h="1485900">
                  <a:moveTo>
                    <a:pt x="38100" y="0"/>
                  </a:moveTo>
                  <a:lnTo>
                    <a:pt x="0" y="0"/>
                  </a:lnTo>
                  <a:lnTo>
                    <a:pt x="0" y="1485900"/>
                  </a:lnTo>
                  <a:lnTo>
                    <a:pt x="38100" y="14859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D69D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6324600" y="1377950"/>
            <a:ext cx="5486400" cy="1174115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189865">
              <a:lnSpc>
                <a:spcPct val="100000"/>
              </a:lnSpc>
              <a:spcBef>
                <a:spcPts val="850"/>
              </a:spcBef>
            </a:pPr>
            <a:r>
              <a:rPr dirty="0" sz="1500" b="1">
                <a:solidFill>
                  <a:srgbClr val="2D3748"/>
                </a:solidFill>
                <a:latin typeface="Calibri"/>
                <a:cs typeface="Calibri"/>
              </a:rPr>
              <a:t>Strategic</a:t>
            </a:r>
            <a:r>
              <a:rPr dirty="0" sz="1500" spc="-20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2D3748"/>
                </a:solidFill>
                <a:latin typeface="Calibri"/>
                <a:cs typeface="Calibri"/>
              </a:rPr>
              <a:t>Advantage</a:t>
            </a:r>
            <a:endParaRPr sz="1500">
              <a:latin typeface="Calibri"/>
              <a:cs typeface="Calibri"/>
            </a:endParaRPr>
          </a:p>
          <a:p>
            <a:pPr marL="189865" marR="318135">
              <a:lnSpc>
                <a:spcPct val="129600"/>
              </a:lnSpc>
              <a:spcBef>
                <a:spcPts val="195"/>
              </a:spcBef>
            </a:pP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Unlike</a:t>
            </a:r>
            <a:r>
              <a:rPr dirty="0" sz="1350" spc="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Quick</a:t>
            </a:r>
            <a:r>
              <a:rPr dirty="0" sz="1350" spc="2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Sort</a:t>
            </a:r>
            <a:r>
              <a:rPr dirty="0" sz="1350" spc="3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or</a:t>
            </a:r>
            <a:r>
              <a:rPr dirty="0" sz="1350" spc="2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Insertion</a:t>
            </a:r>
            <a:r>
              <a:rPr dirty="0" sz="1350" spc="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Sort,</a:t>
            </a:r>
            <a:r>
              <a:rPr dirty="0" sz="1350" spc="-20">
                <a:solidFill>
                  <a:srgbClr val="4A5467"/>
                </a:solidFill>
                <a:latin typeface="Calibri"/>
                <a:cs typeface="Calibri"/>
              </a:rPr>
              <a:t> Merge</a:t>
            </a:r>
            <a:r>
              <a:rPr dirty="0" sz="1350" spc="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Sort</a:t>
            </a:r>
            <a:r>
              <a:rPr dirty="0" sz="1350" spc="3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A5467"/>
                </a:solidFill>
                <a:latin typeface="Calibri"/>
                <a:cs typeface="Calibri"/>
              </a:rPr>
              <a:t>provides</a:t>
            </a:r>
            <a:r>
              <a:rPr dirty="0" sz="1350" spc="-2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105">
                <a:solidFill>
                  <a:srgbClr val="4A5467"/>
                </a:solidFill>
                <a:latin typeface="Calibri"/>
                <a:cs typeface="Calibri"/>
              </a:rPr>
              <a:t>a</a:t>
            </a:r>
            <a:r>
              <a:rPr dirty="0" sz="1350" spc="-4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30">
                <a:solidFill>
                  <a:srgbClr val="4A5467"/>
                </a:solidFill>
                <a:latin typeface="Calibri"/>
                <a:cs typeface="Calibri"/>
              </a:rPr>
              <a:t>**guaranteed upper</a:t>
            </a:r>
            <a:r>
              <a:rPr dirty="0" sz="1350" spc="-45">
                <a:solidFill>
                  <a:srgbClr val="4A5467"/>
                </a:solidFill>
                <a:latin typeface="Calibri"/>
                <a:cs typeface="Calibri"/>
              </a:rPr>
              <a:t> bound**,</a:t>
            </a:r>
            <a:r>
              <a:rPr dirty="0" sz="1350" spc="-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making</a:t>
            </a:r>
            <a:r>
              <a:rPr dirty="0" sz="1350" spc="-5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it</a:t>
            </a:r>
            <a:r>
              <a:rPr dirty="0" sz="1350" spc="1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35">
                <a:solidFill>
                  <a:srgbClr val="4A5467"/>
                </a:solidFill>
                <a:latin typeface="Calibri"/>
                <a:cs typeface="Calibri"/>
              </a:rPr>
              <a:t>the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A5467"/>
                </a:solidFill>
                <a:latin typeface="Calibri"/>
                <a:cs typeface="Calibri"/>
              </a:rPr>
              <a:t>primary</a:t>
            </a:r>
            <a:r>
              <a:rPr dirty="0" sz="1350" spc="-2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35">
                <a:solidFill>
                  <a:srgbClr val="4A5467"/>
                </a:solidFill>
                <a:latin typeface="Calibri"/>
                <a:cs typeface="Calibri"/>
              </a:rPr>
              <a:t>choice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 for</a:t>
            </a:r>
            <a:r>
              <a:rPr dirty="0" sz="1350" spc="-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50">
                <a:solidFill>
                  <a:srgbClr val="4A5467"/>
                </a:solidFill>
                <a:latin typeface="Calibri"/>
                <a:cs typeface="Calibri"/>
              </a:rPr>
              <a:t>systems</a:t>
            </a:r>
            <a:r>
              <a:rPr dirty="0" sz="1350" spc="-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A5467"/>
                </a:solidFill>
                <a:latin typeface="Calibri"/>
                <a:cs typeface="Calibri"/>
              </a:rPr>
              <a:t>requiring </a:t>
            </a:r>
            <a:r>
              <a:rPr dirty="0" sz="1350" spc="-40">
                <a:solidFill>
                  <a:srgbClr val="4A5467"/>
                </a:solidFill>
                <a:latin typeface="Calibri"/>
                <a:cs typeface="Calibri"/>
              </a:rPr>
              <a:t>predictable</a:t>
            </a:r>
            <a:r>
              <a:rPr dirty="0" sz="1350" spc="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A5467"/>
                </a:solidFill>
                <a:latin typeface="Calibri"/>
                <a:cs typeface="Calibri"/>
              </a:rPr>
              <a:t>latency.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286500" y="2933700"/>
            <a:ext cx="5524500" cy="1066800"/>
            <a:chOff x="6286500" y="2933700"/>
            <a:chExt cx="5524500" cy="1066800"/>
          </a:xfrm>
        </p:grpSpPr>
        <p:sp>
          <p:nvSpPr>
            <p:cNvPr id="43" name="object 43"/>
            <p:cNvSpPr/>
            <p:nvPr/>
          </p:nvSpPr>
          <p:spPr>
            <a:xfrm>
              <a:off x="6324600" y="2933700"/>
              <a:ext cx="5486400" cy="1066800"/>
            </a:xfrm>
            <a:custGeom>
              <a:avLst/>
              <a:gdLst/>
              <a:ahLst/>
              <a:cxnLst/>
              <a:rect l="l" t="t" r="r" b="b"/>
              <a:pathLst>
                <a:path w="5486400" h="1066800">
                  <a:moveTo>
                    <a:pt x="0" y="1066800"/>
                  </a:moveTo>
                  <a:lnTo>
                    <a:pt x="5486400" y="1066800"/>
                  </a:lnTo>
                  <a:lnTo>
                    <a:pt x="5486400" y="0"/>
                  </a:lnTo>
                  <a:lnTo>
                    <a:pt x="0" y="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4A5467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6286500" y="2933700"/>
              <a:ext cx="38100" cy="1066800"/>
            </a:xfrm>
            <a:custGeom>
              <a:avLst/>
              <a:gdLst/>
              <a:ahLst/>
              <a:cxnLst/>
              <a:rect l="l" t="t" r="r" b="b"/>
              <a:pathLst>
                <a:path w="38100" h="1066800">
                  <a:moveTo>
                    <a:pt x="38100" y="0"/>
                  </a:moveTo>
                  <a:lnTo>
                    <a:pt x="0" y="0"/>
                  </a:lnTo>
                  <a:lnTo>
                    <a:pt x="0" y="1066800"/>
                  </a:lnTo>
                  <a:lnTo>
                    <a:pt x="38100" y="10668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4A546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6999" y="3117850"/>
              <a:ext cx="190500" cy="193675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6324600" y="2978150"/>
            <a:ext cx="5486400" cy="83693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418465">
              <a:lnSpc>
                <a:spcPct val="100000"/>
              </a:lnSpc>
              <a:spcBef>
                <a:spcPts val="850"/>
              </a:spcBef>
            </a:pPr>
            <a:r>
              <a:rPr dirty="0" sz="1500" spc="-50" b="1">
                <a:solidFill>
                  <a:srgbClr val="2D3748"/>
                </a:solidFill>
                <a:latin typeface="Calibri"/>
                <a:cs typeface="Calibri"/>
              </a:rPr>
              <a:t>Best</a:t>
            </a:r>
            <a:r>
              <a:rPr dirty="0" sz="1500" spc="-15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500" spc="-60" b="1">
                <a:solidFill>
                  <a:srgbClr val="2D3748"/>
                </a:solidFill>
                <a:latin typeface="Calibri"/>
                <a:cs typeface="Calibri"/>
              </a:rPr>
              <a:t>Case:</a:t>
            </a:r>
            <a:r>
              <a:rPr dirty="0" sz="1500" spc="-5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500" spc="-20" b="1">
                <a:solidFill>
                  <a:srgbClr val="2D3748"/>
                </a:solidFill>
                <a:latin typeface="Times New Roman"/>
                <a:cs typeface="Times New Roman"/>
              </a:rPr>
              <a:t>Ω</a:t>
            </a:r>
            <a:r>
              <a:rPr dirty="0" sz="1500" spc="-20" b="1">
                <a:solidFill>
                  <a:srgbClr val="2D3748"/>
                </a:solidFill>
                <a:latin typeface="Calibri"/>
                <a:cs typeface="Calibri"/>
              </a:rPr>
              <a:t>(n</a:t>
            </a:r>
            <a:r>
              <a:rPr dirty="0" sz="1500" spc="-60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2D3748"/>
                </a:solidFill>
                <a:latin typeface="Calibri"/>
                <a:cs typeface="Calibri"/>
              </a:rPr>
              <a:t>log</a:t>
            </a:r>
            <a:r>
              <a:rPr dirty="0" sz="1500" spc="-50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500" spc="-25" b="1">
                <a:solidFill>
                  <a:srgbClr val="2D3748"/>
                </a:solidFill>
                <a:latin typeface="Calibri"/>
                <a:cs typeface="Calibri"/>
              </a:rPr>
              <a:t>n)</a:t>
            </a:r>
            <a:endParaRPr sz="1500">
              <a:latin typeface="Calibri"/>
              <a:cs typeface="Calibri"/>
            </a:endParaRPr>
          </a:p>
          <a:p>
            <a:pPr marL="151765" marR="385445">
              <a:lnSpc>
                <a:spcPct val="125000"/>
              </a:lnSpc>
              <a:spcBef>
                <a:spcPts val="240"/>
              </a:spcBef>
            </a:pPr>
            <a:r>
              <a:rPr dirty="0" sz="1200" spc="-20">
                <a:solidFill>
                  <a:srgbClr val="4A5467"/>
                </a:solidFill>
                <a:latin typeface="Calibri"/>
                <a:cs typeface="Calibri"/>
              </a:rPr>
              <a:t>Occurs</a:t>
            </a:r>
            <a:r>
              <a:rPr dirty="0" sz="1200" spc="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with</a:t>
            </a:r>
            <a:r>
              <a:rPr dirty="0" sz="1200" spc="-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4A5467"/>
                </a:solidFill>
                <a:latin typeface="Calibri"/>
                <a:cs typeface="Calibri"/>
              </a:rPr>
              <a:t>already </a:t>
            </a:r>
            <a:r>
              <a:rPr dirty="0" sz="1200" spc="-25">
                <a:solidFill>
                  <a:srgbClr val="4A5467"/>
                </a:solidFill>
                <a:latin typeface="Calibri"/>
                <a:cs typeface="Calibri"/>
              </a:rPr>
              <a:t>sorted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4A5467"/>
                </a:solidFill>
                <a:latin typeface="Calibri"/>
                <a:cs typeface="Calibri"/>
              </a:rPr>
              <a:t>data.</a:t>
            </a:r>
            <a:r>
              <a:rPr dirty="0" sz="1200" spc="1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While </a:t>
            </a:r>
            <a:r>
              <a:rPr dirty="0" sz="1200" spc="-20">
                <a:solidFill>
                  <a:srgbClr val="4A5467"/>
                </a:solidFill>
                <a:latin typeface="Calibri"/>
                <a:cs typeface="Calibri"/>
              </a:rPr>
              <a:t>other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 algorithms</a:t>
            </a:r>
            <a:r>
              <a:rPr dirty="0" sz="1200" spc="1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might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30">
                <a:solidFill>
                  <a:srgbClr val="4A5467"/>
                </a:solidFill>
                <a:latin typeface="Calibri"/>
                <a:cs typeface="Calibri"/>
              </a:rPr>
              <a:t>reach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O(n), 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Merge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Sort's</a:t>
            </a:r>
            <a:r>
              <a:rPr dirty="0" sz="1200" spc="-20">
                <a:solidFill>
                  <a:srgbClr val="4A5467"/>
                </a:solidFill>
                <a:latin typeface="Calibri"/>
                <a:cs typeface="Calibri"/>
              </a:rPr>
              <a:t> structural</a:t>
            </a:r>
            <a:r>
              <a:rPr dirty="0" sz="1200" spc="-3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4A5467"/>
                </a:solidFill>
                <a:latin typeface="Calibri"/>
                <a:cs typeface="Calibri"/>
              </a:rPr>
              <a:t>overhead 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remains</a:t>
            </a:r>
            <a:r>
              <a:rPr dirty="0" sz="120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35">
                <a:solidFill>
                  <a:srgbClr val="4A5467"/>
                </a:solidFill>
                <a:latin typeface="Calibri"/>
                <a:cs typeface="Calibri"/>
              </a:rPr>
              <a:t>constant</a:t>
            </a:r>
            <a:r>
              <a:rPr dirty="0" sz="1200" spc="-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35">
                <a:solidFill>
                  <a:srgbClr val="4A5467"/>
                </a:solidFill>
                <a:latin typeface="Calibri"/>
                <a:cs typeface="Calibri"/>
              </a:rPr>
              <a:t>due</a:t>
            </a:r>
            <a:r>
              <a:rPr dirty="0" sz="1200" spc="-2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to</a:t>
            </a:r>
            <a:r>
              <a:rPr dirty="0" sz="1200" spc="-3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its</a:t>
            </a:r>
            <a:r>
              <a:rPr dirty="0" sz="120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recursive</a:t>
            </a:r>
            <a:r>
              <a:rPr dirty="0" sz="1200" spc="-2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nature.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286500" y="4152900"/>
            <a:ext cx="5524500" cy="1066800"/>
            <a:chOff x="6286500" y="4152900"/>
            <a:chExt cx="5524500" cy="1066800"/>
          </a:xfrm>
        </p:grpSpPr>
        <p:sp>
          <p:nvSpPr>
            <p:cNvPr id="48" name="object 48"/>
            <p:cNvSpPr/>
            <p:nvPr/>
          </p:nvSpPr>
          <p:spPr>
            <a:xfrm>
              <a:off x="6324600" y="4152900"/>
              <a:ext cx="5486400" cy="1066800"/>
            </a:xfrm>
            <a:custGeom>
              <a:avLst/>
              <a:gdLst/>
              <a:ahLst/>
              <a:cxnLst/>
              <a:rect l="l" t="t" r="r" b="b"/>
              <a:pathLst>
                <a:path w="5486400" h="1066800">
                  <a:moveTo>
                    <a:pt x="0" y="1066800"/>
                  </a:moveTo>
                  <a:lnTo>
                    <a:pt x="5486400" y="1066800"/>
                  </a:lnTo>
                  <a:lnTo>
                    <a:pt x="5486400" y="0"/>
                  </a:lnTo>
                  <a:lnTo>
                    <a:pt x="0" y="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6E7595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6286500" y="4152900"/>
              <a:ext cx="38100" cy="1066800"/>
            </a:xfrm>
            <a:custGeom>
              <a:avLst/>
              <a:gdLst/>
              <a:ahLst/>
              <a:cxnLst/>
              <a:rect l="l" t="t" r="r" b="b"/>
              <a:pathLst>
                <a:path w="38100" h="1066800">
                  <a:moveTo>
                    <a:pt x="38100" y="0"/>
                  </a:moveTo>
                  <a:lnTo>
                    <a:pt x="0" y="0"/>
                  </a:lnTo>
                  <a:lnTo>
                    <a:pt x="0" y="1066800"/>
                  </a:lnTo>
                  <a:lnTo>
                    <a:pt x="38100" y="10668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6E759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6999" y="4343400"/>
              <a:ext cx="193675" cy="180975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6324600" y="4197350"/>
            <a:ext cx="5486400" cy="83693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418465">
              <a:lnSpc>
                <a:spcPct val="100000"/>
              </a:lnSpc>
              <a:spcBef>
                <a:spcPts val="850"/>
              </a:spcBef>
            </a:pPr>
            <a:r>
              <a:rPr dirty="0" sz="1500" b="1">
                <a:solidFill>
                  <a:srgbClr val="2D3748"/>
                </a:solidFill>
                <a:latin typeface="Calibri"/>
                <a:cs typeface="Calibri"/>
              </a:rPr>
              <a:t>Average</a:t>
            </a:r>
            <a:r>
              <a:rPr dirty="0" sz="1500" spc="-25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500" spc="-60" b="1">
                <a:solidFill>
                  <a:srgbClr val="2D3748"/>
                </a:solidFill>
                <a:latin typeface="Calibri"/>
                <a:cs typeface="Calibri"/>
              </a:rPr>
              <a:t>Case:</a:t>
            </a:r>
            <a:r>
              <a:rPr dirty="0" sz="1500" spc="-20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500" spc="-20" b="1">
                <a:solidFill>
                  <a:srgbClr val="2D3748"/>
                </a:solidFill>
                <a:latin typeface="Times New Roman"/>
                <a:cs typeface="Times New Roman"/>
              </a:rPr>
              <a:t>Θ</a:t>
            </a:r>
            <a:r>
              <a:rPr dirty="0" sz="1500" spc="-20" b="1">
                <a:solidFill>
                  <a:srgbClr val="2D3748"/>
                </a:solidFill>
                <a:latin typeface="Calibri"/>
                <a:cs typeface="Calibri"/>
              </a:rPr>
              <a:t>(n</a:t>
            </a:r>
            <a:r>
              <a:rPr dirty="0" sz="1500" spc="-70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2D3748"/>
                </a:solidFill>
                <a:latin typeface="Calibri"/>
                <a:cs typeface="Calibri"/>
              </a:rPr>
              <a:t>log</a:t>
            </a:r>
            <a:r>
              <a:rPr dirty="0" sz="1500" spc="-75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500" spc="-25" b="1">
                <a:solidFill>
                  <a:srgbClr val="2D3748"/>
                </a:solidFill>
                <a:latin typeface="Calibri"/>
                <a:cs typeface="Calibri"/>
              </a:rPr>
              <a:t>n)</a:t>
            </a:r>
            <a:endParaRPr sz="1500">
              <a:latin typeface="Calibri"/>
              <a:cs typeface="Calibri"/>
            </a:endParaRPr>
          </a:p>
          <a:p>
            <a:pPr marL="151765" marR="149225">
              <a:lnSpc>
                <a:spcPct val="125000"/>
              </a:lnSpc>
              <a:spcBef>
                <a:spcPts val="240"/>
              </a:spcBef>
            </a:pP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The</a:t>
            </a:r>
            <a:r>
              <a:rPr dirty="0" sz="1200" spc="1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4A5467"/>
                </a:solidFill>
                <a:latin typeface="Calibri"/>
                <a:cs typeface="Calibri"/>
              </a:rPr>
              <a:t>standard</a:t>
            </a:r>
            <a:r>
              <a:rPr dirty="0" sz="1200" spc="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40">
                <a:solidFill>
                  <a:srgbClr val="4A5467"/>
                </a:solidFill>
                <a:latin typeface="Calibri"/>
                <a:cs typeface="Calibri"/>
              </a:rPr>
              <a:t>expectation</a:t>
            </a:r>
            <a:r>
              <a:rPr dirty="0" sz="1200" spc="-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for</a:t>
            </a:r>
            <a:r>
              <a:rPr dirty="0" sz="1200" spc="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random</a:t>
            </a:r>
            <a:r>
              <a:rPr dirty="0" sz="1200" spc="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4A5467"/>
                </a:solidFill>
                <a:latin typeface="Calibri"/>
                <a:cs typeface="Calibri"/>
              </a:rPr>
              <a:t>data.</a:t>
            </a:r>
            <a:r>
              <a:rPr dirty="0" sz="1200" spc="2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The</a:t>
            </a:r>
            <a:r>
              <a:rPr dirty="0" sz="1200" spc="2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algorithm</a:t>
            </a:r>
            <a:r>
              <a:rPr dirty="0" sz="1200" spc="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30">
                <a:solidFill>
                  <a:srgbClr val="4A5467"/>
                </a:solidFill>
                <a:latin typeface="Calibri"/>
                <a:cs typeface="Calibri"/>
              </a:rPr>
              <a:t>consistently</a:t>
            </a:r>
            <a:r>
              <a:rPr dirty="0" sz="1200" spc="-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performs</a:t>
            </a:r>
            <a:r>
              <a:rPr dirty="0" sz="1200" spc="2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log</a:t>
            </a:r>
            <a:r>
              <a:rPr dirty="0" sz="1200" spc="-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50">
                <a:solidFill>
                  <a:srgbClr val="4A5467"/>
                </a:solidFill>
                <a:latin typeface="Calibri"/>
                <a:cs typeface="Calibri"/>
              </a:rPr>
              <a:t>n 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levels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 of work with</a:t>
            </a:r>
            <a:r>
              <a:rPr dirty="0" sz="1200" spc="-4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n</a:t>
            </a:r>
            <a:r>
              <a:rPr dirty="0" sz="1200" spc="-5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4A5467"/>
                </a:solidFill>
                <a:latin typeface="Calibri"/>
                <a:cs typeface="Calibri"/>
              </a:rPr>
              <a:t>comparisons</a:t>
            </a:r>
            <a:r>
              <a:rPr dirty="0" sz="1200" spc="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per</a:t>
            </a:r>
            <a:r>
              <a:rPr dirty="0" sz="1200" spc="-2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level.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286500" y="5372100"/>
            <a:ext cx="5524500" cy="1066800"/>
            <a:chOff x="6286500" y="5372100"/>
            <a:chExt cx="5524500" cy="1066800"/>
          </a:xfrm>
        </p:grpSpPr>
        <p:sp>
          <p:nvSpPr>
            <p:cNvPr id="53" name="object 53"/>
            <p:cNvSpPr/>
            <p:nvPr/>
          </p:nvSpPr>
          <p:spPr>
            <a:xfrm>
              <a:off x="6324600" y="5372100"/>
              <a:ext cx="5486400" cy="1066800"/>
            </a:xfrm>
            <a:custGeom>
              <a:avLst/>
              <a:gdLst/>
              <a:ahLst/>
              <a:cxnLst/>
              <a:rect l="l" t="t" r="r" b="b"/>
              <a:pathLst>
                <a:path w="5486400" h="1066800">
                  <a:moveTo>
                    <a:pt x="0" y="1066800"/>
                  </a:moveTo>
                  <a:lnTo>
                    <a:pt x="5486400" y="1066800"/>
                  </a:lnTo>
                  <a:lnTo>
                    <a:pt x="5486400" y="0"/>
                  </a:lnTo>
                  <a:lnTo>
                    <a:pt x="0" y="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D69D2E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6286500" y="5372100"/>
              <a:ext cx="38100" cy="1066800"/>
            </a:xfrm>
            <a:custGeom>
              <a:avLst/>
              <a:gdLst/>
              <a:ahLst/>
              <a:cxnLst/>
              <a:rect l="l" t="t" r="r" b="b"/>
              <a:pathLst>
                <a:path w="38100" h="1066800">
                  <a:moveTo>
                    <a:pt x="38100" y="0"/>
                  </a:moveTo>
                  <a:lnTo>
                    <a:pt x="0" y="0"/>
                  </a:lnTo>
                  <a:lnTo>
                    <a:pt x="0" y="1066800"/>
                  </a:lnTo>
                  <a:lnTo>
                    <a:pt x="38100" y="10668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D69D2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73824" y="5568950"/>
              <a:ext cx="196850" cy="168275"/>
            </a:xfrm>
            <a:prstGeom prst="rect">
              <a:avLst/>
            </a:prstGeom>
          </p:spPr>
        </p:pic>
      </p:grpSp>
      <p:sp>
        <p:nvSpPr>
          <p:cNvPr id="56" name="object 56"/>
          <p:cNvSpPr txBox="1"/>
          <p:nvPr/>
        </p:nvSpPr>
        <p:spPr>
          <a:xfrm>
            <a:off x="6324600" y="5416550"/>
            <a:ext cx="5486400" cy="83693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418465">
              <a:lnSpc>
                <a:spcPct val="100000"/>
              </a:lnSpc>
              <a:spcBef>
                <a:spcPts val="850"/>
              </a:spcBef>
            </a:pPr>
            <a:r>
              <a:rPr dirty="0" sz="1500" b="1">
                <a:solidFill>
                  <a:srgbClr val="2D3748"/>
                </a:solidFill>
                <a:latin typeface="Calibri"/>
                <a:cs typeface="Calibri"/>
              </a:rPr>
              <a:t>Worst</a:t>
            </a:r>
            <a:r>
              <a:rPr dirty="0" sz="1500" spc="-35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500" spc="-60" b="1">
                <a:solidFill>
                  <a:srgbClr val="2D3748"/>
                </a:solidFill>
                <a:latin typeface="Calibri"/>
                <a:cs typeface="Calibri"/>
              </a:rPr>
              <a:t>Case:</a:t>
            </a:r>
            <a:r>
              <a:rPr dirty="0" sz="1500" spc="-20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2D3748"/>
                </a:solidFill>
                <a:latin typeface="Calibri"/>
                <a:cs typeface="Calibri"/>
              </a:rPr>
              <a:t>O(n</a:t>
            </a:r>
            <a:r>
              <a:rPr dirty="0" sz="1500" spc="-70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2D3748"/>
                </a:solidFill>
                <a:latin typeface="Calibri"/>
                <a:cs typeface="Calibri"/>
              </a:rPr>
              <a:t>log</a:t>
            </a:r>
            <a:r>
              <a:rPr dirty="0" sz="1500" spc="-65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500" spc="-35" b="1">
                <a:solidFill>
                  <a:srgbClr val="2D3748"/>
                </a:solidFill>
                <a:latin typeface="Calibri"/>
                <a:cs typeface="Calibri"/>
              </a:rPr>
              <a:t>n)</a:t>
            </a:r>
            <a:endParaRPr sz="1500">
              <a:latin typeface="Calibri"/>
              <a:cs typeface="Calibri"/>
            </a:endParaRPr>
          </a:p>
          <a:p>
            <a:pPr marL="151765" marR="389255">
              <a:lnSpc>
                <a:spcPct val="125000"/>
              </a:lnSpc>
              <a:spcBef>
                <a:spcPts val="240"/>
              </a:spcBef>
            </a:pP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Even</a:t>
            </a:r>
            <a:r>
              <a:rPr dirty="0" sz="1200" spc="-5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with</a:t>
            </a:r>
            <a:r>
              <a:rPr dirty="0" sz="1200" spc="-4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adversarial</a:t>
            </a:r>
            <a:r>
              <a:rPr dirty="0" sz="120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or</a:t>
            </a:r>
            <a:r>
              <a:rPr dirty="0" sz="120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4A5467"/>
                </a:solidFill>
                <a:latin typeface="Calibri"/>
                <a:cs typeface="Calibri"/>
              </a:rPr>
              <a:t>reversed</a:t>
            </a:r>
            <a:r>
              <a:rPr dirty="0" sz="1200" spc="-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inputs,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4A5467"/>
                </a:solidFill>
                <a:latin typeface="Calibri"/>
                <a:cs typeface="Calibri"/>
              </a:rPr>
              <a:t>Merge</a:t>
            </a:r>
            <a:r>
              <a:rPr dirty="0" sz="1200" spc="-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Sort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 never</a:t>
            </a:r>
            <a:r>
              <a:rPr dirty="0" sz="120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35">
                <a:solidFill>
                  <a:srgbClr val="4A5467"/>
                </a:solidFill>
                <a:latin typeface="Calibri"/>
                <a:cs typeface="Calibri"/>
              </a:rPr>
              <a:t>degrades</a:t>
            </a:r>
            <a:r>
              <a:rPr dirty="0" sz="1200" spc="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to</a:t>
            </a:r>
            <a:r>
              <a:rPr dirty="0" sz="120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quadratic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time,</a:t>
            </a:r>
            <a:r>
              <a:rPr dirty="0" sz="1200" spc="-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providing</a:t>
            </a:r>
            <a:r>
              <a:rPr dirty="0" sz="1200" spc="-4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critical </a:t>
            </a:r>
            <a:r>
              <a:rPr dirty="0" sz="1200" spc="-30">
                <a:solidFill>
                  <a:srgbClr val="4A5467"/>
                </a:solidFill>
                <a:latin typeface="Calibri"/>
                <a:cs typeface="Calibri"/>
              </a:rPr>
              <a:t>protection</a:t>
            </a:r>
            <a:r>
              <a:rPr dirty="0" sz="1200" spc="-4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4A5467"/>
                </a:solidFill>
                <a:latin typeface="Calibri"/>
                <a:cs typeface="Calibri"/>
              </a:rPr>
              <a:t>against</a:t>
            </a:r>
            <a:r>
              <a:rPr dirty="0" sz="1200" spc="-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30">
                <a:solidFill>
                  <a:srgbClr val="4A5467"/>
                </a:solidFill>
                <a:latin typeface="Calibri"/>
                <a:cs typeface="Calibri"/>
              </a:rPr>
              <a:t>performance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spikes.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81000" y="838199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914400" y="0"/>
                </a:moveTo>
                <a:lnTo>
                  <a:pt x="0" y="0"/>
                </a:lnTo>
                <a:lnTo>
                  <a:pt x="0" y="38100"/>
                </a:lnTo>
                <a:lnTo>
                  <a:pt x="914400" y="38100"/>
                </a:lnTo>
                <a:lnTo>
                  <a:pt x="914400" y="0"/>
                </a:lnTo>
                <a:close/>
              </a:path>
            </a:pathLst>
          </a:custGeom>
          <a:solidFill>
            <a:srgbClr val="D69D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68300" y="311161"/>
            <a:ext cx="7461884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210"/>
              <a:t>Space</a:t>
            </a:r>
            <a:r>
              <a:rPr dirty="0" sz="3000" spc="-300"/>
              <a:t> </a:t>
            </a:r>
            <a:r>
              <a:rPr dirty="0" sz="3000" spc="-235"/>
              <a:t>Complexity</a:t>
            </a:r>
            <a:r>
              <a:rPr dirty="0" sz="3000" spc="-470"/>
              <a:t> </a:t>
            </a:r>
            <a:r>
              <a:rPr dirty="0" sz="3000" spc="-225"/>
              <a:t>and</a:t>
            </a:r>
            <a:r>
              <a:rPr dirty="0" sz="3000" spc="-420"/>
              <a:t> </a:t>
            </a:r>
            <a:r>
              <a:rPr dirty="0" sz="3000" spc="-165"/>
              <a:t>Architectural</a:t>
            </a:r>
            <a:r>
              <a:rPr dirty="0" sz="3000" spc="-385"/>
              <a:t> </a:t>
            </a:r>
            <a:r>
              <a:rPr dirty="0" sz="3000" spc="-235"/>
              <a:t>Trade-</a:t>
            </a:r>
            <a:r>
              <a:rPr dirty="0" sz="3000" spc="-55"/>
              <a:t>oks</a:t>
            </a:r>
            <a:endParaRPr sz="3000"/>
          </a:p>
        </p:txBody>
      </p:sp>
      <p:grpSp>
        <p:nvGrpSpPr>
          <p:cNvPr id="5" name="object 5"/>
          <p:cNvGrpSpPr/>
          <p:nvPr/>
        </p:nvGrpSpPr>
        <p:grpSpPr>
          <a:xfrm>
            <a:off x="381000" y="1390649"/>
            <a:ext cx="5562600" cy="1638300"/>
            <a:chOff x="381000" y="1390649"/>
            <a:chExt cx="5562600" cy="1638300"/>
          </a:xfrm>
        </p:grpSpPr>
        <p:sp>
          <p:nvSpPr>
            <p:cNvPr id="6" name="object 6"/>
            <p:cNvSpPr/>
            <p:nvPr/>
          </p:nvSpPr>
          <p:spPr>
            <a:xfrm>
              <a:off x="419100" y="1390649"/>
              <a:ext cx="5524500" cy="1638300"/>
            </a:xfrm>
            <a:custGeom>
              <a:avLst/>
              <a:gdLst/>
              <a:ahLst/>
              <a:cxnLst/>
              <a:rect l="l" t="t" r="r" b="b"/>
              <a:pathLst>
                <a:path w="5524500" h="1638300">
                  <a:moveTo>
                    <a:pt x="0" y="1638300"/>
                  </a:moveTo>
                  <a:lnTo>
                    <a:pt x="5524500" y="1638300"/>
                  </a:lnTo>
                  <a:lnTo>
                    <a:pt x="5524500" y="0"/>
                  </a:lnTo>
                  <a:lnTo>
                    <a:pt x="0" y="0"/>
                  </a:lnTo>
                  <a:lnTo>
                    <a:pt x="0" y="1638300"/>
                  </a:lnTo>
                  <a:close/>
                </a:path>
              </a:pathLst>
            </a:custGeom>
            <a:solidFill>
              <a:srgbClr val="D69D2E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81000" y="1390649"/>
              <a:ext cx="38100" cy="1638300"/>
            </a:xfrm>
            <a:custGeom>
              <a:avLst/>
              <a:gdLst/>
              <a:ahLst/>
              <a:cxnLst/>
              <a:rect l="l" t="t" r="r" b="b"/>
              <a:pathLst>
                <a:path w="38100" h="1638300">
                  <a:moveTo>
                    <a:pt x="38100" y="0"/>
                  </a:moveTo>
                  <a:lnTo>
                    <a:pt x="0" y="0"/>
                  </a:lnTo>
                  <a:lnTo>
                    <a:pt x="0" y="1638300"/>
                  </a:lnTo>
                  <a:lnTo>
                    <a:pt x="38100" y="16383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D69D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428625" y="37433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4A54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28625" y="40862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4A54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28625" y="44291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4A546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" name="object 11"/>
          <p:cNvGrpSpPr/>
          <p:nvPr/>
        </p:nvGrpSpPr>
        <p:grpSpPr>
          <a:xfrm>
            <a:off x="381000" y="4819650"/>
            <a:ext cx="5562600" cy="1371600"/>
            <a:chOff x="381000" y="4819650"/>
            <a:chExt cx="5562600" cy="1371600"/>
          </a:xfrm>
        </p:grpSpPr>
        <p:sp>
          <p:nvSpPr>
            <p:cNvPr id="12" name="object 12"/>
            <p:cNvSpPr/>
            <p:nvPr/>
          </p:nvSpPr>
          <p:spPr>
            <a:xfrm>
              <a:off x="419100" y="4819650"/>
              <a:ext cx="5524500" cy="1371600"/>
            </a:xfrm>
            <a:custGeom>
              <a:avLst/>
              <a:gdLst/>
              <a:ahLst/>
              <a:cxnLst/>
              <a:rect l="l" t="t" r="r" b="b"/>
              <a:pathLst>
                <a:path w="5524500" h="1371600">
                  <a:moveTo>
                    <a:pt x="0" y="1371600"/>
                  </a:moveTo>
                  <a:lnTo>
                    <a:pt x="5524500" y="1371600"/>
                  </a:lnTo>
                  <a:lnTo>
                    <a:pt x="5524500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D69D2E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81000" y="4819650"/>
              <a:ext cx="38100" cy="1371600"/>
            </a:xfrm>
            <a:custGeom>
              <a:avLst/>
              <a:gdLst/>
              <a:ahLst/>
              <a:cxnLst/>
              <a:rect l="l" t="t" r="r" b="b"/>
              <a:pathLst>
                <a:path w="38100" h="1371600">
                  <a:moveTo>
                    <a:pt x="38100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38100" y="13716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D69D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368300" y="1457578"/>
            <a:ext cx="5575300" cy="4479925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marL="279400">
              <a:lnSpc>
                <a:spcPct val="100000"/>
              </a:lnSpc>
              <a:spcBef>
                <a:spcPts val="1195"/>
              </a:spcBef>
            </a:pPr>
            <a:r>
              <a:rPr dirty="0" sz="1800" spc="70" b="1">
                <a:solidFill>
                  <a:srgbClr val="2D3748"/>
                </a:solidFill>
                <a:latin typeface="Calibri"/>
                <a:cs typeface="Calibri"/>
              </a:rPr>
              <a:t>Auxiliary</a:t>
            </a:r>
            <a:r>
              <a:rPr dirty="0" sz="1800" spc="-30" b="1">
                <a:solidFill>
                  <a:srgbClr val="2D3748"/>
                </a:solidFill>
                <a:latin typeface="Calibri"/>
                <a:cs typeface="Calibri"/>
              </a:rPr>
              <a:t> Space</a:t>
            </a:r>
            <a:r>
              <a:rPr dirty="0" sz="1800" spc="-45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D3748"/>
                </a:solidFill>
                <a:latin typeface="Calibri"/>
                <a:cs typeface="Calibri"/>
              </a:rPr>
              <a:t>Requirements</a:t>
            </a:r>
            <a:endParaRPr sz="1800">
              <a:latin typeface="Calibri"/>
              <a:cs typeface="Calibri"/>
            </a:endParaRPr>
          </a:p>
          <a:p>
            <a:pPr marL="279400" marR="461009">
              <a:lnSpc>
                <a:spcPct val="116700"/>
              </a:lnSpc>
              <a:spcBef>
                <a:spcPts val="615"/>
              </a:spcBef>
            </a:pPr>
            <a:r>
              <a:rPr dirty="0" sz="1500" spc="-55">
                <a:solidFill>
                  <a:srgbClr val="4A5467"/>
                </a:solidFill>
                <a:latin typeface="Calibri"/>
                <a:cs typeface="Calibri"/>
              </a:rPr>
              <a:t>Merge</a:t>
            </a:r>
            <a:r>
              <a:rPr dirty="0" sz="1500" spc="-6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Sort</a:t>
            </a:r>
            <a:r>
              <a:rPr dirty="0" sz="1500" spc="-3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4A5467"/>
                </a:solidFill>
                <a:latin typeface="Calibri"/>
                <a:cs typeface="Calibri"/>
              </a:rPr>
              <a:t>requires</a:t>
            </a:r>
            <a:r>
              <a:rPr dirty="0" sz="1500" spc="-2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35">
                <a:solidFill>
                  <a:srgbClr val="4A5467"/>
                </a:solidFill>
                <a:latin typeface="Calibri"/>
                <a:cs typeface="Calibri"/>
              </a:rPr>
              <a:t>**O(n)**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4A5467"/>
                </a:solidFill>
                <a:latin typeface="Calibri"/>
                <a:cs typeface="Calibri"/>
              </a:rPr>
              <a:t>additional </a:t>
            </a:r>
            <a:r>
              <a:rPr dirty="0" sz="1500" spc="-85">
                <a:solidFill>
                  <a:srgbClr val="4A5467"/>
                </a:solidFill>
                <a:latin typeface="Calibri"/>
                <a:cs typeface="Calibri"/>
              </a:rPr>
              <a:t>space</a:t>
            </a:r>
            <a:r>
              <a:rPr dirty="0" sz="1500" spc="-5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60">
                <a:solidFill>
                  <a:srgbClr val="4A5467"/>
                </a:solidFill>
                <a:latin typeface="Calibri"/>
                <a:cs typeface="Calibri"/>
              </a:rPr>
              <a:t>to</a:t>
            </a:r>
            <a:r>
              <a:rPr dirty="0" sz="1500" spc="-2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4A5467"/>
                </a:solidFill>
                <a:latin typeface="Calibri"/>
                <a:cs typeface="Calibri"/>
              </a:rPr>
              <a:t>store</a:t>
            </a:r>
            <a:r>
              <a:rPr dirty="0" sz="1500" spc="-5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4A5467"/>
                </a:solidFill>
                <a:latin typeface="Calibri"/>
                <a:cs typeface="Calibri"/>
              </a:rPr>
              <a:t>temporary </a:t>
            </a:r>
            <a:r>
              <a:rPr dirty="0" sz="1500" spc="-35">
                <a:solidFill>
                  <a:srgbClr val="4A5467"/>
                </a:solidFill>
                <a:latin typeface="Calibri"/>
                <a:cs typeface="Calibri"/>
              </a:rPr>
              <a:t>sub-</a:t>
            </a:r>
            <a:r>
              <a:rPr dirty="0" sz="1500" spc="-55">
                <a:solidFill>
                  <a:srgbClr val="4A5467"/>
                </a:solidFill>
                <a:latin typeface="Calibri"/>
                <a:cs typeface="Calibri"/>
              </a:rPr>
              <a:t>arrays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 during</a:t>
            </a:r>
            <a:r>
              <a:rPr dirty="0" sz="150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4A5467"/>
                </a:solidFill>
                <a:latin typeface="Calibri"/>
                <a:cs typeface="Calibri"/>
              </a:rPr>
              <a:t>the</a:t>
            </a:r>
            <a:r>
              <a:rPr dirty="0" sz="1500" spc="-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4A5467"/>
                </a:solidFill>
                <a:latin typeface="Calibri"/>
                <a:cs typeface="Calibri"/>
              </a:rPr>
              <a:t>merge</a:t>
            </a:r>
            <a:r>
              <a:rPr dirty="0" sz="1500" spc="-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4A5467"/>
                </a:solidFill>
                <a:latin typeface="Calibri"/>
                <a:cs typeface="Calibri"/>
              </a:rPr>
              <a:t>phase,</a:t>
            </a:r>
            <a:r>
              <a:rPr dirty="0" sz="1500" spc="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making</a:t>
            </a:r>
            <a:r>
              <a:rPr dirty="0" sz="1500" spc="-2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it</a:t>
            </a:r>
            <a:r>
              <a:rPr dirty="0" sz="1500" spc="-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4A5467"/>
                </a:solidFill>
                <a:latin typeface="Calibri"/>
                <a:cs typeface="Calibri"/>
              </a:rPr>
              <a:t>a</a:t>
            </a:r>
            <a:r>
              <a:rPr dirty="0" sz="1500" spc="-2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non-</a:t>
            </a:r>
            <a:r>
              <a:rPr dirty="0" sz="1500" spc="60">
                <a:solidFill>
                  <a:srgbClr val="4A5467"/>
                </a:solidFill>
                <a:latin typeface="Calibri"/>
                <a:cs typeface="Calibri"/>
              </a:rPr>
              <a:t>in-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place algorithm.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solidFill>
                  <a:srgbClr val="2D3748"/>
                </a:solidFill>
                <a:latin typeface="Calibri"/>
                <a:cs typeface="Calibri"/>
              </a:rPr>
              <a:t>Memory</a:t>
            </a:r>
            <a:r>
              <a:rPr dirty="0" sz="1800" spc="-100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D3748"/>
                </a:solidFill>
                <a:latin typeface="Calibri"/>
                <a:cs typeface="Calibri"/>
              </a:rPr>
              <a:t>Constraints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915"/>
              </a:spcBef>
            </a:pP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High</a:t>
            </a:r>
            <a:r>
              <a:rPr dirty="0" sz="1500" spc="-2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4A5467"/>
                </a:solidFill>
                <a:latin typeface="Calibri"/>
                <a:cs typeface="Calibri"/>
              </a:rPr>
              <a:t>overhead</a:t>
            </a:r>
            <a:r>
              <a:rPr dirty="0" sz="1500" spc="4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4A5467"/>
                </a:solidFill>
                <a:latin typeface="Calibri"/>
                <a:cs typeface="Calibri"/>
              </a:rPr>
              <a:t>for</a:t>
            </a:r>
            <a:r>
              <a:rPr dirty="0" sz="1500" spc="-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4A5467"/>
                </a:solidFill>
                <a:latin typeface="Calibri"/>
                <a:cs typeface="Calibri"/>
              </a:rPr>
              <a:t>large</a:t>
            </a:r>
            <a:r>
              <a:rPr dirty="0" sz="1500" spc="-2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90">
                <a:solidFill>
                  <a:srgbClr val="4A5467"/>
                </a:solidFill>
                <a:latin typeface="Calibri"/>
                <a:cs typeface="Calibri"/>
              </a:rPr>
              <a:t>datasets</a:t>
            </a:r>
            <a:r>
              <a:rPr dirty="0" sz="1500" spc="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50">
                <a:solidFill>
                  <a:srgbClr val="4A5467"/>
                </a:solidFill>
                <a:latin typeface="Calibri"/>
                <a:cs typeface="Calibri"/>
              </a:rPr>
              <a:t>in </a:t>
            </a:r>
            <a:r>
              <a:rPr dirty="0" sz="1500" spc="70">
                <a:solidFill>
                  <a:srgbClr val="4A5467"/>
                </a:solidFill>
                <a:latin typeface="Calibri"/>
                <a:cs typeface="Calibri"/>
              </a:rPr>
              <a:t>RAM</a:t>
            </a:r>
            <a:endParaRPr sz="1500">
              <a:latin typeface="Calibri"/>
              <a:cs typeface="Calibri"/>
            </a:endParaRPr>
          </a:p>
          <a:p>
            <a:pPr marL="241300" marR="1344295">
              <a:lnSpc>
                <a:spcPct val="150000"/>
              </a:lnSpc>
            </a:pPr>
            <a:r>
              <a:rPr dirty="0" sz="1500" spc="-20">
                <a:solidFill>
                  <a:srgbClr val="4A5467"/>
                </a:solidFill>
                <a:latin typeface="Calibri"/>
                <a:cs typeface="Calibri"/>
              </a:rPr>
              <a:t>Less</a:t>
            </a:r>
            <a:r>
              <a:rPr dirty="0" sz="150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4A5467"/>
                </a:solidFill>
                <a:latin typeface="Calibri"/>
                <a:cs typeface="Calibri"/>
              </a:rPr>
              <a:t>ideal</a:t>
            </a:r>
            <a:r>
              <a:rPr dirty="0" sz="1500" spc="-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4A5467"/>
                </a:solidFill>
                <a:latin typeface="Calibri"/>
                <a:cs typeface="Calibri"/>
              </a:rPr>
              <a:t>for</a:t>
            </a:r>
            <a:r>
              <a:rPr dirty="0" sz="1500" spc="-4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35">
                <a:solidFill>
                  <a:srgbClr val="4A5467"/>
                </a:solidFill>
                <a:latin typeface="Calibri"/>
                <a:cs typeface="Calibri"/>
              </a:rPr>
              <a:t>memory-constrained</a:t>
            </a:r>
            <a:r>
              <a:rPr dirty="0" sz="1500" spc="1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95">
                <a:solidFill>
                  <a:srgbClr val="4A5467"/>
                </a:solidFill>
                <a:latin typeface="Calibri"/>
                <a:cs typeface="Calibri"/>
              </a:rPr>
              <a:t>embedded</a:t>
            </a:r>
            <a:r>
              <a:rPr dirty="0" sz="1500" spc="1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35">
                <a:solidFill>
                  <a:srgbClr val="4A5467"/>
                </a:solidFill>
                <a:latin typeface="Calibri"/>
                <a:cs typeface="Calibri"/>
              </a:rPr>
              <a:t>systems </a:t>
            </a:r>
            <a:r>
              <a:rPr dirty="0" sz="1500" spc="-20">
                <a:solidFill>
                  <a:srgbClr val="4A5467"/>
                </a:solidFill>
                <a:latin typeface="Calibri"/>
                <a:cs typeface="Calibri"/>
              </a:rPr>
              <a:t>Recursive</a:t>
            </a:r>
            <a:r>
              <a:rPr dirty="0" sz="1500" spc="-5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4A5467"/>
                </a:solidFill>
                <a:latin typeface="Calibri"/>
                <a:cs typeface="Calibri"/>
              </a:rPr>
              <a:t>stack</a:t>
            </a:r>
            <a:r>
              <a:rPr dirty="0" sz="1500" spc="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4A5467"/>
                </a:solidFill>
                <a:latin typeface="Calibri"/>
                <a:cs typeface="Calibri"/>
              </a:rPr>
              <a:t>depth</a:t>
            </a:r>
            <a:r>
              <a:rPr dirty="0" sz="1500" spc="-5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4A5467"/>
                </a:solidFill>
                <a:latin typeface="Calibri"/>
                <a:cs typeface="Calibri"/>
              </a:rPr>
              <a:t>adds</a:t>
            </a:r>
            <a:r>
              <a:rPr dirty="0" sz="150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4A5467"/>
                </a:solidFill>
                <a:latin typeface="Calibri"/>
                <a:cs typeface="Calibri"/>
              </a:rPr>
              <a:t>**O(log</a:t>
            </a:r>
            <a:r>
              <a:rPr dirty="0" sz="1500" spc="-40">
                <a:solidFill>
                  <a:srgbClr val="4A5467"/>
                </a:solidFill>
                <a:latin typeface="Calibri"/>
                <a:cs typeface="Calibri"/>
              </a:rPr>
              <a:t> n)**</a:t>
            </a:r>
            <a:r>
              <a:rPr dirty="0" sz="1500" spc="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space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500">
              <a:latin typeface="Calibri"/>
              <a:cs typeface="Calibri"/>
            </a:endParaRPr>
          </a:p>
          <a:p>
            <a:pPr marL="279400">
              <a:lnSpc>
                <a:spcPct val="100000"/>
              </a:lnSpc>
            </a:pPr>
            <a:r>
              <a:rPr dirty="0" sz="1800" spc="80" b="1">
                <a:solidFill>
                  <a:srgbClr val="2D3748"/>
                </a:solidFill>
                <a:latin typeface="Calibri"/>
                <a:cs typeface="Calibri"/>
              </a:rPr>
              <a:t>The</a:t>
            </a:r>
            <a:r>
              <a:rPr dirty="0" sz="1800" spc="55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D3748"/>
                </a:solidFill>
                <a:latin typeface="Calibri"/>
                <a:cs typeface="Calibri"/>
              </a:rPr>
              <a:t>Stability</a:t>
            </a:r>
            <a:r>
              <a:rPr dirty="0" sz="1800" spc="80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D3748"/>
                </a:solidFill>
                <a:latin typeface="Calibri"/>
                <a:cs typeface="Calibri"/>
              </a:rPr>
              <a:t>Trade-</a:t>
            </a:r>
            <a:r>
              <a:rPr dirty="0" sz="1800" spc="135" b="1">
                <a:solidFill>
                  <a:srgbClr val="2D3748"/>
                </a:solidFill>
                <a:latin typeface="Calibri"/>
                <a:cs typeface="Calibri"/>
              </a:rPr>
              <a:t>o9</a:t>
            </a:r>
            <a:endParaRPr sz="1800">
              <a:latin typeface="Calibri"/>
              <a:cs typeface="Calibri"/>
            </a:endParaRPr>
          </a:p>
          <a:p>
            <a:pPr marL="279400" marR="227965">
              <a:lnSpc>
                <a:spcPct val="116700"/>
              </a:lnSpc>
              <a:spcBef>
                <a:spcPts val="615"/>
              </a:spcBef>
            </a:pP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The</a:t>
            </a:r>
            <a:r>
              <a:rPr dirty="0" sz="1500" spc="-5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60">
                <a:solidFill>
                  <a:srgbClr val="4A5467"/>
                </a:solidFill>
                <a:latin typeface="Calibri"/>
                <a:cs typeface="Calibri"/>
              </a:rPr>
              <a:t>cost</a:t>
            </a:r>
            <a:r>
              <a:rPr dirty="0" sz="1500" spc="-3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4A5467"/>
                </a:solidFill>
                <a:latin typeface="Calibri"/>
                <a:cs typeface="Calibri"/>
              </a:rPr>
              <a:t>of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35">
                <a:solidFill>
                  <a:srgbClr val="4A5467"/>
                </a:solidFill>
                <a:latin typeface="Calibri"/>
                <a:cs typeface="Calibri"/>
              </a:rPr>
              <a:t>**O(n)**</a:t>
            </a:r>
            <a:r>
              <a:rPr dirty="0" sz="1500" spc="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4A5467"/>
                </a:solidFill>
                <a:latin typeface="Calibri"/>
                <a:cs typeface="Calibri"/>
              </a:rPr>
              <a:t>space</a:t>
            </a:r>
            <a:r>
              <a:rPr dirty="0" sz="1500" spc="-5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is</a:t>
            </a:r>
            <a:r>
              <a:rPr dirty="0" sz="1500" spc="-2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4A5467"/>
                </a:solidFill>
                <a:latin typeface="Calibri"/>
                <a:cs typeface="Calibri"/>
              </a:rPr>
              <a:t>the</a:t>
            </a:r>
            <a:r>
              <a:rPr dirty="0" sz="1500" spc="-5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4A5467"/>
                </a:solidFill>
                <a:latin typeface="Calibri"/>
                <a:cs typeface="Calibri"/>
              </a:rPr>
              <a:t>price</a:t>
            </a:r>
            <a:r>
              <a:rPr dirty="0" sz="1500" spc="-5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4A5467"/>
                </a:solidFill>
                <a:latin typeface="Calibri"/>
                <a:cs typeface="Calibri"/>
              </a:rPr>
              <a:t>paid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4A5467"/>
                </a:solidFill>
                <a:latin typeface="Calibri"/>
                <a:cs typeface="Calibri"/>
              </a:rPr>
              <a:t>for</a:t>
            </a:r>
            <a:r>
              <a:rPr dirty="0" sz="1500" spc="-6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4A5467"/>
                </a:solidFill>
                <a:latin typeface="Calibri"/>
                <a:cs typeface="Calibri"/>
              </a:rPr>
              <a:t>**guaranteed</a:t>
            </a:r>
            <a:r>
              <a:rPr dirty="0" sz="1500">
                <a:solidFill>
                  <a:srgbClr val="4A5467"/>
                </a:solidFill>
                <a:latin typeface="Calibri"/>
                <a:cs typeface="Calibri"/>
              </a:rPr>
              <a:t> O(n</a:t>
            </a:r>
            <a:r>
              <a:rPr dirty="0" sz="1500" spc="1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4A5467"/>
                </a:solidFill>
                <a:latin typeface="Calibri"/>
                <a:cs typeface="Calibri"/>
              </a:rPr>
              <a:t>log </a:t>
            </a:r>
            <a:r>
              <a:rPr dirty="0" sz="1500" spc="-40">
                <a:solidFill>
                  <a:srgbClr val="4A5467"/>
                </a:solidFill>
                <a:latin typeface="Calibri"/>
                <a:cs typeface="Calibri"/>
              </a:rPr>
              <a:t>n)**</a:t>
            </a:r>
            <a:r>
              <a:rPr dirty="0" sz="1500" spc="-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30">
                <a:solidFill>
                  <a:srgbClr val="4A5467"/>
                </a:solidFill>
                <a:latin typeface="Calibri"/>
                <a:cs typeface="Calibri"/>
              </a:rPr>
              <a:t>time</a:t>
            </a:r>
            <a:r>
              <a:rPr dirty="0" sz="1500" spc="-6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4A5467"/>
                </a:solidFill>
                <a:latin typeface="Calibri"/>
                <a:cs typeface="Calibri"/>
              </a:rPr>
              <a:t>complexity</a:t>
            </a:r>
            <a:r>
              <a:rPr dirty="0" sz="1500" spc="-2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4A5467"/>
                </a:solidFill>
                <a:latin typeface="Calibri"/>
                <a:cs typeface="Calibri"/>
              </a:rPr>
              <a:t>and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4A5467"/>
                </a:solidFill>
                <a:latin typeface="Calibri"/>
                <a:cs typeface="Calibri"/>
              </a:rPr>
              <a:t>**algorithmic </a:t>
            </a:r>
            <a:r>
              <a:rPr dirty="0" sz="1500" spc="-10">
                <a:solidFill>
                  <a:srgbClr val="4A5467"/>
                </a:solidFill>
                <a:latin typeface="Calibri"/>
                <a:cs typeface="Calibri"/>
              </a:rPr>
              <a:t>stability**.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59675" y="1749425"/>
            <a:ext cx="29375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" b="1">
                <a:solidFill>
                  <a:srgbClr val="2D3748"/>
                </a:solidFill>
                <a:latin typeface="Calibri"/>
                <a:cs typeface="Calibri"/>
              </a:rPr>
              <a:t>Space</a:t>
            </a:r>
            <a:r>
              <a:rPr dirty="0" sz="1800" spc="90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D3748"/>
                </a:solidFill>
                <a:latin typeface="Calibri"/>
                <a:cs typeface="Calibri"/>
              </a:rPr>
              <a:t>Complexity</a:t>
            </a:r>
            <a:r>
              <a:rPr dirty="0" sz="1800" spc="110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D3748"/>
                </a:solidFill>
                <a:latin typeface="Calibri"/>
                <a:cs typeface="Calibri"/>
              </a:rPr>
              <a:t>Comparison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8400" y="2228850"/>
            <a:ext cx="5562599" cy="323849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7226300" y="5602945"/>
            <a:ext cx="360616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10" i="1">
                <a:solidFill>
                  <a:srgbClr val="4A5467"/>
                </a:solidFill>
                <a:latin typeface="Calibri"/>
                <a:cs typeface="Calibri"/>
              </a:rPr>
              <a:t>Comparing</a:t>
            </a:r>
            <a:r>
              <a:rPr dirty="0" sz="1050" spc="-20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4A5467"/>
                </a:solidFill>
                <a:latin typeface="Calibri"/>
                <a:cs typeface="Calibri"/>
              </a:rPr>
              <a:t>auxiliary</a:t>
            </a:r>
            <a:r>
              <a:rPr dirty="0" sz="1050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20" i="1">
                <a:solidFill>
                  <a:srgbClr val="4A5467"/>
                </a:solidFill>
                <a:latin typeface="Calibri"/>
                <a:cs typeface="Calibri"/>
              </a:rPr>
              <a:t>memory</a:t>
            </a:r>
            <a:r>
              <a:rPr dirty="0" sz="1050" spc="5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25" i="1">
                <a:solidFill>
                  <a:srgbClr val="4A5467"/>
                </a:solidFill>
                <a:latin typeface="Calibri"/>
                <a:cs typeface="Calibri"/>
              </a:rPr>
              <a:t>requirements</a:t>
            </a:r>
            <a:r>
              <a:rPr dirty="0" sz="1050" spc="25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30" i="1">
                <a:solidFill>
                  <a:srgbClr val="4A5467"/>
                </a:solidFill>
                <a:latin typeface="Calibri"/>
                <a:cs typeface="Calibri"/>
              </a:rPr>
              <a:t>across</a:t>
            </a:r>
            <a:r>
              <a:rPr dirty="0" sz="1050" spc="30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25" i="1">
                <a:solidFill>
                  <a:srgbClr val="4A5467"/>
                </a:solidFill>
                <a:latin typeface="Calibri"/>
                <a:cs typeface="Calibri"/>
              </a:rPr>
              <a:t>sorting</a:t>
            </a:r>
            <a:r>
              <a:rPr dirty="0" sz="1050" spc="-20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4A5467"/>
                </a:solidFill>
                <a:latin typeface="Calibri"/>
                <a:cs typeface="Calibri"/>
              </a:rPr>
              <a:t>algorithms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81000" y="1000124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914400" y="0"/>
                </a:moveTo>
                <a:lnTo>
                  <a:pt x="0" y="0"/>
                </a:lnTo>
                <a:lnTo>
                  <a:pt x="0" y="38100"/>
                </a:lnTo>
                <a:lnTo>
                  <a:pt x="914400" y="38100"/>
                </a:lnTo>
                <a:lnTo>
                  <a:pt x="914400" y="0"/>
                </a:lnTo>
                <a:close/>
              </a:path>
            </a:pathLst>
          </a:custGeom>
          <a:solidFill>
            <a:srgbClr val="D69D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85"/>
              <a:t>The</a:t>
            </a:r>
            <a:r>
              <a:rPr dirty="0" spc="-605"/>
              <a:t> </a:t>
            </a:r>
            <a:r>
              <a:rPr dirty="0" spc="-650"/>
              <a:t>V</a:t>
            </a:r>
            <a:r>
              <a:rPr dirty="0" spc="-210"/>
              <a:t>e</a:t>
            </a:r>
            <a:r>
              <a:rPr dirty="0" spc="-360"/>
              <a:t>r</a:t>
            </a:r>
            <a:r>
              <a:rPr dirty="0" spc="-270"/>
              <a:t>d</a:t>
            </a:r>
            <a:r>
              <a:rPr dirty="0" spc="-185"/>
              <a:t>i</a:t>
            </a:r>
            <a:r>
              <a:rPr dirty="0" spc="-200"/>
              <a:t>c</a:t>
            </a:r>
            <a:r>
              <a:rPr dirty="0" spc="-295"/>
              <a:t>t</a:t>
            </a:r>
            <a:r>
              <a:rPr dirty="0" spc="-145"/>
              <a:t>:</a:t>
            </a:r>
            <a:r>
              <a:rPr dirty="0" spc="-220"/>
              <a:t> </a:t>
            </a:r>
            <a:r>
              <a:rPr dirty="0" spc="-235"/>
              <a:t>Strategic</a:t>
            </a:r>
            <a:r>
              <a:rPr dirty="0" spc="-600"/>
              <a:t> </a:t>
            </a:r>
            <a:r>
              <a:rPr dirty="0" spc="-245"/>
              <a:t>Application</a:t>
            </a:r>
            <a:r>
              <a:rPr dirty="0" spc="-600"/>
              <a:t> </a:t>
            </a:r>
            <a:r>
              <a:rPr dirty="0" spc="-120"/>
              <a:t>of</a:t>
            </a:r>
            <a:r>
              <a:rPr dirty="0" spc="-835"/>
              <a:t> </a:t>
            </a:r>
            <a:r>
              <a:rPr dirty="0" spc="-305"/>
              <a:t>Merge</a:t>
            </a:r>
            <a:r>
              <a:rPr dirty="0" spc="-445"/>
              <a:t> </a:t>
            </a:r>
            <a:r>
              <a:rPr dirty="0" spc="-40"/>
              <a:t>Sort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97025" y="1825625"/>
            <a:ext cx="30924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D3748"/>
                </a:solidFill>
                <a:latin typeface="Calibri"/>
                <a:cs typeface="Calibri"/>
              </a:rPr>
              <a:t>Algorithm</a:t>
            </a:r>
            <a:r>
              <a:rPr dirty="0" sz="1800" spc="145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D3748"/>
                </a:solidFill>
                <a:latin typeface="Calibri"/>
                <a:cs typeface="Calibri"/>
              </a:rPr>
              <a:t>Selection</a:t>
            </a:r>
            <a:r>
              <a:rPr dirty="0" sz="1800" spc="160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D3748"/>
                </a:solidFill>
                <a:latin typeface="Calibri"/>
                <a:cs typeface="Calibri"/>
              </a:rPr>
              <a:t>Framework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2500" y="5162550"/>
            <a:ext cx="4476750" cy="57150"/>
          </a:xfrm>
          <a:custGeom>
            <a:avLst/>
            <a:gdLst/>
            <a:ahLst/>
            <a:cxnLst/>
            <a:rect l="l" t="t" r="r" b="b"/>
            <a:pathLst>
              <a:path w="4476750" h="57150">
                <a:moveTo>
                  <a:pt x="0" y="57150"/>
                </a:moveTo>
                <a:lnTo>
                  <a:pt x="0" y="0"/>
                </a:lnTo>
                <a:lnTo>
                  <a:pt x="4476750" y="0"/>
                </a:lnTo>
                <a:lnTo>
                  <a:pt x="4476750" y="57150"/>
                </a:lnTo>
              </a:path>
              <a:path w="4476750" h="57150">
                <a:moveTo>
                  <a:pt x="1172476" y="0"/>
                </a:moveTo>
                <a:lnTo>
                  <a:pt x="1172476" y="571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879371" y="5207889"/>
            <a:ext cx="49149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 MT"/>
                <a:cs typeface="Arial MT"/>
              </a:rPr>
              <a:t>Small</a:t>
            </a:r>
            <a:r>
              <a:rPr dirty="0" sz="750" spc="-20">
                <a:latin typeface="Arial MT"/>
                <a:cs typeface="Arial MT"/>
              </a:rPr>
              <a:t> Data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256773" y="5162550"/>
            <a:ext cx="0" cy="57150"/>
          </a:xfrm>
          <a:custGeom>
            <a:avLst/>
            <a:gdLst/>
            <a:ahLst/>
            <a:cxnLst/>
            <a:rect l="l" t="t" r="r" b="b"/>
            <a:pathLst>
              <a:path w="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008475" y="5207889"/>
            <a:ext cx="49657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 MT"/>
                <a:cs typeface="Arial MT"/>
              </a:rPr>
              <a:t>Large</a:t>
            </a:r>
            <a:r>
              <a:rPr dirty="0" sz="750" spc="-20">
                <a:latin typeface="Arial MT"/>
                <a:cs typeface="Arial MT"/>
              </a:rPr>
              <a:t> Data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95350" y="2495550"/>
            <a:ext cx="57150" cy="2667000"/>
          </a:xfrm>
          <a:custGeom>
            <a:avLst/>
            <a:gdLst/>
            <a:ahLst/>
            <a:cxnLst/>
            <a:rect l="l" t="t" r="r" b="b"/>
            <a:pathLst>
              <a:path w="57150" h="2667000">
                <a:moveTo>
                  <a:pt x="0" y="2667000"/>
                </a:moveTo>
                <a:lnTo>
                  <a:pt x="57150" y="2667000"/>
                </a:lnTo>
                <a:lnTo>
                  <a:pt x="57150" y="0"/>
                </a:lnTo>
                <a:lnTo>
                  <a:pt x="0" y="0"/>
                </a:lnTo>
              </a:path>
              <a:path w="57150" h="2667000">
                <a:moveTo>
                  <a:pt x="57150" y="1968500"/>
                </a:moveTo>
                <a:lnTo>
                  <a:pt x="0" y="19685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61593" y="4386605"/>
            <a:ext cx="518159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 MT"/>
                <a:cs typeface="Arial MT"/>
              </a:rPr>
              <a:t>ot </a:t>
            </a:r>
            <a:r>
              <a:rPr dirty="0" sz="750" spc="-10">
                <a:latin typeface="Arial MT"/>
                <a:cs typeface="Arial MT"/>
              </a:rPr>
              <a:t>Required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95350" y="3194050"/>
            <a:ext cx="57150" cy="0"/>
          </a:xfrm>
          <a:custGeom>
            <a:avLst/>
            <a:gdLst/>
            <a:ahLst/>
            <a:cxnLst/>
            <a:rect l="l" t="t" r="r" b="b"/>
            <a:pathLst>
              <a:path w="57150" h="0">
                <a:moveTo>
                  <a:pt x="5715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66980" y="3116605"/>
            <a:ext cx="51244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 MT"/>
                <a:cs typeface="Arial MT"/>
              </a:rPr>
              <a:t>ty</a:t>
            </a:r>
            <a:r>
              <a:rPr dirty="0" sz="750" spc="-10">
                <a:latin typeface="Arial MT"/>
                <a:cs typeface="Arial MT"/>
              </a:rPr>
              <a:t> Required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165675" y="2622550"/>
            <a:ext cx="4050665" cy="2413000"/>
            <a:chOff x="1165675" y="2622550"/>
            <a:chExt cx="4050665" cy="2413000"/>
          </a:xfrm>
        </p:grpSpPr>
        <p:sp>
          <p:nvSpPr>
            <p:cNvPr id="15" name="object 15"/>
            <p:cNvSpPr/>
            <p:nvPr/>
          </p:nvSpPr>
          <p:spPr>
            <a:xfrm>
              <a:off x="1165669" y="2622549"/>
              <a:ext cx="1918970" cy="2413000"/>
            </a:xfrm>
            <a:custGeom>
              <a:avLst/>
              <a:gdLst/>
              <a:ahLst/>
              <a:cxnLst/>
              <a:rect l="l" t="t" r="r" b="b"/>
              <a:pathLst>
                <a:path w="1918970" h="2413000">
                  <a:moveTo>
                    <a:pt x="1918614" y="1311325"/>
                  </a:moveTo>
                  <a:lnTo>
                    <a:pt x="1895055" y="1276057"/>
                  </a:lnTo>
                  <a:lnTo>
                    <a:pt x="1877301" y="1270000"/>
                  </a:lnTo>
                  <a:lnTo>
                    <a:pt x="47625" y="1270000"/>
                  </a:lnTo>
                  <a:lnTo>
                    <a:pt x="41313" y="1270000"/>
                  </a:lnTo>
                  <a:lnTo>
                    <a:pt x="6045" y="1293571"/>
                  </a:lnTo>
                  <a:lnTo>
                    <a:pt x="0" y="1311325"/>
                  </a:lnTo>
                  <a:lnTo>
                    <a:pt x="0" y="2371687"/>
                  </a:lnTo>
                  <a:lnTo>
                    <a:pt x="23571" y="2406954"/>
                  </a:lnTo>
                  <a:lnTo>
                    <a:pt x="41313" y="2413000"/>
                  </a:lnTo>
                  <a:lnTo>
                    <a:pt x="1877301" y="2413000"/>
                  </a:lnTo>
                  <a:lnTo>
                    <a:pt x="1912569" y="2389441"/>
                  </a:lnTo>
                  <a:lnTo>
                    <a:pt x="1918614" y="2371687"/>
                  </a:lnTo>
                  <a:lnTo>
                    <a:pt x="1918614" y="1311325"/>
                  </a:lnTo>
                  <a:close/>
                </a:path>
                <a:path w="1918970" h="2413000">
                  <a:moveTo>
                    <a:pt x="1918614" y="41313"/>
                  </a:moveTo>
                  <a:lnTo>
                    <a:pt x="1895055" y="6045"/>
                  </a:lnTo>
                  <a:lnTo>
                    <a:pt x="1877301" y="0"/>
                  </a:lnTo>
                  <a:lnTo>
                    <a:pt x="47625" y="0"/>
                  </a:lnTo>
                  <a:lnTo>
                    <a:pt x="41313" y="0"/>
                  </a:lnTo>
                  <a:lnTo>
                    <a:pt x="6045" y="23558"/>
                  </a:lnTo>
                  <a:lnTo>
                    <a:pt x="0" y="41313"/>
                  </a:lnTo>
                  <a:lnTo>
                    <a:pt x="0" y="1101686"/>
                  </a:lnTo>
                  <a:lnTo>
                    <a:pt x="23571" y="1136954"/>
                  </a:lnTo>
                  <a:lnTo>
                    <a:pt x="41313" y="1143000"/>
                  </a:lnTo>
                  <a:lnTo>
                    <a:pt x="1877301" y="1143000"/>
                  </a:lnTo>
                  <a:lnTo>
                    <a:pt x="1912569" y="1119441"/>
                  </a:lnTo>
                  <a:lnTo>
                    <a:pt x="1918614" y="1101686"/>
                  </a:lnTo>
                  <a:lnTo>
                    <a:pt x="1918614" y="41313"/>
                  </a:lnTo>
                  <a:close/>
                </a:path>
              </a:pathLst>
            </a:custGeom>
            <a:solidFill>
              <a:srgbClr val="4A5467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297466" y="2622550"/>
              <a:ext cx="1918970" cy="1143000"/>
            </a:xfrm>
            <a:custGeom>
              <a:avLst/>
              <a:gdLst/>
              <a:ahLst/>
              <a:cxnLst/>
              <a:rect l="l" t="t" r="r" b="b"/>
              <a:pathLst>
                <a:path w="1918970" h="1143000">
                  <a:moveTo>
                    <a:pt x="1877301" y="0"/>
                  </a:moveTo>
                  <a:lnTo>
                    <a:pt x="47625" y="0"/>
                  </a:lnTo>
                  <a:lnTo>
                    <a:pt x="41313" y="0"/>
                  </a:lnTo>
                  <a:lnTo>
                    <a:pt x="35229" y="1206"/>
                  </a:lnTo>
                  <a:lnTo>
                    <a:pt x="1206" y="35229"/>
                  </a:lnTo>
                  <a:lnTo>
                    <a:pt x="0" y="41313"/>
                  </a:lnTo>
                  <a:lnTo>
                    <a:pt x="0" y="1101686"/>
                  </a:lnTo>
                  <a:lnTo>
                    <a:pt x="23558" y="1136954"/>
                  </a:lnTo>
                  <a:lnTo>
                    <a:pt x="41313" y="1143000"/>
                  </a:lnTo>
                  <a:lnTo>
                    <a:pt x="1877301" y="1143000"/>
                  </a:lnTo>
                  <a:lnTo>
                    <a:pt x="1912569" y="1119441"/>
                  </a:lnTo>
                  <a:lnTo>
                    <a:pt x="1918601" y="1101686"/>
                  </a:lnTo>
                  <a:lnTo>
                    <a:pt x="1918601" y="41313"/>
                  </a:lnTo>
                  <a:lnTo>
                    <a:pt x="1895043" y="6045"/>
                  </a:lnTo>
                  <a:lnTo>
                    <a:pt x="1883371" y="1206"/>
                  </a:lnTo>
                  <a:lnTo>
                    <a:pt x="1877301" y="0"/>
                  </a:lnTo>
                  <a:close/>
                </a:path>
              </a:pathLst>
            </a:custGeom>
            <a:solidFill>
              <a:srgbClr val="D69D2E">
                <a:alpha val="8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297466" y="3892550"/>
              <a:ext cx="1918970" cy="1143000"/>
            </a:xfrm>
            <a:custGeom>
              <a:avLst/>
              <a:gdLst/>
              <a:ahLst/>
              <a:cxnLst/>
              <a:rect l="l" t="t" r="r" b="b"/>
              <a:pathLst>
                <a:path w="1918970" h="1143000">
                  <a:moveTo>
                    <a:pt x="1877301" y="0"/>
                  </a:moveTo>
                  <a:lnTo>
                    <a:pt x="47625" y="0"/>
                  </a:lnTo>
                  <a:lnTo>
                    <a:pt x="41313" y="0"/>
                  </a:lnTo>
                  <a:lnTo>
                    <a:pt x="35229" y="1206"/>
                  </a:lnTo>
                  <a:lnTo>
                    <a:pt x="1206" y="35229"/>
                  </a:lnTo>
                  <a:lnTo>
                    <a:pt x="0" y="41313"/>
                  </a:lnTo>
                  <a:lnTo>
                    <a:pt x="0" y="1101686"/>
                  </a:lnTo>
                  <a:lnTo>
                    <a:pt x="23558" y="1136954"/>
                  </a:lnTo>
                  <a:lnTo>
                    <a:pt x="41313" y="1143000"/>
                  </a:lnTo>
                  <a:lnTo>
                    <a:pt x="1877301" y="1143000"/>
                  </a:lnTo>
                  <a:lnTo>
                    <a:pt x="1912569" y="1119441"/>
                  </a:lnTo>
                  <a:lnTo>
                    <a:pt x="1918601" y="1101686"/>
                  </a:lnTo>
                  <a:lnTo>
                    <a:pt x="1918601" y="41313"/>
                  </a:lnTo>
                  <a:lnTo>
                    <a:pt x="1895043" y="6045"/>
                  </a:lnTo>
                  <a:lnTo>
                    <a:pt x="1883371" y="1206"/>
                  </a:lnTo>
                  <a:lnTo>
                    <a:pt x="1877301" y="0"/>
                  </a:lnTo>
                  <a:close/>
                </a:path>
              </a:pathLst>
            </a:custGeom>
            <a:solidFill>
              <a:srgbClr val="4A5467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664589" y="3028899"/>
            <a:ext cx="9182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4A5467"/>
                </a:solidFill>
                <a:latin typeface="Calibri"/>
                <a:cs typeface="Calibri"/>
              </a:rPr>
              <a:t>Insertion</a:t>
            </a:r>
            <a:r>
              <a:rPr dirty="0" sz="1200" spc="75" b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4A5467"/>
                </a:solidFill>
                <a:latin typeface="Calibri"/>
                <a:cs typeface="Calibri"/>
              </a:rPr>
              <a:t>Sort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64589" y="4298849"/>
            <a:ext cx="9182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4A5467"/>
                </a:solidFill>
                <a:latin typeface="Calibri"/>
                <a:cs typeface="Calibri"/>
              </a:rPr>
              <a:t>Selection</a:t>
            </a:r>
            <a:r>
              <a:rPr dirty="0" sz="1200" spc="-20" b="1">
                <a:solidFill>
                  <a:srgbClr val="4A5467"/>
                </a:solidFill>
                <a:latin typeface="Calibri"/>
                <a:cs typeface="Calibri"/>
              </a:rPr>
              <a:t> Sort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86746" y="3028899"/>
            <a:ext cx="7372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Merge</a:t>
            </a:r>
            <a:r>
              <a:rPr dirty="0" sz="12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FFFFFF"/>
                </a:solidFill>
                <a:latin typeface="Calibri"/>
                <a:cs typeface="Calibri"/>
              </a:rPr>
              <a:t>Sort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91508" y="4298848"/>
            <a:ext cx="7277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4A5467"/>
                </a:solidFill>
                <a:latin typeface="Calibri"/>
                <a:cs typeface="Calibri"/>
              </a:rPr>
              <a:t>Quick</a:t>
            </a:r>
            <a:r>
              <a:rPr dirty="0" sz="1200" spc="220" b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4A5467"/>
                </a:solidFill>
                <a:latin typeface="Calibri"/>
                <a:cs typeface="Calibri"/>
              </a:rPr>
              <a:t>Sort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54137" y="5679145"/>
            <a:ext cx="3580129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i="1">
                <a:solidFill>
                  <a:srgbClr val="4A5467"/>
                </a:solidFill>
                <a:latin typeface="Calibri"/>
                <a:cs typeface="Calibri"/>
              </a:rPr>
              <a:t>Choosing</a:t>
            </a:r>
            <a:r>
              <a:rPr dirty="0" sz="1050" spc="-45" i="1">
                <a:solidFill>
                  <a:srgbClr val="4A5467"/>
                </a:solidFill>
                <a:latin typeface="Calibri"/>
                <a:cs typeface="Calibri"/>
              </a:rPr>
              <a:t> the</a:t>
            </a:r>
            <a:r>
              <a:rPr dirty="0" sz="1050" spc="10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20" i="1">
                <a:solidFill>
                  <a:srgbClr val="4A5467"/>
                </a:solidFill>
                <a:latin typeface="Calibri"/>
                <a:cs typeface="Calibri"/>
              </a:rPr>
              <a:t>right</a:t>
            </a:r>
            <a:r>
              <a:rPr dirty="0" sz="1050" spc="-25" i="1">
                <a:solidFill>
                  <a:srgbClr val="4A5467"/>
                </a:solidFill>
                <a:latin typeface="Calibri"/>
                <a:cs typeface="Calibri"/>
              </a:rPr>
              <a:t> algorithm</a:t>
            </a:r>
            <a:r>
              <a:rPr dirty="0" sz="1050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45" i="1">
                <a:solidFill>
                  <a:srgbClr val="4A5467"/>
                </a:solidFill>
                <a:latin typeface="Calibri"/>
                <a:cs typeface="Calibri"/>
              </a:rPr>
              <a:t>based</a:t>
            </a:r>
            <a:r>
              <a:rPr dirty="0" sz="1050" spc="15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4A5467"/>
                </a:solidFill>
                <a:latin typeface="Calibri"/>
                <a:cs typeface="Calibri"/>
              </a:rPr>
              <a:t>on</a:t>
            </a:r>
            <a:r>
              <a:rPr dirty="0" sz="1050" spc="-35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30" i="1">
                <a:solidFill>
                  <a:srgbClr val="4A5467"/>
                </a:solidFill>
                <a:latin typeface="Calibri"/>
                <a:cs typeface="Calibri"/>
              </a:rPr>
              <a:t>constraints</a:t>
            </a:r>
            <a:r>
              <a:rPr dirty="0" sz="1050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45" i="1">
                <a:solidFill>
                  <a:srgbClr val="4A5467"/>
                </a:solidFill>
                <a:latin typeface="Calibri"/>
                <a:cs typeface="Calibri"/>
              </a:rPr>
              <a:t>and</a:t>
            </a:r>
            <a:r>
              <a:rPr dirty="0" sz="1050" spc="15" i="1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4A5467"/>
                </a:solidFill>
                <a:latin typeface="Calibri"/>
                <a:cs typeface="Calibri"/>
              </a:rPr>
              <a:t>requirements.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286500" y="1295399"/>
            <a:ext cx="5524500" cy="1485900"/>
            <a:chOff x="6286500" y="1295399"/>
            <a:chExt cx="5524500" cy="1485900"/>
          </a:xfrm>
        </p:grpSpPr>
        <p:sp>
          <p:nvSpPr>
            <p:cNvPr id="24" name="object 24"/>
            <p:cNvSpPr/>
            <p:nvPr/>
          </p:nvSpPr>
          <p:spPr>
            <a:xfrm>
              <a:off x="6324600" y="1295399"/>
              <a:ext cx="5486400" cy="1485900"/>
            </a:xfrm>
            <a:custGeom>
              <a:avLst/>
              <a:gdLst/>
              <a:ahLst/>
              <a:cxnLst/>
              <a:rect l="l" t="t" r="r" b="b"/>
              <a:pathLst>
                <a:path w="5486400" h="1485900">
                  <a:moveTo>
                    <a:pt x="0" y="1485900"/>
                  </a:moveTo>
                  <a:lnTo>
                    <a:pt x="5486400" y="1485900"/>
                  </a:lnTo>
                  <a:lnTo>
                    <a:pt x="5486400" y="0"/>
                  </a:lnTo>
                  <a:lnTo>
                    <a:pt x="0" y="0"/>
                  </a:lnTo>
                  <a:lnTo>
                    <a:pt x="0" y="1485900"/>
                  </a:lnTo>
                  <a:close/>
                </a:path>
              </a:pathLst>
            </a:custGeom>
            <a:solidFill>
              <a:srgbClr val="D69D2E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286500" y="1295399"/>
              <a:ext cx="38100" cy="1485900"/>
            </a:xfrm>
            <a:custGeom>
              <a:avLst/>
              <a:gdLst/>
              <a:ahLst/>
              <a:cxnLst/>
              <a:rect l="l" t="t" r="r" b="b"/>
              <a:pathLst>
                <a:path w="38100" h="1485900">
                  <a:moveTo>
                    <a:pt x="38100" y="0"/>
                  </a:moveTo>
                  <a:lnTo>
                    <a:pt x="0" y="0"/>
                  </a:lnTo>
                  <a:lnTo>
                    <a:pt x="0" y="1485900"/>
                  </a:lnTo>
                  <a:lnTo>
                    <a:pt x="38100" y="14859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D69D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6324600" y="1377950"/>
            <a:ext cx="5486400" cy="1174115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189865">
              <a:lnSpc>
                <a:spcPct val="100000"/>
              </a:lnSpc>
              <a:spcBef>
                <a:spcPts val="850"/>
              </a:spcBef>
            </a:pPr>
            <a:r>
              <a:rPr dirty="0" sz="1500" spc="10" b="1">
                <a:solidFill>
                  <a:srgbClr val="2D3748"/>
                </a:solidFill>
                <a:latin typeface="Calibri"/>
                <a:cs typeface="Calibri"/>
              </a:rPr>
              <a:t>The</a:t>
            </a:r>
            <a:r>
              <a:rPr dirty="0" sz="1500" spc="145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500" spc="10" b="1">
                <a:solidFill>
                  <a:srgbClr val="2D3748"/>
                </a:solidFill>
                <a:latin typeface="Calibri"/>
                <a:cs typeface="Calibri"/>
              </a:rPr>
              <a:t>Reliability</a:t>
            </a:r>
            <a:r>
              <a:rPr dirty="0" sz="1500" spc="100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2D3748"/>
                </a:solidFill>
                <a:latin typeface="Calibri"/>
                <a:cs typeface="Calibri"/>
              </a:rPr>
              <a:t>Advantage</a:t>
            </a:r>
            <a:endParaRPr sz="1500">
              <a:latin typeface="Calibri"/>
              <a:cs typeface="Calibri"/>
            </a:endParaRPr>
          </a:p>
          <a:p>
            <a:pPr marL="189865" marR="297180">
              <a:lnSpc>
                <a:spcPct val="129600"/>
              </a:lnSpc>
              <a:spcBef>
                <a:spcPts val="195"/>
              </a:spcBef>
            </a:pPr>
            <a:r>
              <a:rPr dirty="0" sz="1350" spc="-20">
                <a:solidFill>
                  <a:srgbClr val="4A5467"/>
                </a:solidFill>
                <a:latin typeface="Calibri"/>
                <a:cs typeface="Calibri"/>
              </a:rPr>
              <a:t>Merge</a:t>
            </a:r>
            <a:r>
              <a:rPr dirty="0" sz="1350" spc="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4A5467"/>
                </a:solidFill>
                <a:latin typeface="Calibri"/>
                <a:cs typeface="Calibri"/>
              </a:rPr>
              <a:t>Sort's</a:t>
            </a:r>
            <a:r>
              <a:rPr dirty="0" sz="1350" spc="-4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55">
                <a:solidFill>
                  <a:srgbClr val="4A5467"/>
                </a:solidFill>
                <a:latin typeface="Calibri"/>
                <a:cs typeface="Calibri"/>
              </a:rPr>
              <a:t>**guaranteed</a:t>
            </a:r>
            <a:r>
              <a:rPr dirty="0" sz="1350" spc="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O(n</a:t>
            </a:r>
            <a:r>
              <a:rPr dirty="0" sz="1350" spc="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4A5467"/>
                </a:solidFill>
                <a:latin typeface="Calibri"/>
                <a:cs typeface="Calibri"/>
              </a:rPr>
              <a:t>log</a:t>
            </a:r>
            <a:r>
              <a:rPr dirty="0" sz="1350" spc="-4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4A5467"/>
                </a:solidFill>
                <a:latin typeface="Calibri"/>
                <a:cs typeface="Calibri"/>
              </a:rPr>
              <a:t>n)**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35">
                <a:solidFill>
                  <a:srgbClr val="4A5467"/>
                </a:solidFill>
                <a:latin typeface="Calibri"/>
                <a:cs typeface="Calibri"/>
              </a:rPr>
              <a:t>performance</a:t>
            </a:r>
            <a:r>
              <a:rPr dirty="0" sz="1350" spc="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45">
                <a:solidFill>
                  <a:srgbClr val="4A5467"/>
                </a:solidFill>
                <a:latin typeface="Calibri"/>
                <a:cs typeface="Calibri"/>
              </a:rPr>
              <a:t>and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A5467"/>
                </a:solidFill>
                <a:latin typeface="Calibri"/>
                <a:cs typeface="Calibri"/>
              </a:rPr>
              <a:t>**stability** </a:t>
            </a:r>
            <a:r>
              <a:rPr dirty="0" sz="1350" spc="-45">
                <a:solidFill>
                  <a:srgbClr val="4A5467"/>
                </a:solidFill>
                <a:latin typeface="Calibri"/>
                <a:cs typeface="Calibri"/>
              </a:rPr>
              <a:t>make</a:t>
            </a:r>
            <a:r>
              <a:rPr dirty="0" sz="1350" spc="-2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it</a:t>
            </a:r>
            <a:r>
              <a:rPr dirty="0" sz="1350" spc="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35">
                <a:solidFill>
                  <a:srgbClr val="4A5467"/>
                </a:solidFill>
                <a:latin typeface="Calibri"/>
                <a:cs typeface="Calibri"/>
              </a:rPr>
              <a:t>the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35">
                <a:solidFill>
                  <a:srgbClr val="4A5467"/>
                </a:solidFill>
                <a:latin typeface="Calibri"/>
                <a:cs typeface="Calibri"/>
              </a:rPr>
              <a:t>gold</a:t>
            </a:r>
            <a:r>
              <a:rPr dirty="0" sz="135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45">
                <a:solidFill>
                  <a:srgbClr val="4A5467"/>
                </a:solidFill>
                <a:latin typeface="Calibri"/>
                <a:cs typeface="Calibri"/>
              </a:rPr>
              <a:t>standard</a:t>
            </a:r>
            <a:r>
              <a:rPr dirty="0" sz="135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for</a:t>
            </a:r>
            <a:r>
              <a:rPr dirty="0" sz="1350" spc="-1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mission-</a:t>
            </a:r>
            <a:r>
              <a:rPr dirty="0" sz="1350" spc="-10">
                <a:solidFill>
                  <a:srgbClr val="4A5467"/>
                </a:solidFill>
                <a:latin typeface="Calibri"/>
                <a:cs typeface="Calibri"/>
              </a:rPr>
              <a:t>critical</a:t>
            </a:r>
            <a:r>
              <a:rPr dirty="0" sz="1350" spc="-6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50">
                <a:solidFill>
                  <a:srgbClr val="4A5467"/>
                </a:solidFill>
                <a:latin typeface="Calibri"/>
                <a:cs typeface="Calibri"/>
              </a:rPr>
              <a:t>systems</a:t>
            </a:r>
            <a:r>
              <a:rPr dirty="0" sz="1350" spc="-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25">
                <a:solidFill>
                  <a:srgbClr val="4A5467"/>
                </a:solidFill>
                <a:latin typeface="Calibri"/>
                <a:cs typeface="Calibri"/>
              </a:rPr>
              <a:t>where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A5467"/>
                </a:solidFill>
                <a:latin typeface="Calibri"/>
                <a:cs typeface="Calibri"/>
              </a:rPr>
              <a:t>predictability 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is</a:t>
            </a:r>
            <a:r>
              <a:rPr dirty="0" sz="1350" spc="9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A5467"/>
                </a:solidFill>
                <a:latin typeface="Calibri"/>
                <a:cs typeface="Calibri"/>
              </a:rPr>
              <a:t>non-</a:t>
            </a:r>
            <a:r>
              <a:rPr dirty="0" sz="1350" spc="-10">
                <a:solidFill>
                  <a:srgbClr val="4A5467"/>
                </a:solidFill>
                <a:latin typeface="Calibri"/>
                <a:cs typeface="Calibri"/>
              </a:rPr>
              <a:t>negotiable.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286500" y="2933700"/>
            <a:ext cx="5524500" cy="1066800"/>
            <a:chOff x="6286500" y="2933700"/>
            <a:chExt cx="5524500" cy="1066800"/>
          </a:xfrm>
        </p:grpSpPr>
        <p:sp>
          <p:nvSpPr>
            <p:cNvPr id="28" name="object 28"/>
            <p:cNvSpPr/>
            <p:nvPr/>
          </p:nvSpPr>
          <p:spPr>
            <a:xfrm>
              <a:off x="6324600" y="2933700"/>
              <a:ext cx="5486400" cy="1066800"/>
            </a:xfrm>
            <a:custGeom>
              <a:avLst/>
              <a:gdLst/>
              <a:ahLst/>
              <a:cxnLst/>
              <a:rect l="l" t="t" r="r" b="b"/>
              <a:pathLst>
                <a:path w="5486400" h="1066800">
                  <a:moveTo>
                    <a:pt x="0" y="1066800"/>
                  </a:moveTo>
                  <a:lnTo>
                    <a:pt x="5486400" y="1066800"/>
                  </a:lnTo>
                  <a:lnTo>
                    <a:pt x="5486400" y="0"/>
                  </a:lnTo>
                  <a:lnTo>
                    <a:pt x="0" y="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4A5467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286500" y="2933700"/>
              <a:ext cx="38100" cy="1066800"/>
            </a:xfrm>
            <a:custGeom>
              <a:avLst/>
              <a:gdLst/>
              <a:ahLst/>
              <a:cxnLst/>
              <a:rect l="l" t="t" r="r" b="b"/>
              <a:pathLst>
                <a:path w="38100" h="1066800">
                  <a:moveTo>
                    <a:pt x="38100" y="0"/>
                  </a:moveTo>
                  <a:lnTo>
                    <a:pt x="0" y="0"/>
                  </a:lnTo>
                  <a:lnTo>
                    <a:pt x="0" y="1066800"/>
                  </a:lnTo>
                  <a:lnTo>
                    <a:pt x="38100" y="10668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4A546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6999" y="3130550"/>
              <a:ext cx="190500" cy="168275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6324600" y="2978150"/>
            <a:ext cx="5486400" cy="83693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418465">
              <a:lnSpc>
                <a:spcPct val="100000"/>
              </a:lnSpc>
              <a:spcBef>
                <a:spcPts val="850"/>
              </a:spcBef>
            </a:pPr>
            <a:r>
              <a:rPr dirty="0" sz="1500" spc="10" b="1">
                <a:solidFill>
                  <a:srgbClr val="2D3748"/>
                </a:solidFill>
                <a:latin typeface="Calibri"/>
                <a:cs typeface="Calibri"/>
              </a:rPr>
              <a:t>EÆciency</a:t>
            </a:r>
            <a:r>
              <a:rPr dirty="0" sz="1500" spc="200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2D3748"/>
                </a:solidFill>
                <a:latin typeface="Calibri"/>
                <a:cs typeface="Calibri"/>
              </a:rPr>
              <a:t>Leader</a:t>
            </a:r>
            <a:endParaRPr sz="1500">
              <a:latin typeface="Calibri"/>
              <a:cs typeface="Calibri"/>
            </a:endParaRPr>
          </a:p>
          <a:p>
            <a:pPr marL="151765" marR="414020">
              <a:lnSpc>
                <a:spcPct val="125000"/>
              </a:lnSpc>
              <a:spcBef>
                <a:spcPts val="240"/>
              </a:spcBef>
            </a:pP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Consistently</a:t>
            </a:r>
            <a:r>
              <a:rPr dirty="0" sz="1200" spc="-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4A5467"/>
                </a:solidFill>
                <a:latin typeface="Calibri"/>
                <a:cs typeface="Calibri"/>
              </a:rPr>
              <a:t>outperforms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4A5467"/>
                </a:solidFill>
                <a:latin typeface="Calibri"/>
                <a:cs typeface="Calibri"/>
              </a:rPr>
              <a:t>quadratic</a:t>
            </a:r>
            <a:r>
              <a:rPr dirty="0" sz="1200" spc="-4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algorithms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 on</a:t>
            </a:r>
            <a:r>
              <a:rPr dirty="0" sz="1200" spc="-5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large </a:t>
            </a:r>
            <a:r>
              <a:rPr dirty="0" sz="1200" spc="-35">
                <a:solidFill>
                  <a:srgbClr val="4A5467"/>
                </a:solidFill>
                <a:latin typeface="Calibri"/>
                <a:cs typeface="Calibri"/>
              </a:rPr>
              <a:t>datasets.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 Its 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performance remains</a:t>
            </a:r>
            <a:r>
              <a:rPr dirty="0" sz="1200" spc="-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robust</a:t>
            </a:r>
            <a:r>
              <a:rPr dirty="0" sz="1200" spc="-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4A5467"/>
                </a:solidFill>
                <a:latin typeface="Calibri"/>
                <a:cs typeface="Calibri"/>
              </a:rPr>
              <a:t>even</a:t>
            </a:r>
            <a:r>
              <a:rPr dirty="0" sz="1200" spc="-5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4A5467"/>
                </a:solidFill>
                <a:latin typeface="Calibri"/>
                <a:cs typeface="Calibri"/>
              </a:rPr>
              <a:t>under</a:t>
            </a:r>
            <a:r>
              <a:rPr dirty="0" sz="1200" spc="-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adversarial</a:t>
            </a:r>
            <a:r>
              <a:rPr dirty="0" sz="1200" spc="-3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input</a:t>
            </a:r>
            <a:r>
              <a:rPr dirty="0" sz="1200" spc="-2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conditions.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286500" y="4152900"/>
            <a:ext cx="5524500" cy="1066800"/>
            <a:chOff x="6286500" y="4152900"/>
            <a:chExt cx="5524500" cy="1066800"/>
          </a:xfrm>
        </p:grpSpPr>
        <p:sp>
          <p:nvSpPr>
            <p:cNvPr id="33" name="object 33"/>
            <p:cNvSpPr/>
            <p:nvPr/>
          </p:nvSpPr>
          <p:spPr>
            <a:xfrm>
              <a:off x="6324600" y="4152900"/>
              <a:ext cx="5486400" cy="1066800"/>
            </a:xfrm>
            <a:custGeom>
              <a:avLst/>
              <a:gdLst/>
              <a:ahLst/>
              <a:cxnLst/>
              <a:rect l="l" t="t" r="r" b="b"/>
              <a:pathLst>
                <a:path w="5486400" h="1066800">
                  <a:moveTo>
                    <a:pt x="0" y="1066800"/>
                  </a:moveTo>
                  <a:lnTo>
                    <a:pt x="5486400" y="1066800"/>
                  </a:lnTo>
                  <a:lnTo>
                    <a:pt x="5486400" y="0"/>
                  </a:lnTo>
                  <a:lnTo>
                    <a:pt x="0" y="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6E7595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286500" y="4152900"/>
              <a:ext cx="38100" cy="1066800"/>
            </a:xfrm>
            <a:custGeom>
              <a:avLst/>
              <a:gdLst/>
              <a:ahLst/>
              <a:cxnLst/>
              <a:rect l="l" t="t" r="r" b="b"/>
              <a:pathLst>
                <a:path w="38100" h="1066800">
                  <a:moveTo>
                    <a:pt x="38100" y="0"/>
                  </a:moveTo>
                  <a:lnTo>
                    <a:pt x="0" y="0"/>
                  </a:lnTo>
                  <a:lnTo>
                    <a:pt x="0" y="1066800"/>
                  </a:lnTo>
                  <a:lnTo>
                    <a:pt x="38100" y="10668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6E759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6999" y="4349750"/>
              <a:ext cx="168275" cy="168275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6324600" y="4197350"/>
            <a:ext cx="5486400" cy="83693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399415">
              <a:lnSpc>
                <a:spcPct val="100000"/>
              </a:lnSpc>
              <a:spcBef>
                <a:spcPts val="850"/>
              </a:spcBef>
            </a:pPr>
            <a:r>
              <a:rPr dirty="0" sz="1500" b="1">
                <a:solidFill>
                  <a:srgbClr val="2D3748"/>
                </a:solidFill>
                <a:latin typeface="Calibri"/>
                <a:cs typeface="Calibri"/>
              </a:rPr>
              <a:t>Universal</a:t>
            </a:r>
            <a:r>
              <a:rPr dirty="0" sz="1500" spc="80" b="1">
                <a:solidFill>
                  <a:srgbClr val="2D3748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2D3748"/>
                </a:solidFill>
                <a:latin typeface="Calibri"/>
                <a:cs typeface="Calibri"/>
              </a:rPr>
              <a:t>Scaling</a:t>
            </a:r>
            <a:endParaRPr sz="1500">
              <a:latin typeface="Calibri"/>
              <a:cs typeface="Calibri"/>
            </a:endParaRPr>
          </a:p>
          <a:p>
            <a:pPr marL="151765" marR="375920">
              <a:lnSpc>
                <a:spcPct val="125000"/>
              </a:lnSpc>
              <a:spcBef>
                <a:spcPts val="240"/>
              </a:spcBef>
            </a:pP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The $n</a:t>
            </a:r>
            <a:r>
              <a:rPr dirty="0" sz="1200" spc="-3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\log</a:t>
            </a:r>
            <a:r>
              <a:rPr dirty="0" sz="1200" spc="-2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n$</a:t>
            </a:r>
            <a:r>
              <a:rPr dirty="0" sz="1200" spc="2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4A5467"/>
                </a:solidFill>
                <a:latin typeface="Calibri"/>
                <a:cs typeface="Calibri"/>
              </a:rPr>
              <a:t>scaling</a:t>
            </a:r>
            <a:r>
              <a:rPr dirty="0" sz="1200" spc="-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4A5467"/>
                </a:solidFill>
                <a:latin typeface="Calibri"/>
                <a:cs typeface="Calibri"/>
              </a:rPr>
              <a:t>across</a:t>
            </a:r>
            <a:r>
              <a:rPr dirty="0" sz="1200" spc="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all </a:t>
            </a:r>
            <a:r>
              <a:rPr dirty="0" sz="1200" spc="-45">
                <a:solidFill>
                  <a:srgbClr val="4A5467"/>
                </a:solidFill>
                <a:latin typeface="Calibri"/>
                <a:cs typeface="Calibri"/>
              </a:rPr>
              <a:t>cases</a:t>
            </a:r>
            <a:r>
              <a:rPr dirty="0" sz="1200" spc="2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makes</a:t>
            </a:r>
            <a:r>
              <a:rPr dirty="0" sz="1200" spc="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it</a:t>
            </a:r>
            <a:r>
              <a:rPr dirty="0" sz="1200" spc="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a</a:t>
            </a:r>
            <a:r>
              <a:rPr dirty="0" sz="1200" spc="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55">
                <a:solidFill>
                  <a:srgbClr val="4A5467"/>
                </a:solidFill>
                <a:latin typeface="Calibri"/>
                <a:cs typeface="Calibri"/>
              </a:rPr>
              <a:t>"safe"</a:t>
            </a:r>
            <a:r>
              <a:rPr dirty="0" sz="120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45">
                <a:solidFill>
                  <a:srgbClr val="4A5467"/>
                </a:solidFill>
                <a:latin typeface="Calibri"/>
                <a:cs typeface="Calibri"/>
              </a:rPr>
              <a:t>choice</a:t>
            </a:r>
            <a:r>
              <a:rPr dirty="0" sz="1200" spc="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for</a:t>
            </a:r>
            <a:r>
              <a:rPr dirty="0" sz="1200" spc="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30">
                <a:solidFill>
                  <a:srgbClr val="4A5467"/>
                </a:solidFill>
                <a:latin typeface="Calibri"/>
                <a:cs typeface="Calibri"/>
              </a:rPr>
              <a:t>general-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purpose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libraries</a:t>
            </a:r>
            <a:r>
              <a:rPr dirty="0" sz="1200" spc="-2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and</a:t>
            </a:r>
            <a:r>
              <a:rPr dirty="0" sz="1200" spc="-2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high-</a:t>
            </a:r>
            <a:r>
              <a:rPr dirty="0" sz="1200" spc="-25">
                <a:solidFill>
                  <a:srgbClr val="4A5467"/>
                </a:solidFill>
                <a:latin typeface="Calibri"/>
                <a:cs typeface="Calibri"/>
              </a:rPr>
              <a:t>throughput</a:t>
            </a:r>
            <a:r>
              <a:rPr dirty="0" sz="1200" spc="-30">
                <a:solidFill>
                  <a:srgbClr val="4A5467"/>
                </a:solidFill>
                <a:latin typeface="Calibri"/>
                <a:cs typeface="Calibri"/>
              </a:rPr>
              <a:t> data</a:t>
            </a:r>
            <a:r>
              <a:rPr dirty="0" sz="120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pipelines.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286500" y="5372100"/>
            <a:ext cx="5524500" cy="1066800"/>
            <a:chOff x="6286500" y="5372100"/>
            <a:chExt cx="5524500" cy="1066800"/>
          </a:xfrm>
        </p:grpSpPr>
        <p:sp>
          <p:nvSpPr>
            <p:cNvPr id="38" name="object 38"/>
            <p:cNvSpPr/>
            <p:nvPr/>
          </p:nvSpPr>
          <p:spPr>
            <a:xfrm>
              <a:off x="6324600" y="5372100"/>
              <a:ext cx="5486400" cy="1066800"/>
            </a:xfrm>
            <a:custGeom>
              <a:avLst/>
              <a:gdLst/>
              <a:ahLst/>
              <a:cxnLst/>
              <a:rect l="l" t="t" r="r" b="b"/>
              <a:pathLst>
                <a:path w="5486400" h="1066800">
                  <a:moveTo>
                    <a:pt x="0" y="1066800"/>
                  </a:moveTo>
                  <a:lnTo>
                    <a:pt x="5486400" y="1066800"/>
                  </a:lnTo>
                  <a:lnTo>
                    <a:pt x="5486400" y="0"/>
                  </a:lnTo>
                  <a:lnTo>
                    <a:pt x="0" y="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D69D2E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286500" y="5372100"/>
              <a:ext cx="38100" cy="1066800"/>
            </a:xfrm>
            <a:custGeom>
              <a:avLst/>
              <a:gdLst/>
              <a:ahLst/>
              <a:cxnLst/>
              <a:rect l="l" t="t" r="r" b="b"/>
              <a:pathLst>
                <a:path w="38100" h="1066800">
                  <a:moveTo>
                    <a:pt x="38100" y="0"/>
                  </a:moveTo>
                  <a:lnTo>
                    <a:pt x="0" y="0"/>
                  </a:lnTo>
                  <a:lnTo>
                    <a:pt x="0" y="1066800"/>
                  </a:lnTo>
                  <a:lnTo>
                    <a:pt x="38100" y="10668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D69D2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86524" y="5568950"/>
              <a:ext cx="171450" cy="168275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6324600" y="5416550"/>
            <a:ext cx="5486400" cy="83693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418465">
              <a:lnSpc>
                <a:spcPct val="100000"/>
              </a:lnSpc>
              <a:spcBef>
                <a:spcPts val="850"/>
              </a:spcBef>
            </a:pPr>
            <a:r>
              <a:rPr dirty="0" sz="1500" b="1">
                <a:solidFill>
                  <a:srgbClr val="2D3748"/>
                </a:solidFill>
                <a:latin typeface="Calibri"/>
                <a:cs typeface="Calibri"/>
              </a:rPr>
              <a:t>Selection</a:t>
            </a:r>
            <a:r>
              <a:rPr dirty="0" sz="1500" spc="-10" b="1">
                <a:solidFill>
                  <a:srgbClr val="2D3748"/>
                </a:solidFill>
                <a:latin typeface="Calibri"/>
                <a:cs typeface="Calibri"/>
              </a:rPr>
              <a:t> Criteria</a:t>
            </a:r>
            <a:endParaRPr sz="1500">
              <a:latin typeface="Calibri"/>
              <a:cs typeface="Calibri"/>
            </a:endParaRPr>
          </a:p>
          <a:p>
            <a:pPr marL="151765" marR="328930">
              <a:lnSpc>
                <a:spcPct val="125000"/>
              </a:lnSpc>
              <a:spcBef>
                <a:spcPts val="240"/>
              </a:spcBef>
            </a:pP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Prioritize</a:t>
            </a:r>
            <a:r>
              <a:rPr dirty="0" sz="120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4A5467"/>
                </a:solidFill>
                <a:latin typeface="Calibri"/>
                <a:cs typeface="Calibri"/>
              </a:rPr>
              <a:t>Merge</a:t>
            </a:r>
            <a:r>
              <a:rPr dirty="0" sz="1200" spc="1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Sort</a:t>
            </a:r>
            <a:r>
              <a:rPr dirty="0" sz="1200" spc="-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40">
                <a:solidFill>
                  <a:srgbClr val="4A5467"/>
                </a:solidFill>
                <a:latin typeface="Calibri"/>
                <a:cs typeface="Calibri"/>
              </a:rPr>
              <a:t>when</a:t>
            </a:r>
            <a:r>
              <a:rPr dirty="0" sz="1200" spc="-3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35">
                <a:solidFill>
                  <a:srgbClr val="4A5467"/>
                </a:solidFill>
                <a:latin typeface="Calibri"/>
                <a:cs typeface="Calibri"/>
              </a:rPr>
              <a:t>**stability**</a:t>
            </a:r>
            <a:r>
              <a:rPr dirty="0" sz="1200" spc="-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is</a:t>
            </a:r>
            <a:r>
              <a:rPr dirty="0" sz="1200" spc="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4A5467"/>
                </a:solidFill>
                <a:latin typeface="Calibri"/>
                <a:cs typeface="Calibri"/>
              </a:rPr>
              <a:t>required</a:t>
            </a:r>
            <a:r>
              <a:rPr dirty="0" sz="1200" spc="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and</a:t>
            </a:r>
            <a:r>
              <a:rPr dirty="0" sz="1200" spc="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4A5467"/>
                </a:solidFill>
                <a:latin typeface="Calibri"/>
                <a:cs typeface="Calibri"/>
              </a:rPr>
              <a:t>**O(n)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auxiliary</a:t>
            </a:r>
            <a:r>
              <a:rPr dirty="0" sz="120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65">
                <a:solidFill>
                  <a:srgbClr val="4A5467"/>
                </a:solidFill>
                <a:latin typeface="Calibri"/>
                <a:cs typeface="Calibri"/>
              </a:rPr>
              <a:t>space**</a:t>
            </a:r>
            <a:r>
              <a:rPr dirty="0" sz="1200" spc="-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4A5467"/>
                </a:solidFill>
                <a:latin typeface="Calibri"/>
                <a:cs typeface="Calibri"/>
              </a:rPr>
              <a:t>is 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available.</a:t>
            </a:r>
            <a:r>
              <a:rPr dirty="0" sz="1200" spc="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Consider</a:t>
            </a:r>
            <a:r>
              <a:rPr dirty="0" sz="120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4A5467"/>
                </a:solidFill>
                <a:latin typeface="Calibri"/>
                <a:cs typeface="Calibri"/>
              </a:rPr>
              <a:t>alternatives</a:t>
            </a:r>
            <a:r>
              <a:rPr dirty="0" sz="1200" spc="1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only</a:t>
            </a:r>
            <a:r>
              <a:rPr dirty="0" sz="1200" spc="-2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for</a:t>
            </a:r>
            <a:r>
              <a:rPr dirty="0" sz="120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strict </a:t>
            </a:r>
            <a:r>
              <a:rPr dirty="0" sz="1200" spc="-20">
                <a:solidFill>
                  <a:srgbClr val="4A5467"/>
                </a:solidFill>
                <a:latin typeface="Calibri"/>
                <a:cs typeface="Calibri"/>
              </a:rPr>
              <a:t>O(1)</a:t>
            </a:r>
            <a:r>
              <a:rPr dirty="0" sz="1200" spc="-15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50">
                <a:solidFill>
                  <a:srgbClr val="4A5467"/>
                </a:solidFill>
                <a:latin typeface="Calibri"/>
                <a:cs typeface="Calibri"/>
              </a:rPr>
              <a:t>space</a:t>
            </a:r>
            <a:r>
              <a:rPr dirty="0" sz="1200">
                <a:solidFill>
                  <a:srgbClr val="4A546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A5467"/>
                </a:solidFill>
                <a:latin typeface="Calibri"/>
                <a:cs typeface="Calibri"/>
              </a:rPr>
              <a:t>limits.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2026-07-21T10:21:16Z</dcterms:created>
  <dcterms:modified xsi:type="dcterms:W3CDTF">2026-07-21T10:21:16Z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2026-07-21T00:00:00Z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2026-07-21T00:00:00Z</vt:filetime>
  </property>
  <property fmtid="{D5CDD505-2E9C-101B-9397-08002B2CF9AE}" pid="6" name="Producer">
    <vt:lpwstr>pdf-lib (https://github.com/Hopding/pdf-lib)</vt:lpwstr>
  </property>
</Properties>
</file>